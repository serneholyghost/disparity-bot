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1.xml" ContentType="application/vnd.openxmlformats-officedocument.themeOverride+xml"/>
  <Override PartName="/ppt/drawings/drawing1.xml" ContentType="application/vnd.openxmlformats-officedocument.drawingml.chartshapes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drawings/drawing2.xml" ContentType="application/vnd.openxmlformats-officedocument.drawingml.chartshapes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drawings/drawing3.xml" ContentType="application/vnd.openxmlformats-officedocument.drawingml.chartshapes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drawings/drawing4.xml" ContentType="application/vnd.openxmlformats-officedocument.drawingml.chartshapes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drawings/drawing5.xml" ContentType="application/vnd.openxmlformats-officedocument.drawingml.chartshapes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77" r:id="rId2"/>
    <p:sldId id="337" r:id="rId3"/>
    <p:sldId id="407" r:id="rId4"/>
    <p:sldId id="451" r:id="rId5"/>
    <p:sldId id="434" r:id="rId6"/>
    <p:sldId id="452" r:id="rId7"/>
    <p:sldId id="453" r:id="rId8"/>
    <p:sldId id="454" r:id="rId9"/>
    <p:sldId id="455" r:id="rId10"/>
    <p:sldId id="456" r:id="rId11"/>
    <p:sldId id="457" r:id="rId12"/>
    <p:sldId id="458" r:id="rId13"/>
    <p:sldId id="459" r:id="rId14"/>
    <p:sldId id="449" r:id="rId15"/>
    <p:sldId id="426" r:id="rId16"/>
    <p:sldId id="450" r:id="rId17"/>
    <p:sldId id="428" r:id="rId18"/>
    <p:sldId id="443" r:id="rId19"/>
    <p:sldId id="444" r:id="rId20"/>
    <p:sldId id="445" r:id="rId21"/>
    <p:sldId id="446" r:id="rId22"/>
    <p:sldId id="447" r:id="rId23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ng" initials="j" lastIdx="1" clrIdx="0">
    <p:extLst>
      <p:ext uri="{19B8F6BF-5375-455C-9EA6-DF929625EA0E}">
        <p15:presenceInfo xmlns:p15="http://schemas.microsoft.com/office/powerpoint/2012/main" userId="ju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60039"/>
    <a:srgbClr val="D0CECE"/>
    <a:srgbClr val="FF3300"/>
    <a:srgbClr val="203864"/>
    <a:srgbClr val="2F5597"/>
    <a:srgbClr val="161619"/>
    <a:srgbClr val="FA005F"/>
    <a:srgbClr val="1B28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1" autoAdjust="0"/>
    <p:restoredTop sz="95964" autoAdjust="0"/>
  </p:normalViewPr>
  <p:slideViewPr>
    <p:cSldViewPr snapToGrid="0">
      <p:cViewPr varScale="1">
        <p:scale>
          <a:sx n="83" d="100"/>
          <a:sy n="83" d="100"/>
        </p:scale>
        <p:origin x="1051" y="77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992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which\Downloads\UFO%20&#44284;&#44144;%20&#45936;&#51060;&#53552;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2.xml"/><Relationship Id="rId1" Type="http://schemas.microsoft.com/office/2011/relationships/chartStyle" Target="style2.xml"/><Relationship Id="rId5" Type="http://schemas.openxmlformats.org/officeDocument/2006/relationships/chartUserShapes" Target="../drawings/drawing1.xml"/><Relationship Id="rId4" Type="http://schemas.openxmlformats.org/officeDocument/2006/relationships/oleObject" Target="../embeddings/oleObject1.bin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1f888ccf3d2b0b8f/&#47928;&#49436;/&#52852;&#52852;&#50724;&#53665;%20&#48155;&#51008;%20&#54028;&#51068;/&#47785;&#52264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1f888ccf3d2b0b8f/&#47928;&#49436;/&#52852;&#52852;&#50724;&#53665;%20&#48155;&#51008;%20&#54028;&#51068;/&#47785;&#52264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which\Documents\&#52852;&#52852;&#50724;&#53665;%20&#48155;&#51008;%20&#54028;&#51068;\&#54364;.xlsx" TargetMode="Externa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chartUserShapes" Target="../drawings/drawing2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d70fc632d742a8f/&#47928;&#49436;/&#52852;&#52852;&#50724;&#53665;%20&#48155;&#51008;%20&#54028;&#51068;/&#47785;&#52264;.xlsx" TargetMode="Externa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chartUserShapes" Target="../drawings/drawing3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which\Documents\&#52852;&#52852;&#50724;&#53665;%20&#48155;&#51008;%20&#54028;&#51068;\&#47785;&#52264;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MART\Desktop\&#50864;&#51452;%20&#51088;&#47308;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MART\Desktop\&#50864;&#51452;%20&#51088;&#47308;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which\Documents\&#52852;&#52852;&#50724;&#53665;%20&#48155;&#51008;%20&#54028;&#51068;\&#50864;&#51452;_&#44288;&#52769;&#50948;&#49457;%20&#51088;&#47308;.xlsx" TargetMode="External"/><Relationship Id="rId2" Type="http://schemas.microsoft.com/office/2011/relationships/chartColorStyle" Target="colors12.xml"/><Relationship Id="rId1" Type="http://schemas.microsoft.com/office/2011/relationships/chartStyle" Target="style12.xml"/><Relationship Id="rId4" Type="http://schemas.openxmlformats.org/officeDocument/2006/relationships/chartUserShapes" Target="../drawings/drawing4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https://livecauac-my.sharepoint.com/personal/genuinep_cau_ac_kr/Documents/&#45796;&#50868;&#49828;&#53944;&#47548;,&#50864;&#51452;&#45936;&#51060;&#53552;&#49468;&#53552;_251106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https://livecauac-my.sharepoint.com/personal/genuinep_cau_ac_kr/Documents/&#45796;&#50868;&#49828;&#53944;&#47548;,&#50864;&#51452;&#45936;&#51060;&#53552;&#49468;&#53552;_251106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which\Documents\&#52852;&#52852;&#50724;&#53665;%20&#48155;&#51008;%20&#54028;&#51068;\&#45796;&#50868;&#49828;&#53944;&#47548;,&#50864;&#51452;&#45936;&#51060;&#53552;&#49468;&#53552;_251106.xlsx" TargetMode="External"/><Relationship Id="rId2" Type="http://schemas.microsoft.com/office/2011/relationships/chartColorStyle" Target="colors15.xml"/><Relationship Id="rId1" Type="http://schemas.microsoft.com/office/2011/relationships/chartStyle" Target="style15.xml"/><Relationship Id="rId4" Type="http://schemas.openxmlformats.org/officeDocument/2006/relationships/chartUserShapes" Target="../drawings/drawing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https://livecauac-my.sharepoint.com/personal/genuinep_cau_ac_kr/Documents/&#45796;&#50868;&#49828;&#53944;&#47548;,&#50864;&#51452;&#45936;&#51060;&#53552;&#49468;&#53552;_251106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https://livecauac-my.sharepoint.com/personal/genuinep_cau_ac_kr/Documents/&#45796;&#50868;&#49828;&#53944;&#47548;,&#50864;&#51452;&#45936;&#51060;&#53552;&#49468;&#53552;_251106.xlsx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which\Downloads\099320%20&#44284;&#44144;%20&#45936;&#51060;&#53552;.csv" TargetMode="External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MART\Desktop\&#48512;&#53441;&#46300;&#47549;&#45768;&#45796;...xlsx" TargetMode="External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which\Downloads\PL%20&#44284;&#44144;%20&#45936;&#51060;&#53552;.csv" TargetMode="External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MART\Desktop\&#48512;&#53441;&#46300;&#47549;&#45768;&#45796;...xlsx" TargetMode="External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MART\Documents\&#52852;&#52852;&#50724;&#53665;%20&#48155;&#51008;%20&#54028;&#51068;\&#49828;&#54168;&#51060;&#49828;x%20&#47588;&#52636;%20&#52628;&#51221;&#44536;&#47000;&#54532;.xlsx" TargetMode="External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924664200895461E-2"/>
          <c:y val="8.3698353132855632E-2"/>
          <c:w val="0.9276620595678412"/>
          <c:h val="0.81112870533056647"/>
        </c:manualLayout>
      </c:layout>
      <c:areaChart>
        <c:grouping val="standard"/>
        <c:varyColors val="0"/>
        <c:ser>
          <c:idx val="2"/>
          <c:order val="2"/>
          <c:tx>
            <c:strRef>
              <c:f>'UFO 과거 데이터'!$D$1</c:f>
              <c:strCache>
                <c:ptCount val="1"/>
                <c:pt idx="0">
                  <c:v>SPY</c:v>
                </c:pt>
              </c:strCache>
            </c:strRef>
          </c:tx>
          <c:spPr>
            <a:solidFill>
              <a:srgbClr val="D0CECE"/>
            </a:solidFill>
            <a:ln>
              <a:noFill/>
            </a:ln>
            <a:effectLst/>
          </c:spPr>
          <c:cat>
            <c:numRef>
              <c:f>'UFO 과거 데이터'!$A$2:$A$214</c:f>
              <c:numCache>
                <c:formatCode>m/d/yyyy</c:formatCode>
                <c:ptCount val="213"/>
                <c:pt idx="0">
                  <c:v>45659</c:v>
                </c:pt>
                <c:pt idx="1">
                  <c:v>45660</c:v>
                </c:pt>
                <c:pt idx="2">
                  <c:v>45663</c:v>
                </c:pt>
                <c:pt idx="3">
                  <c:v>45664</c:v>
                </c:pt>
                <c:pt idx="4">
                  <c:v>45665</c:v>
                </c:pt>
                <c:pt idx="5">
                  <c:v>45667</c:v>
                </c:pt>
                <c:pt idx="6">
                  <c:v>45670</c:v>
                </c:pt>
                <c:pt idx="7">
                  <c:v>45671</c:v>
                </c:pt>
                <c:pt idx="8">
                  <c:v>45672</c:v>
                </c:pt>
                <c:pt idx="9">
                  <c:v>45673</c:v>
                </c:pt>
                <c:pt idx="10">
                  <c:v>45674</c:v>
                </c:pt>
                <c:pt idx="11">
                  <c:v>45678</c:v>
                </c:pt>
                <c:pt idx="12">
                  <c:v>45679</c:v>
                </c:pt>
                <c:pt idx="13">
                  <c:v>45680</c:v>
                </c:pt>
                <c:pt idx="14">
                  <c:v>45681</c:v>
                </c:pt>
                <c:pt idx="15">
                  <c:v>45684</c:v>
                </c:pt>
                <c:pt idx="16">
                  <c:v>45685</c:v>
                </c:pt>
                <c:pt idx="17">
                  <c:v>45686</c:v>
                </c:pt>
                <c:pt idx="18">
                  <c:v>45687</c:v>
                </c:pt>
                <c:pt idx="19">
                  <c:v>45688</c:v>
                </c:pt>
                <c:pt idx="20">
                  <c:v>45691</c:v>
                </c:pt>
                <c:pt idx="21">
                  <c:v>45692</c:v>
                </c:pt>
                <c:pt idx="22">
                  <c:v>45693</c:v>
                </c:pt>
                <c:pt idx="23">
                  <c:v>45694</c:v>
                </c:pt>
                <c:pt idx="24">
                  <c:v>45695</c:v>
                </c:pt>
                <c:pt idx="25">
                  <c:v>45698</c:v>
                </c:pt>
                <c:pt idx="26">
                  <c:v>45699</c:v>
                </c:pt>
                <c:pt idx="27">
                  <c:v>45700</c:v>
                </c:pt>
                <c:pt idx="28">
                  <c:v>45701</c:v>
                </c:pt>
                <c:pt idx="29">
                  <c:v>45702</c:v>
                </c:pt>
                <c:pt idx="30">
                  <c:v>45706</c:v>
                </c:pt>
                <c:pt idx="31">
                  <c:v>45707</c:v>
                </c:pt>
                <c:pt idx="32">
                  <c:v>45708</c:v>
                </c:pt>
                <c:pt idx="33">
                  <c:v>45709</c:v>
                </c:pt>
                <c:pt idx="34">
                  <c:v>45712</c:v>
                </c:pt>
                <c:pt idx="35">
                  <c:v>45713</c:v>
                </c:pt>
                <c:pt idx="36">
                  <c:v>45714</c:v>
                </c:pt>
                <c:pt idx="37">
                  <c:v>45715</c:v>
                </c:pt>
                <c:pt idx="38">
                  <c:v>45716</c:v>
                </c:pt>
                <c:pt idx="39">
                  <c:v>45719</c:v>
                </c:pt>
                <c:pt idx="40">
                  <c:v>45720</c:v>
                </c:pt>
                <c:pt idx="41">
                  <c:v>45721</c:v>
                </c:pt>
                <c:pt idx="42">
                  <c:v>45722</c:v>
                </c:pt>
                <c:pt idx="43">
                  <c:v>45723</c:v>
                </c:pt>
                <c:pt idx="44">
                  <c:v>45726</c:v>
                </c:pt>
                <c:pt idx="45">
                  <c:v>45727</c:v>
                </c:pt>
                <c:pt idx="46">
                  <c:v>45728</c:v>
                </c:pt>
                <c:pt idx="47">
                  <c:v>45729</c:v>
                </c:pt>
                <c:pt idx="48">
                  <c:v>45730</c:v>
                </c:pt>
                <c:pt idx="49">
                  <c:v>45733</c:v>
                </c:pt>
                <c:pt idx="50">
                  <c:v>45734</c:v>
                </c:pt>
                <c:pt idx="51">
                  <c:v>45735</c:v>
                </c:pt>
                <c:pt idx="52">
                  <c:v>45736</c:v>
                </c:pt>
                <c:pt idx="53">
                  <c:v>45737</c:v>
                </c:pt>
                <c:pt idx="54">
                  <c:v>45740</c:v>
                </c:pt>
                <c:pt idx="55">
                  <c:v>45741</c:v>
                </c:pt>
                <c:pt idx="56">
                  <c:v>45742</c:v>
                </c:pt>
                <c:pt idx="57">
                  <c:v>45743</c:v>
                </c:pt>
                <c:pt idx="58">
                  <c:v>45744</c:v>
                </c:pt>
                <c:pt idx="59">
                  <c:v>45747</c:v>
                </c:pt>
                <c:pt idx="60">
                  <c:v>45748</c:v>
                </c:pt>
                <c:pt idx="61">
                  <c:v>45749</c:v>
                </c:pt>
                <c:pt idx="62">
                  <c:v>45750</c:v>
                </c:pt>
                <c:pt idx="63">
                  <c:v>45751</c:v>
                </c:pt>
                <c:pt idx="64">
                  <c:v>45754</c:v>
                </c:pt>
                <c:pt idx="65">
                  <c:v>45755</c:v>
                </c:pt>
                <c:pt idx="66">
                  <c:v>45756</c:v>
                </c:pt>
                <c:pt idx="67">
                  <c:v>45757</c:v>
                </c:pt>
                <c:pt idx="68">
                  <c:v>45758</c:v>
                </c:pt>
                <c:pt idx="69">
                  <c:v>45761</c:v>
                </c:pt>
                <c:pt idx="70">
                  <c:v>45762</c:v>
                </c:pt>
                <c:pt idx="71">
                  <c:v>45763</c:v>
                </c:pt>
                <c:pt idx="72">
                  <c:v>45764</c:v>
                </c:pt>
                <c:pt idx="73">
                  <c:v>45768</c:v>
                </c:pt>
                <c:pt idx="74">
                  <c:v>45769</c:v>
                </c:pt>
                <c:pt idx="75">
                  <c:v>45770</c:v>
                </c:pt>
                <c:pt idx="76">
                  <c:v>45771</c:v>
                </c:pt>
                <c:pt idx="77">
                  <c:v>45772</c:v>
                </c:pt>
                <c:pt idx="78">
                  <c:v>45775</c:v>
                </c:pt>
                <c:pt idx="79">
                  <c:v>45776</c:v>
                </c:pt>
                <c:pt idx="80">
                  <c:v>45777</c:v>
                </c:pt>
                <c:pt idx="81">
                  <c:v>45778</c:v>
                </c:pt>
                <c:pt idx="82">
                  <c:v>45779</c:v>
                </c:pt>
                <c:pt idx="83">
                  <c:v>45782</c:v>
                </c:pt>
                <c:pt idx="84">
                  <c:v>45783</c:v>
                </c:pt>
                <c:pt idx="85">
                  <c:v>45784</c:v>
                </c:pt>
                <c:pt idx="86">
                  <c:v>45785</c:v>
                </c:pt>
                <c:pt idx="87">
                  <c:v>45786</c:v>
                </c:pt>
                <c:pt idx="88">
                  <c:v>45789</c:v>
                </c:pt>
                <c:pt idx="89">
                  <c:v>45790</c:v>
                </c:pt>
                <c:pt idx="90">
                  <c:v>45791</c:v>
                </c:pt>
                <c:pt idx="91">
                  <c:v>45792</c:v>
                </c:pt>
                <c:pt idx="92">
                  <c:v>45793</c:v>
                </c:pt>
                <c:pt idx="93">
                  <c:v>45796</c:v>
                </c:pt>
                <c:pt idx="94">
                  <c:v>45797</c:v>
                </c:pt>
                <c:pt idx="95">
                  <c:v>45798</c:v>
                </c:pt>
                <c:pt idx="96">
                  <c:v>45799</c:v>
                </c:pt>
                <c:pt idx="97">
                  <c:v>45800</c:v>
                </c:pt>
                <c:pt idx="98">
                  <c:v>45804</c:v>
                </c:pt>
                <c:pt idx="99">
                  <c:v>45805</c:v>
                </c:pt>
                <c:pt idx="100">
                  <c:v>45806</c:v>
                </c:pt>
                <c:pt idx="101">
                  <c:v>45807</c:v>
                </c:pt>
                <c:pt idx="102">
                  <c:v>45810</c:v>
                </c:pt>
                <c:pt idx="103">
                  <c:v>45811</c:v>
                </c:pt>
                <c:pt idx="104">
                  <c:v>45812</c:v>
                </c:pt>
                <c:pt idx="105">
                  <c:v>45813</c:v>
                </c:pt>
                <c:pt idx="106">
                  <c:v>45814</c:v>
                </c:pt>
                <c:pt idx="107">
                  <c:v>45817</c:v>
                </c:pt>
                <c:pt idx="108">
                  <c:v>45818</c:v>
                </c:pt>
                <c:pt idx="109">
                  <c:v>45819</c:v>
                </c:pt>
                <c:pt idx="110">
                  <c:v>45820</c:v>
                </c:pt>
                <c:pt idx="111">
                  <c:v>45821</c:v>
                </c:pt>
                <c:pt idx="112">
                  <c:v>45824</c:v>
                </c:pt>
                <c:pt idx="113">
                  <c:v>45825</c:v>
                </c:pt>
                <c:pt idx="114">
                  <c:v>45826</c:v>
                </c:pt>
                <c:pt idx="115">
                  <c:v>45828</c:v>
                </c:pt>
                <c:pt idx="116">
                  <c:v>45831</c:v>
                </c:pt>
                <c:pt idx="117">
                  <c:v>45832</c:v>
                </c:pt>
                <c:pt idx="118">
                  <c:v>45833</c:v>
                </c:pt>
                <c:pt idx="119">
                  <c:v>45834</c:v>
                </c:pt>
                <c:pt idx="120">
                  <c:v>45835</c:v>
                </c:pt>
                <c:pt idx="121">
                  <c:v>45838</c:v>
                </c:pt>
                <c:pt idx="122">
                  <c:v>45839</c:v>
                </c:pt>
                <c:pt idx="123">
                  <c:v>45840</c:v>
                </c:pt>
                <c:pt idx="124">
                  <c:v>45841</c:v>
                </c:pt>
                <c:pt idx="125">
                  <c:v>45845</c:v>
                </c:pt>
                <c:pt idx="126">
                  <c:v>45846</c:v>
                </c:pt>
                <c:pt idx="127">
                  <c:v>45847</c:v>
                </c:pt>
                <c:pt idx="128">
                  <c:v>45848</c:v>
                </c:pt>
                <c:pt idx="129">
                  <c:v>45849</c:v>
                </c:pt>
                <c:pt idx="130">
                  <c:v>45852</c:v>
                </c:pt>
                <c:pt idx="131">
                  <c:v>45853</c:v>
                </c:pt>
                <c:pt idx="132">
                  <c:v>45854</c:v>
                </c:pt>
                <c:pt idx="133">
                  <c:v>45855</c:v>
                </c:pt>
                <c:pt idx="134">
                  <c:v>45856</c:v>
                </c:pt>
                <c:pt idx="135">
                  <c:v>45859</c:v>
                </c:pt>
                <c:pt idx="136">
                  <c:v>45860</c:v>
                </c:pt>
                <c:pt idx="137">
                  <c:v>45861</c:v>
                </c:pt>
                <c:pt idx="138">
                  <c:v>45862</c:v>
                </c:pt>
                <c:pt idx="139">
                  <c:v>45863</c:v>
                </c:pt>
                <c:pt idx="140">
                  <c:v>45866</c:v>
                </c:pt>
                <c:pt idx="141">
                  <c:v>45867</c:v>
                </c:pt>
                <c:pt idx="142">
                  <c:v>45868</c:v>
                </c:pt>
                <c:pt idx="143">
                  <c:v>45869</c:v>
                </c:pt>
                <c:pt idx="144">
                  <c:v>45870</c:v>
                </c:pt>
                <c:pt idx="145">
                  <c:v>45873</c:v>
                </c:pt>
                <c:pt idx="146">
                  <c:v>45874</c:v>
                </c:pt>
                <c:pt idx="147">
                  <c:v>45875</c:v>
                </c:pt>
                <c:pt idx="148">
                  <c:v>45876</c:v>
                </c:pt>
                <c:pt idx="149">
                  <c:v>45877</c:v>
                </c:pt>
                <c:pt idx="150">
                  <c:v>45880</c:v>
                </c:pt>
                <c:pt idx="151">
                  <c:v>45881</c:v>
                </c:pt>
                <c:pt idx="152">
                  <c:v>45882</c:v>
                </c:pt>
                <c:pt idx="153">
                  <c:v>45883</c:v>
                </c:pt>
                <c:pt idx="154">
                  <c:v>45884</c:v>
                </c:pt>
                <c:pt idx="155">
                  <c:v>45887</c:v>
                </c:pt>
                <c:pt idx="156">
                  <c:v>45888</c:v>
                </c:pt>
                <c:pt idx="157">
                  <c:v>45889</c:v>
                </c:pt>
                <c:pt idx="158">
                  <c:v>45890</c:v>
                </c:pt>
                <c:pt idx="159">
                  <c:v>45891</c:v>
                </c:pt>
                <c:pt idx="160">
                  <c:v>45894</c:v>
                </c:pt>
                <c:pt idx="161">
                  <c:v>45895</c:v>
                </c:pt>
                <c:pt idx="162">
                  <c:v>45896</c:v>
                </c:pt>
                <c:pt idx="163">
                  <c:v>45897</c:v>
                </c:pt>
                <c:pt idx="164">
                  <c:v>45898</c:v>
                </c:pt>
                <c:pt idx="165">
                  <c:v>45902</c:v>
                </c:pt>
                <c:pt idx="166">
                  <c:v>45903</c:v>
                </c:pt>
                <c:pt idx="167">
                  <c:v>45904</c:v>
                </c:pt>
                <c:pt idx="168">
                  <c:v>45905</c:v>
                </c:pt>
                <c:pt idx="169">
                  <c:v>45908</c:v>
                </c:pt>
                <c:pt idx="170">
                  <c:v>45909</c:v>
                </c:pt>
                <c:pt idx="171">
                  <c:v>45910</c:v>
                </c:pt>
                <c:pt idx="172">
                  <c:v>45911</c:v>
                </c:pt>
                <c:pt idx="173">
                  <c:v>45912</c:v>
                </c:pt>
                <c:pt idx="174">
                  <c:v>45915</c:v>
                </c:pt>
                <c:pt idx="175">
                  <c:v>45916</c:v>
                </c:pt>
                <c:pt idx="176">
                  <c:v>45917</c:v>
                </c:pt>
                <c:pt idx="177">
                  <c:v>45918</c:v>
                </c:pt>
                <c:pt idx="178">
                  <c:v>45919</c:v>
                </c:pt>
                <c:pt idx="179">
                  <c:v>45922</c:v>
                </c:pt>
                <c:pt idx="180">
                  <c:v>45923</c:v>
                </c:pt>
                <c:pt idx="181">
                  <c:v>45924</c:v>
                </c:pt>
                <c:pt idx="182">
                  <c:v>45925</c:v>
                </c:pt>
                <c:pt idx="183">
                  <c:v>45926</c:v>
                </c:pt>
                <c:pt idx="184">
                  <c:v>45929</c:v>
                </c:pt>
                <c:pt idx="185">
                  <c:v>45930</c:v>
                </c:pt>
                <c:pt idx="186">
                  <c:v>45931</c:v>
                </c:pt>
                <c:pt idx="187">
                  <c:v>45932</c:v>
                </c:pt>
                <c:pt idx="188">
                  <c:v>45933</c:v>
                </c:pt>
                <c:pt idx="189">
                  <c:v>45936</c:v>
                </c:pt>
                <c:pt idx="190">
                  <c:v>45937</c:v>
                </c:pt>
                <c:pt idx="191">
                  <c:v>45938</c:v>
                </c:pt>
                <c:pt idx="192">
                  <c:v>45939</c:v>
                </c:pt>
                <c:pt idx="193">
                  <c:v>45940</c:v>
                </c:pt>
                <c:pt idx="194">
                  <c:v>45943</c:v>
                </c:pt>
                <c:pt idx="195">
                  <c:v>45944</c:v>
                </c:pt>
                <c:pt idx="196">
                  <c:v>45945</c:v>
                </c:pt>
                <c:pt idx="197">
                  <c:v>45946</c:v>
                </c:pt>
                <c:pt idx="198">
                  <c:v>45947</c:v>
                </c:pt>
                <c:pt idx="199">
                  <c:v>45950</c:v>
                </c:pt>
                <c:pt idx="200">
                  <c:v>45951</c:v>
                </c:pt>
                <c:pt idx="201">
                  <c:v>45952</c:v>
                </c:pt>
                <c:pt idx="202">
                  <c:v>45953</c:v>
                </c:pt>
                <c:pt idx="203">
                  <c:v>45954</c:v>
                </c:pt>
                <c:pt idx="204">
                  <c:v>45957</c:v>
                </c:pt>
                <c:pt idx="205">
                  <c:v>45958</c:v>
                </c:pt>
                <c:pt idx="206">
                  <c:v>45959</c:v>
                </c:pt>
                <c:pt idx="207">
                  <c:v>45960</c:v>
                </c:pt>
                <c:pt idx="208">
                  <c:v>45961</c:v>
                </c:pt>
                <c:pt idx="209">
                  <c:v>45964</c:v>
                </c:pt>
                <c:pt idx="210">
                  <c:v>45965</c:v>
                </c:pt>
                <c:pt idx="211">
                  <c:v>45966</c:v>
                </c:pt>
                <c:pt idx="212">
                  <c:v>45967</c:v>
                </c:pt>
              </c:numCache>
            </c:numRef>
          </c:cat>
          <c:val>
            <c:numRef>
              <c:f>'UFO 과거 데이터'!$D$2:$D$214</c:f>
              <c:numCache>
                <c:formatCode>General</c:formatCode>
                <c:ptCount val="213"/>
                <c:pt idx="0">
                  <c:v>100</c:v>
                </c:pt>
                <c:pt idx="1">
                  <c:v>101.25034209085935</c:v>
                </c:pt>
                <c:pt idx="2">
                  <c:v>101.8336070060208</c:v>
                </c:pt>
                <c:pt idx="3">
                  <c:v>100.68247126436782</c:v>
                </c:pt>
                <c:pt idx="4">
                  <c:v>100.8295703338807</c:v>
                </c:pt>
                <c:pt idx="5">
                  <c:v>99.290161466885607</c:v>
                </c:pt>
                <c:pt idx="6">
                  <c:v>99.444102353585123</c:v>
                </c:pt>
                <c:pt idx="7">
                  <c:v>99.580938697318018</c:v>
                </c:pt>
                <c:pt idx="8">
                  <c:v>101.39230979748221</c:v>
                </c:pt>
                <c:pt idx="9">
                  <c:v>101.19731800766283</c:v>
                </c:pt>
                <c:pt idx="10">
                  <c:v>102.2133278598796</c:v>
                </c:pt>
                <c:pt idx="11">
                  <c:v>103.14894636015326</c:v>
                </c:pt>
                <c:pt idx="12">
                  <c:v>103.72879036672143</c:v>
                </c:pt>
                <c:pt idx="13">
                  <c:v>104.29495073891626</c:v>
                </c:pt>
                <c:pt idx="14">
                  <c:v>103.99048987411057</c:v>
                </c:pt>
                <c:pt idx="15">
                  <c:v>102.51949917898193</c:v>
                </c:pt>
                <c:pt idx="16">
                  <c:v>103.40038314176245</c:v>
                </c:pt>
                <c:pt idx="17">
                  <c:v>102.93685002736726</c:v>
                </c:pt>
                <c:pt idx="18">
                  <c:v>103.48932676518882</c:v>
                </c:pt>
                <c:pt idx="19">
                  <c:v>102.93856048166394</c:v>
                </c:pt>
                <c:pt idx="20">
                  <c:v>102.24582649151614</c:v>
                </c:pt>
                <c:pt idx="21">
                  <c:v>102.93171866447727</c:v>
                </c:pt>
                <c:pt idx="22">
                  <c:v>103.34906951286263</c:v>
                </c:pt>
                <c:pt idx="23">
                  <c:v>103.70826491516148</c:v>
                </c:pt>
                <c:pt idx="24">
                  <c:v>102.75896278051451</c:v>
                </c:pt>
                <c:pt idx="25">
                  <c:v>103.45682813355228</c:v>
                </c:pt>
                <c:pt idx="26">
                  <c:v>103.53550903119869</c:v>
                </c:pt>
                <c:pt idx="27">
                  <c:v>103.20197044334975</c:v>
                </c:pt>
                <c:pt idx="28">
                  <c:v>104.29152983032294</c:v>
                </c:pt>
                <c:pt idx="29">
                  <c:v>104.28639846743295</c:v>
                </c:pt>
                <c:pt idx="30">
                  <c:v>104.59256978653531</c:v>
                </c:pt>
                <c:pt idx="31">
                  <c:v>104.8388752052545</c:v>
                </c:pt>
                <c:pt idx="32">
                  <c:v>104.40270935960592</c:v>
                </c:pt>
                <c:pt idx="33">
                  <c:v>102.61699507389164</c:v>
                </c:pt>
                <c:pt idx="34">
                  <c:v>102.15004105090313</c:v>
                </c:pt>
                <c:pt idx="35">
                  <c:v>101.64203612479474</c:v>
                </c:pt>
                <c:pt idx="36">
                  <c:v>101.69334975369458</c:v>
                </c:pt>
                <c:pt idx="37">
                  <c:v>100.07012862616311</c:v>
                </c:pt>
                <c:pt idx="38">
                  <c:v>101.63177339901478</c:v>
                </c:pt>
                <c:pt idx="39">
                  <c:v>99.851190476190482</c:v>
                </c:pt>
                <c:pt idx="40">
                  <c:v>98.669266557197602</c:v>
                </c:pt>
                <c:pt idx="41">
                  <c:v>99.729748221127522</c:v>
                </c:pt>
                <c:pt idx="42">
                  <c:v>97.959428024083209</c:v>
                </c:pt>
                <c:pt idx="43">
                  <c:v>98.508483853311432</c:v>
                </c:pt>
                <c:pt idx="44">
                  <c:v>95.884646962233177</c:v>
                </c:pt>
                <c:pt idx="45">
                  <c:v>95.087575259989038</c:v>
                </c:pt>
                <c:pt idx="46">
                  <c:v>95.592159277504109</c:v>
                </c:pt>
                <c:pt idx="47">
                  <c:v>94.317870826491514</c:v>
                </c:pt>
                <c:pt idx="48">
                  <c:v>96.266078270388604</c:v>
                </c:pt>
                <c:pt idx="49">
                  <c:v>97.008415435139568</c:v>
                </c:pt>
                <c:pt idx="50">
                  <c:v>95.959906951286257</c:v>
                </c:pt>
                <c:pt idx="51">
                  <c:v>97.004994526546255</c:v>
                </c:pt>
                <c:pt idx="52">
                  <c:v>96.724480021893825</c:v>
                </c:pt>
                <c:pt idx="53">
                  <c:v>96.466201423097971</c:v>
                </c:pt>
                <c:pt idx="54">
                  <c:v>98.193760262725789</c:v>
                </c:pt>
                <c:pt idx="55">
                  <c:v>98.429802955665039</c:v>
                </c:pt>
                <c:pt idx="56">
                  <c:v>97.254720853858785</c:v>
                </c:pt>
                <c:pt idx="57">
                  <c:v>96.996442255062959</c:v>
                </c:pt>
                <c:pt idx="58">
                  <c:v>95.043103448275858</c:v>
                </c:pt>
                <c:pt idx="59">
                  <c:v>95.681102900930497</c:v>
                </c:pt>
                <c:pt idx="60">
                  <c:v>95.951354679802961</c:v>
                </c:pt>
                <c:pt idx="61">
                  <c:v>96.558565955117686</c:v>
                </c:pt>
                <c:pt idx="62">
                  <c:v>91.80008210180624</c:v>
                </c:pt>
                <c:pt idx="63">
                  <c:v>86.425834701696772</c:v>
                </c:pt>
                <c:pt idx="64">
                  <c:v>86.27189381499727</c:v>
                </c:pt>
                <c:pt idx="65">
                  <c:v>84.920634920634924</c:v>
                </c:pt>
                <c:pt idx="66">
                  <c:v>93.838943623426388</c:v>
                </c:pt>
                <c:pt idx="67">
                  <c:v>89.727011494252878</c:v>
                </c:pt>
                <c:pt idx="68">
                  <c:v>91.327996715927767</c:v>
                </c:pt>
                <c:pt idx="69">
                  <c:v>92.214012041598252</c:v>
                </c:pt>
                <c:pt idx="70">
                  <c:v>91.955733442802412</c:v>
                </c:pt>
                <c:pt idx="71">
                  <c:v>89.91174055829228</c:v>
                </c:pt>
                <c:pt idx="72">
                  <c:v>90.040024630541865</c:v>
                </c:pt>
                <c:pt idx="73">
                  <c:v>87.896825396825392</c:v>
                </c:pt>
                <c:pt idx="74">
                  <c:v>90.183702791461414</c:v>
                </c:pt>
                <c:pt idx="75">
                  <c:v>91.581143951833596</c:v>
                </c:pt>
                <c:pt idx="76">
                  <c:v>93.508825944170781</c:v>
                </c:pt>
                <c:pt idx="77">
                  <c:v>94.184455391351946</c:v>
                </c:pt>
                <c:pt idx="78">
                  <c:v>94.22037493158183</c:v>
                </c:pt>
                <c:pt idx="79">
                  <c:v>94.813902572523261</c:v>
                </c:pt>
                <c:pt idx="80">
                  <c:v>94.851532567049802</c:v>
                </c:pt>
                <c:pt idx="81">
                  <c:v>95.523741105637654</c:v>
                </c:pt>
                <c:pt idx="82">
                  <c:v>96.941707717569798</c:v>
                </c:pt>
                <c:pt idx="83">
                  <c:v>96.385810071154893</c:v>
                </c:pt>
                <c:pt idx="84">
                  <c:v>95.580186097427472</c:v>
                </c:pt>
                <c:pt idx="85">
                  <c:v>95.982142857142861</c:v>
                </c:pt>
                <c:pt idx="86">
                  <c:v>96.650930487137373</c:v>
                </c:pt>
                <c:pt idx="87">
                  <c:v>96.527777777777786</c:v>
                </c:pt>
                <c:pt idx="88">
                  <c:v>99.717775041050899</c:v>
                </c:pt>
                <c:pt idx="89">
                  <c:v>100.37629994526547</c:v>
                </c:pt>
                <c:pt idx="90">
                  <c:v>100.50458401751506</c:v>
                </c:pt>
                <c:pt idx="91">
                  <c:v>100.99548440065682</c:v>
                </c:pt>
                <c:pt idx="92">
                  <c:v>101.6351943076081</c:v>
                </c:pt>
                <c:pt idx="93">
                  <c:v>101.7463738368911</c:v>
                </c:pt>
                <c:pt idx="94">
                  <c:v>101.40428297755884</c:v>
                </c:pt>
                <c:pt idx="95">
                  <c:v>99.695539135194309</c:v>
                </c:pt>
                <c:pt idx="96">
                  <c:v>99.73487958401752</c:v>
                </c:pt>
                <c:pt idx="97">
                  <c:v>99.054118773946371</c:v>
                </c:pt>
                <c:pt idx="98">
                  <c:v>101.11350574712642</c:v>
                </c:pt>
                <c:pt idx="99">
                  <c:v>100.52853037766832</c:v>
                </c:pt>
                <c:pt idx="100">
                  <c:v>100.92535577449371</c:v>
                </c:pt>
                <c:pt idx="101">
                  <c:v>100.81246579091408</c:v>
                </c:pt>
                <c:pt idx="102">
                  <c:v>101.3803366174056</c:v>
                </c:pt>
                <c:pt idx="103">
                  <c:v>101.95847016967707</c:v>
                </c:pt>
                <c:pt idx="104">
                  <c:v>101.93110290093048</c:v>
                </c:pt>
                <c:pt idx="105">
                  <c:v>101.43849206349205</c:v>
                </c:pt>
                <c:pt idx="106">
                  <c:v>102.48015873015872</c:v>
                </c:pt>
                <c:pt idx="107">
                  <c:v>102.57252326217842</c:v>
                </c:pt>
                <c:pt idx="108">
                  <c:v>103.15407772304326</c:v>
                </c:pt>
                <c:pt idx="109">
                  <c:v>102.85987958401752</c:v>
                </c:pt>
                <c:pt idx="110">
                  <c:v>103.26867816091954</c:v>
                </c:pt>
                <c:pt idx="111">
                  <c:v>102.11412151067323</c:v>
                </c:pt>
                <c:pt idx="112">
                  <c:v>103.08565955117679</c:v>
                </c:pt>
                <c:pt idx="113">
                  <c:v>102.20477558839627</c:v>
                </c:pt>
                <c:pt idx="114">
                  <c:v>102.18938149972634</c:v>
                </c:pt>
                <c:pt idx="115">
                  <c:v>101.64887794198138</c:v>
                </c:pt>
                <c:pt idx="116">
                  <c:v>102.65291461412151</c:v>
                </c:pt>
                <c:pt idx="117">
                  <c:v>103.78694581280787</c:v>
                </c:pt>
                <c:pt idx="118">
                  <c:v>103.84510125889437</c:v>
                </c:pt>
                <c:pt idx="119">
                  <c:v>104.65756704980845</c:v>
                </c:pt>
                <c:pt idx="120">
                  <c:v>105.17754515599343</c:v>
                </c:pt>
                <c:pt idx="121">
                  <c:v>105.68041871921183</c:v>
                </c:pt>
                <c:pt idx="122">
                  <c:v>105.6462096332786</c:v>
                </c:pt>
                <c:pt idx="123">
                  <c:v>106.12513683634374</c:v>
                </c:pt>
                <c:pt idx="124">
                  <c:v>106.96154898741106</c:v>
                </c:pt>
                <c:pt idx="125">
                  <c:v>106.16447728516694</c:v>
                </c:pt>
                <c:pt idx="126">
                  <c:v>106.10632183908046</c:v>
                </c:pt>
                <c:pt idx="127">
                  <c:v>106.74261083743841</c:v>
                </c:pt>
                <c:pt idx="128">
                  <c:v>107.04365079365081</c:v>
                </c:pt>
                <c:pt idx="129">
                  <c:v>106.66735084838534</c:v>
                </c:pt>
                <c:pt idx="130">
                  <c:v>106.87089490968799</c:v>
                </c:pt>
                <c:pt idx="131">
                  <c:v>106.41420361247948</c:v>
                </c:pt>
                <c:pt idx="132">
                  <c:v>106.76997810618501</c:v>
                </c:pt>
                <c:pt idx="133">
                  <c:v>107.42337164750957</c:v>
                </c:pt>
                <c:pt idx="134">
                  <c:v>107.34469074986318</c:v>
                </c:pt>
                <c:pt idx="135">
                  <c:v>107.54823481116584</c:v>
                </c:pt>
                <c:pt idx="136">
                  <c:v>107.56362889983579</c:v>
                </c:pt>
                <c:pt idx="137">
                  <c:v>108.47872194854955</c:v>
                </c:pt>
                <c:pt idx="138">
                  <c:v>108.5146414887794</c:v>
                </c:pt>
                <c:pt idx="139">
                  <c:v>108.97304324028462</c:v>
                </c:pt>
                <c:pt idx="140">
                  <c:v>108.94567597153807</c:v>
                </c:pt>
                <c:pt idx="141">
                  <c:v>108.65831964969897</c:v>
                </c:pt>
                <c:pt idx="142">
                  <c:v>108.52148330596607</c:v>
                </c:pt>
                <c:pt idx="143">
                  <c:v>108.1143951833607</c:v>
                </c:pt>
                <c:pt idx="144">
                  <c:v>106.3423645320197</c:v>
                </c:pt>
                <c:pt idx="145">
                  <c:v>107.95874384236453</c:v>
                </c:pt>
                <c:pt idx="146">
                  <c:v>107.41139846743295</c:v>
                </c:pt>
                <c:pt idx="147">
                  <c:v>108.23412698412697</c:v>
                </c:pt>
                <c:pt idx="148">
                  <c:v>108.14347290640394</c:v>
                </c:pt>
                <c:pt idx="149">
                  <c:v>108.98672687465792</c:v>
                </c:pt>
                <c:pt idx="150">
                  <c:v>108.7712096332786</c:v>
                </c:pt>
                <c:pt idx="151">
                  <c:v>109.92918719211823</c:v>
                </c:pt>
                <c:pt idx="152">
                  <c:v>110.30548713738368</c:v>
                </c:pt>
                <c:pt idx="153">
                  <c:v>110.31574986316366</c:v>
                </c:pt>
                <c:pt idx="154">
                  <c:v>110.05747126436782</c:v>
                </c:pt>
                <c:pt idx="155">
                  <c:v>110.03352490421456</c:v>
                </c:pt>
                <c:pt idx="156">
                  <c:v>109.4365763546798</c:v>
                </c:pt>
                <c:pt idx="157">
                  <c:v>109.1457991242474</c:v>
                </c:pt>
                <c:pt idx="158">
                  <c:v>108.70792282430213</c:v>
                </c:pt>
                <c:pt idx="159">
                  <c:v>110.37732621784346</c:v>
                </c:pt>
                <c:pt idx="160">
                  <c:v>109.89155719759169</c:v>
                </c:pt>
                <c:pt idx="161">
                  <c:v>110.35166940339354</c:v>
                </c:pt>
                <c:pt idx="162">
                  <c:v>110.60310618500273</c:v>
                </c:pt>
                <c:pt idx="163">
                  <c:v>110.99480021893815</c:v>
                </c:pt>
                <c:pt idx="164">
                  <c:v>110.33285440613025</c:v>
                </c:pt>
                <c:pt idx="165">
                  <c:v>109.51525725232622</c:v>
                </c:pt>
                <c:pt idx="166">
                  <c:v>110.10878489326765</c:v>
                </c:pt>
                <c:pt idx="167">
                  <c:v>111.02900930487138</c:v>
                </c:pt>
                <c:pt idx="168">
                  <c:v>110.70744389709908</c:v>
                </c:pt>
                <c:pt idx="169">
                  <c:v>110.9794061302682</c:v>
                </c:pt>
                <c:pt idx="170">
                  <c:v>111.23597427476739</c:v>
                </c:pt>
                <c:pt idx="171">
                  <c:v>111.5575396825397</c:v>
                </c:pt>
                <c:pt idx="172">
                  <c:v>112.48460591133005</c:v>
                </c:pt>
                <c:pt idx="173">
                  <c:v>112.44697591680351</c:v>
                </c:pt>
                <c:pt idx="174">
                  <c:v>113.04563492063491</c:v>
                </c:pt>
                <c:pt idx="175">
                  <c:v>112.88998357963875</c:v>
                </c:pt>
                <c:pt idx="176">
                  <c:v>112.74972632731253</c:v>
                </c:pt>
                <c:pt idx="177">
                  <c:v>113.27654625068418</c:v>
                </c:pt>
                <c:pt idx="178">
                  <c:v>113.52285166940341</c:v>
                </c:pt>
                <c:pt idx="179">
                  <c:v>114.05993431855501</c:v>
                </c:pt>
                <c:pt idx="180">
                  <c:v>113.43903940886699</c:v>
                </c:pt>
                <c:pt idx="181">
                  <c:v>113.0781335522715</c:v>
                </c:pt>
                <c:pt idx="182">
                  <c:v>112.5564449917898</c:v>
                </c:pt>
                <c:pt idx="183">
                  <c:v>113.20128626163111</c:v>
                </c:pt>
                <c:pt idx="184">
                  <c:v>113.51943076081005</c:v>
                </c:pt>
                <c:pt idx="185">
                  <c:v>113.94704433497536</c:v>
                </c:pt>
                <c:pt idx="186">
                  <c:v>114.33531746031747</c:v>
                </c:pt>
                <c:pt idx="187">
                  <c:v>114.46702244116038</c:v>
                </c:pt>
                <c:pt idx="188">
                  <c:v>114.46531198686371</c:v>
                </c:pt>
                <c:pt idx="189">
                  <c:v>114.8758210180624</c:v>
                </c:pt>
                <c:pt idx="190">
                  <c:v>114.44991789819376</c:v>
                </c:pt>
                <c:pt idx="191">
                  <c:v>115.13238916256159</c:v>
                </c:pt>
                <c:pt idx="192">
                  <c:v>114.79885057471265</c:v>
                </c:pt>
                <c:pt idx="193">
                  <c:v>111.69608648056924</c:v>
                </c:pt>
                <c:pt idx="194">
                  <c:v>113.40996168582376</c:v>
                </c:pt>
                <c:pt idx="195">
                  <c:v>113.27141488779419</c:v>
                </c:pt>
                <c:pt idx="196">
                  <c:v>113.77428845101258</c:v>
                </c:pt>
                <c:pt idx="197">
                  <c:v>112.99945265462507</c:v>
                </c:pt>
                <c:pt idx="198">
                  <c:v>113.64087301587303</c:v>
                </c:pt>
                <c:pt idx="199">
                  <c:v>114.82279693486591</c:v>
                </c:pt>
                <c:pt idx="200">
                  <c:v>114.82108648056924</c:v>
                </c:pt>
                <c:pt idx="201">
                  <c:v>114.22413793103448</c:v>
                </c:pt>
                <c:pt idx="202">
                  <c:v>114.90147783251233</c:v>
                </c:pt>
                <c:pt idx="203">
                  <c:v>115.84051724137932</c:v>
                </c:pt>
                <c:pt idx="204">
                  <c:v>117.20717022441161</c:v>
                </c:pt>
                <c:pt idx="205">
                  <c:v>117.51847290640394</c:v>
                </c:pt>
                <c:pt idx="206">
                  <c:v>117.57491789819376</c:v>
                </c:pt>
                <c:pt idx="207">
                  <c:v>116.2818144499179</c:v>
                </c:pt>
                <c:pt idx="208">
                  <c:v>116.66324575807334</c:v>
                </c:pt>
                <c:pt idx="209">
                  <c:v>116.88218390804599</c:v>
                </c:pt>
                <c:pt idx="210">
                  <c:v>115.49671592775042</c:v>
                </c:pt>
                <c:pt idx="211">
                  <c:v>115.89696223316915</c:v>
                </c:pt>
                <c:pt idx="212">
                  <c:v>114.65346195949644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44C-4BF2-8978-3F9A1AD165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85761040"/>
        <c:axId val="685761520"/>
      </c:areaChart>
      <c:lineChart>
        <c:grouping val="standard"/>
        <c:varyColors val="0"/>
        <c:ser>
          <c:idx val="0"/>
          <c:order val="0"/>
          <c:tx>
            <c:strRef>
              <c:f>'UFO 과거 데이터'!$B$1</c:f>
              <c:strCache>
                <c:ptCount val="1"/>
                <c:pt idx="0">
                  <c:v>UFO</c:v>
                </c:pt>
              </c:strCache>
            </c:strRef>
          </c:tx>
          <c:spPr>
            <a:ln w="22225" cap="rnd">
              <a:solidFill>
                <a:srgbClr val="203864"/>
              </a:solidFill>
              <a:round/>
            </a:ln>
            <a:effectLst/>
          </c:spPr>
          <c:marker>
            <c:symbol val="none"/>
          </c:marker>
          <c:cat>
            <c:numRef>
              <c:f>'UFO 과거 데이터'!$A$2:$A$214</c:f>
              <c:numCache>
                <c:formatCode>m/d/yyyy</c:formatCode>
                <c:ptCount val="213"/>
                <c:pt idx="0">
                  <c:v>45659</c:v>
                </c:pt>
                <c:pt idx="1">
                  <c:v>45660</c:v>
                </c:pt>
                <c:pt idx="2">
                  <c:v>45663</c:v>
                </c:pt>
                <c:pt idx="3">
                  <c:v>45664</c:v>
                </c:pt>
                <c:pt idx="4">
                  <c:v>45665</c:v>
                </c:pt>
                <c:pt idx="5">
                  <c:v>45667</c:v>
                </c:pt>
                <c:pt idx="6">
                  <c:v>45670</c:v>
                </c:pt>
                <c:pt idx="7">
                  <c:v>45671</c:v>
                </c:pt>
                <c:pt idx="8">
                  <c:v>45672</c:v>
                </c:pt>
                <c:pt idx="9">
                  <c:v>45673</c:v>
                </c:pt>
                <c:pt idx="10">
                  <c:v>45674</c:v>
                </c:pt>
                <c:pt idx="11">
                  <c:v>45678</c:v>
                </c:pt>
                <c:pt idx="12">
                  <c:v>45679</c:v>
                </c:pt>
                <c:pt idx="13">
                  <c:v>45680</c:v>
                </c:pt>
                <c:pt idx="14">
                  <c:v>45681</c:v>
                </c:pt>
                <c:pt idx="15">
                  <c:v>45684</c:v>
                </c:pt>
                <c:pt idx="16">
                  <c:v>45685</c:v>
                </c:pt>
                <c:pt idx="17">
                  <c:v>45686</c:v>
                </c:pt>
                <c:pt idx="18">
                  <c:v>45687</c:v>
                </c:pt>
                <c:pt idx="19">
                  <c:v>45688</c:v>
                </c:pt>
                <c:pt idx="20">
                  <c:v>45691</c:v>
                </c:pt>
                <c:pt idx="21">
                  <c:v>45692</c:v>
                </c:pt>
                <c:pt idx="22">
                  <c:v>45693</c:v>
                </c:pt>
                <c:pt idx="23">
                  <c:v>45694</c:v>
                </c:pt>
                <c:pt idx="24">
                  <c:v>45695</c:v>
                </c:pt>
                <c:pt idx="25">
                  <c:v>45698</c:v>
                </c:pt>
                <c:pt idx="26">
                  <c:v>45699</c:v>
                </c:pt>
                <c:pt idx="27">
                  <c:v>45700</c:v>
                </c:pt>
                <c:pt idx="28">
                  <c:v>45701</c:v>
                </c:pt>
                <c:pt idx="29">
                  <c:v>45702</c:v>
                </c:pt>
                <c:pt idx="30">
                  <c:v>45706</c:v>
                </c:pt>
                <c:pt idx="31">
                  <c:v>45707</c:v>
                </c:pt>
                <c:pt idx="32">
                  <c:v>45708</c:v>
                </c:pt>
                <c:pt idx="33">
                  <c:v>45709</c:v>
                </c:pt>
                <c:pt idx="34">
                  <c:v>45712</c:v>
                </c:pt>
                <c:pt idx="35">
                  <c:v>45713</c:v>
                </c:pt>
                <c:pt idx="36">
                  <c:v>45714</c:v>
                </c:pt>
                <c:pt idx="37">
                  <c:v>45715</c:v>
                </c:pt>
                <c:pt idx="38">
                  <c:v>45716</c:v>
                </c:pt>
                <c:pt idx="39">
                  <c:v>45719</c:v>
                </c:pt>
                <c:pt idx="40">
                  <c:v>45720</c:v>
                </c:pt>
                <c:pt idx="41">
                  <c:v>45721</c:v>
                </c:pt>
                <c:pt idx="42">
                  <c:v>45722</c:v>
                </c:pt>
                <c:pt idx="43">
                  <c:v>45723</c:v>
                </c:pt>
                <c:pt idx="44">
                  <c:v>45726</c:v>
                </c:pt>
                <c:pt idx="45">
                  <c:v>45727</c:v>
                </c:pt>
                <c:pt idx="46">
                  <c:v>45728</c:v>
                </c:pt>
                <c:pt idx="47">
                  <c:v>45729</c:v>
                </c:pt>
                <c:pt idx="48">
                  <c:v>45730</c:v>
                </c:pt>
                <c:pt idx="49">
                  <c:v>45733</c:v>
                </c:pt>
                <c:pt idx="50">
                  <c:v>45734</c:v>
                </c:pt>
                <c:pt idx="51">
                  <c:v>45735</c:v>
                </c:pt>
                <c:pt idx="52">
                  <c:v>45736</c:v>
                </c:pt>
                <c:pt idx="53">
                  <c:v>45737</c:v>
                </c:pt>
                <c:pt idx="54">
                  <c:v>45740</c:v>
                </c:pt>
                <c:pt idx="55">
                  <c:v>45741</c:v>
                </c:pt>
                <c:pt idx="56">
                  <c:v>45742</c:v>
                </c:pt>
                <c:pt idx="57">
                  <c:v>45743</c:v>
                </c:pt>
                <c:pt idx="58">
                  <c:v>45744</c:v>
                </c:pt>
                <c:pt idx="59">
                  <c:v>45747</c:v>
                </c:pt>
                <c:pt idx="60">
                  <c:v>45748</c:v>
                </c:pt>
                <c:pt idx="61">
                  <c:v>45749</c:v>
                </c:pt>
                <c:pt idx="62">
                  <c:v>45750</c:v>
                </c:pt>
                <c:pt idx="63">
                  <c:v>45751</c:v>
                </c:pt>
                <c:pt idx="64">
                  <c:v>45754</c:v>
                </c:pt>
                <c:pt idx="65">
                  <c:v>45755</c:v>
                </c:pt>
                <c:pt idx="66">
                  <c:v>45756</c:v>
                </c:pt>
                <c:pt idx="67">
                  <c:v>45757</c:v>
                </c:pt>
                <c:pt idx="68">
                  <c:v>45758</c:v>
                </c:pt>
                <c:pt idx="69">
                  <c:v>45761</c:v>
                </c:pt>
                <c:pt idx="70">
                  <c:v>45762</c:v>
                </c:pt>
                <c:pt idx="71">
                  <c:v>45763</c:v>
                </c:pt>
                <c:pt idx="72">
                  <c:v>45764</c:v>
                </c:pt>
                <c:pt idx="73">
                  <c:v>45768</c:v>
                </c:pt>
                <c:pt idx="74">
                  <c:v>45769</c:v>
                </c:pt>
                <c:pt idx="75">
                  <c:v>45770</c:v>
                </c:pt>
                <c:pt idx="76">
                  <c:v>45771</c:v>
                </c:pt>
                <c:pt idx="77">
                  <c:v>45772</c:v>
                </c:pt>
                <c:pt idx="78">
                  <c:v>45775</c:v>
                </c:pt>
                <c:pt idx="79">
                  <c:v>45776</c:v>
                </c:pt>
                <c:pt idx="80">
                  <c:v>45777</c:v>
                </c:pt>
                <c:pt idx="81">
                  <c:v>45778</c:v>
                </c:pt>
                <c:pt idx="82">
                  <c:v>45779</c:v>
                </c:pt>
                <c:pt idx="83">
                  <c:v>45782</c:v>
                </c:pt>
                <c:pt idx="84">
                  <c:v>45783</c:v>
                </c:pt>
                <c:pt idx="85">
                  <c:v>45784</c:v>
                </c:pt>
                <c:pt idx="86">
                  <c:v>45785</c:v>
                </c:pt>
                <c:pt idx="87">
                  <c:v>45786</c:v>
                </c:pt>
                <c:pt idx="88">
                  <c:v>45789</c:v>
                </c:pt>
                <c:pt idx="89">
                  <c:v>45790</c:v>
                </c:pt>
                <c:pt idx="90">
                  <c:v>45791</c:v>
                </c:pt>
                <c:pt idx="91">
                  <c:v>45792</c:v>
                </c:pt>
                <c:pt idx="92">
                  <c:v>45793</c:v>
                </c:pt>
                <c:pt idx="93">
                  <c:v>45796</c:v>
                </c:pt>
                <c:pt idx="94">
                  <c:v>45797</c:v>
                </c:pt>
                <c:pt idx="95">
                  <c:v>45798</c:v>
                </c:pt>
                <c:pt idx="96">
                  <c:v>45799</c:v>
                </c:pt>
                <c:pt idx="97">
                  <c:v>45800</c:v>
                </c:pt>
                <c:pt idx="98">
                  <c:v>45804</c:v>
                </c:pt>
                <c:pt idx="99">
                  <c:v>45805</c:v>
                </c:pt>
                <c:pt idx="100">
                  <c:v>45806</c:v>
                </c:pt>
                <c:pt idx="101">
                  <c:v>45807</c:v>
                </c:pt>
                <c:pt idx="102">
                  <c:v>45810</c:v>
                </c:pt>
                <c:pt idx="103">
                  <c:v>45811</c:v>
                </c:pt>
                <c:pt idx="104">
                  <c:v>45812</c:v>
                </c:pt>
                <c:pt idx="105">
                  <c:v>45813</c:v>
                </c:pt>
                <c:pt idx="106">
                  <c:v>45814</c:v>
                </c:pt>
                <c:pt idx="107">
                  <c:v>45817</c:v>
                </c:pt>
                <c:pt idx="108">
                  <c:v>45818</c:v>
                </c:pt>
                <c:pt idx="109">
                  <c:v>45819</c:v>
                </c:pt>
                <c:pt idx="110">
                  <c:v>45820</c:v>
                </c:pt>
                <c:pt idx="111">
                  <c:v>45821</c:v>
                </c:pt>
                <c:pt idx="112">
                  <c:v>45824</c:v>
                </c:pt>
                <c:pt idx="113">
                  <c:v>45825</c:v>
                </c:pt>
                <c:pt idx="114">
                  <c:v>45826</c:v>
                </c:pt>
                <c:pt idx="115">
                  <c:v>45828</c:v>
                </c:pt>
                <c:pt idx="116">
                  <c:v>45831</c:v>
                </c:pt>
                <c:pt idx="117">
                  <c:v>45832</c:v>
                </c:pt>
                <c:pt idx="118">
                  <c:v>45833</c:v>
                </c:pt>
                <c:pt idx="119">
                  <c:v>45834</c:v>
                </c:pt>
                <c:pt idx="120">
                  <c:v>45835</c:v>
                </c:pt>
                <c:pt idx="121">
                  <c:v>45838</c:v>
                </c:pt>
                <c:pt idx="122">
                  <c:v>45839</c:v>
                </c:pt>
                <c:pt idx="123">
                  <c:v>45840</c:v>
                </c:pt>
                <c:pt idx="124">
                  <c:v>45841</c:v>
                </c:pt>
                <c:pt idx="125">
                  <c:v>45845</c:v>
                </c:pt>
                <c:pt idx="126">
                  <c:v>45846</c:v>
                </c:pt>
                <c:pt idx="127">
                  <c:v>45847</c:v>
                </c:pt>
                <c:pt idx="128">
                  <c:v>45848</c:v>
                </c:pt>
                <c:pt idx="129">
                  <c:v>45849</c:v>
                </c:pt>
                <c:pt idx="130">
                  <c:v>45852</c:v>
                </c:pt>
                <c:pt idx="131">
                  <c:v>45853</c:v>
                </c:pt>
                <c:pt idx="132">
                  <c:v>45854</c:v>
                </c:pt>
                <c:pt idx="133">
                  <c:v>45855</c:v>
                </c:pt>
                <c:pt idx="134">
                  <c:v>45856</c:v>
                </c:pt>
                <c:pt idx="135">
                  <c:v>45859</c:v>
                </c:pt>
                <c:pt idx="136">
                  <c:v>45860</c:v>
                </c:pt>
                <c:pt idx="137">
                  <c:v>45861</c:v>
                </c:pt>
                <c:pt idx="138">
                  <c:v>45862</c:v>
                </c:pt>
                <c:pt idx="139">
                  <c:v>45863</c:v>
                </c:pt>
                <c:pt idx="140">
                  <c:v>45866</c:v>
                </c:pt>
                <c:pt idx="141">
                  <c:v>45867</c:v>
                </c:pt>
                <c:pt idx="142">
                  <c:v>45868</c:v>
                </c:pt>
                <c:pt idx="143">
                  <c:v>45869</c:v>
                </c:pt>
                <c:pt idx="144">
                  <c:v>45870</c:v>
                </c:pt>
                <c:pt idx="145">
                  <c:v>45873</c:v>
                </c:pt>
                <c:pt idx="146">
                  <c:v>45874</c:v>
                </c:pt>
                <c:pt idx="147">
                  <c:v>45875</c:v>
                </c:pt>
                <c:pt idx="148">
                  <c:v>45876</c:v>
                </c:pt>
                <c:pt idx="149">
                  <c:v>45877</c:v>
                </c:pt>
                <c:pt idx="150">
                  <c:v>45880</c:v>
                </c:pt>
                <c:pt idx="151">
                  <c:v>45881</c:v>
                </c:pt>
                <c:pt idx="152">
                  <c:v>45882</c:v>
                </c:pt>
                <c:pt idx="153">
                  <c:v>45883</c:v>
                </c:pt>
                <c:pt idx="154">
                  <c:v>45884</c:v>
                </c:pt>
                <c:pt idx="155">
                  <c:v>45887</c:v>
                </c:pt>
                <c:pt idx="156">
                  <c:v>45888</c:v>
                </c:pt>
                <c:pt idx="157">
                  <c:v>45889</c:v>
                </c:pt>
                <c:pt idx="158">
                  <c:v>45890</c:v>
                </c:pt>
                <c:pt idx="159">
                  <c:v>45891</c:v>
                </c:pt>
                <c:pt idx="160">
                  <c:v>45894</c:v>
                </c:pt>
                <c:pt idx="161">
                  <c:v>45895</c:v>
                </c:pt>
                <c:pt idx="162">
                  <c:v>45896</c:v>
                </c:pt>
                <c:pt idx="163">
                  <c:v>45897</c:v>
                </c:pt>
                <c:pt idx="164">
                  <c:v>45898</c:v>
                </c:pt>
                <c:pt idx="165">
                  <c:v>45902</c:v>
                </c:pt>
                <c:pt idx="166">
                  <c:v>45903</c:v>
                </c:pt>
                <c:pt idx="167">
                  <c:v>45904</c:v>
                </c:pt>
                <c:pt idx="168">
                  <c:v>45905</c:v>
                </c:pt>
                <c:pt idx="169">
                  <c:v>45908</c:v>
                </c:pt>
                <c:pt idx="170">
                  <c:v>45909</c:v>
                </c:pt>
                <c:pt idx="171">
                  <c:v>45910</c:v>
                </c:pt>
                <c:pt idx="172">
                  <c:v>45911</c:v>
                </c:pt>
                <c:pt idx="173">
                  <c:v>45912</c:v>
                </c:pt>
                <c:pt idx="174">
                  <c:v>45915</c:v>
                </c:pt>
                <c:pt idx="175">
                  <c:v>45916</c:v>
                </c:pt>
                <c:pt idx="176">
                  <c:v>45917</c:v>
                </c:pt>
                <c:pt idx="177">
                  <c:v>45918</c:v>
                </c:pt>
                <c:pt idx="178">
                  <c:v>45919</c:v>
                </c:pt>
                <c:pt idx="179">
                  <c:v>45922</c:v>
                </c:pt>
                <c:pt idx="180">
                  <c:v>45923</c:v>
                </c:pt>
                <c:pt idx="181">
                  <c:v>45924</c:v>
                </c:pt>
                <c:pt idx="182">
                  <c:v>45925</c:v>
                </c:pt>
                <c:pt idx="183">
                  <c:v>45926</c:v>
                </c:pt>
                <c:pt idx="184">
                  <c:v>45929</c:v>
                </c:pt>
                <c:pt idx="185">
                  <c:v>45930</c:v>
                </c:pt>
                <c:pt idx="186">
                  <c:v>45931</c:v>
                </c:pt>
                <c:pt idx="187">
                  <c:v>45932</c:v>
                </c:pt>
                <c:pt idx="188">
                  <c:v>45933</c:v>
                </c:pt>
                <c:pt idx="189">
                  <c:v>45936</c:v>
                </c:pt>
                <c:pt idx="190">
                  <c:v>45937</c:v>
                </c:pt>
                <c:pt idx="191">
                  <c:v>45938</c:v>
                </c:pt>
                <c:pt idx="192">
                  <c:v>45939</c:v>
                </c:pt>
                <c:pt idx="193">
                  <c:v>45940</c:v>
                </c:pt>
                <c:pt idx="194">
                  <c:v>45943</c:v>
                </c:pt>
                <c:pt idx="195">
                  <c:v>45944</c:v>
                </c:pt>
                <c:pt idx="196">
                  <c:v>45945</c:v>
                </c:pt>
                <c:pt idx="197">
                  <c:v>45946</c:v>
                </c:pt>
                <c:pt idx="198">
                  <c:v>45947</c:v>
                </c:pt>
                <c:pt idx="199">
                  <c:v>45950</c:v>
                </c:pt>
                <c:pt idx="200">
                  <c:v>45951</c:v>
                </c:pt>
                <c:pt idx="201">
                  <c:v>45952</c:v>
                </c:pt>
                <c:pt idx="202">
                  <c:v>45953</c:v>
                </c:pt>
                <c:pt idx="203">
                  <c:v>45954</c:v>
                </c:pt>
                <c:pt idx="204">
                  <c:v>45957</c:v>
                </c:pt>
                <c:pt idx="205">
                  <c:v>45958</c:v>
                </c:pt>
                <c:pt idx="206">
                  <c:v>45959</c:v>
                </c:pt>
                <c:pt idx="207">
                  <c:v>45960</c:v>
                </c:pt>
                <c:pt idx="208">
                  <c:v>45961</c:v>
                </c:pt>
                <c:pt idx="209">
                  <c:v>45964</c:v>
                </c:pt>
                <c:pt idx="210">
                  <c:v>45965</c:v>
                </c:pt>
                <c:pt idx="211">
                  <c:v>45966</c:v>
                </c:pt>
                <c:pt idx="212">
                  <c:v>45967</c:v>
                </c:pt>
              </c:numCache>
            </c:numRef>
          </c:cat>
          <c:val>
            <c:numRef>
              <c:f>'UFO 과거 데이터'!$B$2:$B$214</c:f>
              <c:numCache>
                <c:formatCode>General</c:formatCode>
                <c:ptCount val="213"/>
                <c:pt idx="0">
                  <c:v>100</c:v>
                </c:pt>
                <c:pt idx="1">
                  <c:v>103.77520377520379</c:v>
                </c:pt>
                <c:pt idx="2">
                  <c:v>104.46160446160447</c:v>
                </c:pt>
                <c:pt idx="3">
                  <c:v>101.8018018018018</c:v>
                </c:pt>
                <c:pt idx="4">
                  <c:v>99.742599742599751</c:v>
                </c:pt>
                <c:pt idx="5">
                  <c:v>98.026598026598037</c:v>
                </c:pt>
                <c:pt idx="6">
                  <c:v>94.766194766194772</c:v>
                </c:pt>
                <c:pt idx="7">
                  <c:v>94.680394680394684</c:v>
                </c:pt>
                <c:pt idx="8">
                  <c:v>97.039897039897056</c:v>
                </c:pt>
                <c:pt idx="9">
                  <c:v>97.511797511797511</c:v>
                </c:pt>
                <c:pt idx="10">
                  <c:v>98.369798369798374</c:v>
                </c:pt>
                <c:pt idx="11">
                  <c:v>107.25010725010726</c:v>
                </c:pt>
                <c:pt idx="12">
                  <c:v>106.26340626340627</c:v>
                </c:pt>
                <c:pt idx="13">
                  <c:v>107.03560703560704</c:v>
                </c:pt>
                <c:pt idx="14">
                  <c:v>108.92320892320893</c:v>
                </c:pt>
                <c:pt idx="15">
                  <c:v>105.1909051909052</c:v>
                </c:pt>
                <c:pt idx="16">
                  <c:v>105.92020592020592</c:v>
                </c:pt>
                <c:pt idx="17">
                  <c:v>102.61690261690264</c:v>
                </c:pt>
                <c:pt idx="18">
                  <c:v>104.24710424710426</c:v>
                </c:pt>
                <c:pt idx="19">
                  <c:v>105.44830544830546</c:v>
                </c:pt>
                <c:pt idx="20">
                  <c:v>104.41870441870442</c:v>
                </c:pt>
                <c:pt idx="21">
                  <c:v>106.64950664950665</c:v>
                </c:pt>
                <c:pt idx="22">
                  <c:v>106.47790647790649</c:v>
                </c:pt>
                <c:pt idx="23">
                  <c:v>107.80780780780781</c:v>
                </c:pt>
                <c:pt idx="24">
                  <c:v>107.42170742170742</c:v>
                </c:pt>
                <c:pt idx="25">
                  <c:v>111.7975117975118</c:v>
                </c:pt>
                <c:pt idx="26">
                  <c:v>108.1939081939082</c:v>
                </c:pt>
                <c:pt idx="27">
                  <c:v>107.07850707850707</c:v>
                </c:pt>
                <c:pt idx="28">
                  <c:v>109.78120978120978</c:v>
                </c:pt>
                <c:pt idx="29">
                  <c:v>109.52380952380953</c:v>
                </c:pt>
                <c:pt idx="30">
                  <c:v>110.55341055341054</c:v>
                </c:pt>
                <c:pt idx="31">
                  <c:v>109.26640926640927</c:v>
                </c:pt>
                <c:pt idx="32">
                  <c:v>107.85070785070785</c:v>
                </c:pt>
                <c:pt idx="33">
                  <c:v>103.47490347490348</c:v>
                </c:pt>
                <c:pt idx="34">
                  <c:v>102.35950235950236</c:v>
                </c:pt>
                <c:pt idx="35">
                  <c:v>99.528099528099531</c:v>
                </c:pt>
                <c:pt idx="36">
                  <c:v>100.986700986701</c:v>
                </c:pt>
                <c:pt idx="37">
                  <c:v>100.30030030030031</c:v>
                </c:pt>
                <c:pt idx="38">
                  <c:v>100.94380094380095</c:v>
                </c:pt>
                <c:pt idx="39">
                  <c:v>98.541398541398536</c:v>
                </c:pt>
                <c:pt idx="40">
                  <c:v>99.313599313599312</c:v>
                </c:pt>
                <c:pt idx="41">
                  <c:v>103.60360360360362</c:v>
                </c:pt>
                <c:pt idx="42">
                  <c:v>100.42900042900042</c:v>
                </c:pt>
                <c:pt idx="43">
                  <c:v>100.77220077220078</c:v>
                </c:pt>
                <c:pt idx="44">
                  <c:v>96.567996567996587</c:v>
                </c:pt>
                <c:pt idx="45">
                  <c:v>96.739596739596749</c:v>
                </c:pt>
                <c:pt idx="46">
                  <c:v>96.825396825396837</c:v>
                </c:pt>
                <c:pt idx="47">
                  <c:v>95.409695409695402</c:v>
                </c:pt>
                <c:pt idx="48">
                  <c:v>97.983697983697994</c:v>
                </c:pt>
                <c:pt idx="49">
                  <c:v>99.871299871299883</c:v>
                </c:pt>
                <c:pt idx="50">
                  <c:v>97.12569712569713</c:v>
                </c:pt>
                <c:pt idx="51">
                  <c:v>98.412698412698418</c:v>
                </c:pt>
                <c:pt idx="52">
                  <c:v>97.597597597597613</c:v>
                </c:pt>
                <c:pt idx="53">
                  <c:v>96.911196911196924</c:v>
                </c:pt>
                <c:pt idx="54">
                  <c:v>101.2870012870013</c:v>
                </c:pt>
                <c:pt idx="55">
                  <c:v>102.05920205920206</c:v>
                </c:pt>
                <c:pt idx="56">
                  <c:v>100.12870012870015</c:v>
                </c:pt>
                <c:pt idx="57">
                  <c:v>98.670098670098668</c:v>
                </c:pt>
                <c:pt idx="58">
                  <c:v>95.409695409695402</c:v>
                </c:pt>
                <c:pt idx="59">
                  <c:v>94.680394680394684</c:v>
                </c:pt>
                <c:pt idx="60">
                  <c:v>93.393393393393396</c:v>
                </c:pt>
                <c:pt idx="61">
                  <c:v>95.709995709995709</c:v>
                </c:pt>
                <c:pt idx="62">
                  <c:v>90.390390390390394</c:v>
                </c:pt>
                <c:pt idx="63">
                  <c:v>84.126984126984127</c:v>
                </c:pt>
                <c:pt idx="64">
                  <c:v>83.912483912483921</c:v>
                </c:pt>
                <c:pt idx="65">
                  <c:v>83.268983268983277</c:v>
                </c:pt>
                <c:pt idx="66">
                  <c:v>92.706992706992708</c:v>
                </c:pt>
                <c:pt idx="67">
                  <c:v>89.017589017589032</c:v>
                </c:pt>
                <c:pt idx="68">
                  <c:v>90.905190905190921</c:v>
                </c:pt>
                <c:pt idx="69">
                  <c:v>91.205491205491214</c:v>
                </c:pt>
                <c:pt idx="70">
                  <c:v>92.020592020592019</c:v>
                </c:pt>
                <c:pt idx="71">
                  <c:v>90.604890604890613</c:v>
                </c:pt>
                <c:pt idx="72">
                  <c:v>91.205491205491214</c:v>
                </c:pt>
                <c:pt idx="73">
                  <c:v>89.232089232089237</c:v>
                </c:pt>
                <c:pt idx="74">
                  <c:v>88.888888888888886</c:v>
                </c:pt>
                <c:pt idx="75">
                  <c:v>90.94809094809095</c:v>
                </c:pt>
                <c:pt idx="76">
                  <c:v>94.208494208494216</c:v>
                </c:pt>
                <c:pt idx="77">
                  <c:v>95.709995709995709</c:v>
                </c:pt>
                <c:pt idx="78">
                  <c:v>96.567996567996587</c:v>
                </c:pt>
                <c:pt idx="79">
                  <c:v>96.482196482196485</c:v>
                </c:pt>
                <c:pt idx="80">
                  <c:v>95.838695838695841</c:v>
                </c:pt>
                <c:pt idx="81">
                  <c:v>95.881595881595899</c:v>
                </c:pt>
                <c:pt idx="82">
                  <c:v>97.511797511797511</c:v>
                </c:pt>
                <c:pt idx="83">
                  <c:v>97.812097812097818</c:v>
                </c:pt>
                <c:pt idx="84">
                  <c:v>96.996996996996998</c:v>
                </c:pt>
                <c:pt idx="85">
                  <c:v>98.112398112398125</c:v>
                </c:pt>
                <c:pt idx="86">
                  <c:v>99.399399399399414</c:v>
                </c:pt>
                <c:pt idx="87">
                  <c:v>98.670098670098668</c:v>
                </c:pt>
                <c:pt idx="88">
                  <c:v>100.17160017160019</c:v>
                </c:pt>
                <c:pt idx="89">
                  <c:v>101.97340197340196</c:v>
                </c:pt>
                <c:pt idx="90">
                  <c:v>103.04590304590305</c:v>
                </c:pt>
                <c:pt idx="91">
                  <c:v>104.97640497640496</c:v>
                </c:pt>
                <c:pt idx="92">
                  <c:v>106.30630630630631</c:v>
                </c:pt>
                <c:pt idx="93">
                  <c:v>105.14800514800515</c:v>
                </c:pt>
                <c:pt idx="94">
                  <c:v>105.01930501930504</c:v>
                </c:pt>
                <c:pt idx="95">
                  <c:v>103.68940368940369</c:v>
                </c:pt>
                <c:pt idx="96">
                  <c:v>104.46160446160447</c:v>
                </c:pt>
                <c:pt idx="97">
                  <c:v>103.86100386100388</c:v>
                </c:pt>
                <c:pt idx="98">
                  <c:v>107.72200772200773</c:v>
                </c:pt>
                <c:pt idx="99">
                  <c:v>107.63620763620764</c:v>
                </c:pt>
                <c:pt idx="100">
                  <c:v>106.22050622050622</c:v>
                </c:pt>
                <c:pt idx="101">
                  <c:v>104.63320463320464</c:v>
                </c:pt>
                <c:pt idx="102">
                  <c:v>104.54740454740457</c:v>
                </c:pt>
                <c:pt idx="103">
                  <c:v>105.53410553410554</c:v>
                </c:pt>
                <c:pt idx="104">
                  <c:v>107.25010725010726</c:v>
                </c:pt>
                <c:pt idx="105">
                  <c:v>110.08151008151007</c:v>
                </c:pt>
                <c:pt idx="106">
                  <c:v>110.25311025311026</c:v>
                </c:pt>
                <c:pt idx="107">
                  <c:v>112.1836121836122</c:v>
                </c:pt>
                <c:pt idx="108">
                  <c:v>111.23981123981123</c:v>
                </c:pt>
                <c:pt idx="109">
                  <c:v>111.62591162591163</c:v>
                </c:pt>
                <c:pt idx="110">
                  <c:v>111.62591162591163</c:v>
                </c:pt>
                <c:pt idx="111">
                  <c:v>110.982410982411</c:v>
                </c:pt>
                <c:pt idx="112">
                  <c:v>115.05791505791507</c:v>
                </c:pt>
                <c:pt idx="113">
                  <c:v>111.96911196911199</c:v>
                </c:pt>
                <c:pt idx="114">
                  <c:v>114.07121407121407</c:v>
                </c:pt>
                <c:pt idx="115">
                  <c:v>115.14371514371516</c:v>
                </c:pt>
                <c:pt idx="116">
                  <c:v>117.67481767481769</c:v>
                </c:pt>
                <c:pt idx="117">
                  <c:v>118.96181896181896</c:v>
                </c:pt>
                <c:pt idx="118">
                  <c:v>118.48991848991849</c:v>
                </c:pt>
                <c:pt idx="119">
                  <c:v>122.43672243672243</c:v>
                </c:pt>
                <c:pt idx="120">
                  <c:v>123.29472329472328</c:v>
                </c:pt>
                <c:pt idx="121">
                  <c:v>123.29472329472328</c:v>
                </c:pt>
                <c:pt idx="122">
                  <c:v>122.65122265122265</c:v>
                </c:pt>
                <c:pt idx="123">
                  <c:v>124.79622479622481</c:v>
                </c:pt>
                <c:pt idx="124">
                  <c:v>126.42642642642643</c:v>
                </c:pt>
                <c:pt idx="125">
                  <c:v>127.06992706992708</c:v>
                </c:pt>
                <c:pt idx="126">
                  <c:v>128.57142857142858</c:v>
                </c:pt>
                <c:pt idx="127">
                  <c:v>128.39982839982841</c:v>
                </c:pt>
                <c:pt idx="128">
                  <c:v>129.3007293007293</c:v>
                </c:pt>
                <c:pt idx="129">
                  <c:v>127.54182754182754</c:v>
                </c:pt>
                <c:pt idx="130">
                  <c:v>129.00042900042899</c:v>
                </c:pt>
                <c:pt idx="131">
                  <c:v>129.21492921492924</c:v>
                </c:pt>
                <c:pt idx="132">
                  <c:v>130.71643071643072</c:v>
                </c:pt>
                <c:pt idx="133">
                  <c:v>135.006435006435</c:v>
                </c:pt>
                <c:pt idx="134">
                  <c:v>134.70613470613472</c:v>
                </c:pt>
                <c:pt idx="135">
                  <c:v>132.47533247533246</c:v>
                </c:pt>
                <c:pt idx="136">
                  <c:v>131.57443157443157</c:v>
                </c:pt>
                <c:pt idx="137">
                  <c:v>135.56413556413557</c:v>
                </c:pt>
                <c:pt idx="138">
                  <c:v>132.94723294723295</c:v>
                </c:pt>
                <c:pt idx="139">
                  <c:v>131.74603174603178</c:v>
                </c:pt>
                <c:pt idx="140">
                  <c:v>129.55812955812956</c:v>
                </c:pt>
                <c:pt idx="141">
                  <c:v>127.58472758472759</c:v>
                </c:pt>
                <c:pt idx="142">
                  <c:v>128.4856284856285</c:v>
                </c:pt>
                <c:pt idx="143">
                  <c:v>127.24152724152724</c:v>
                </c:pt>
                <c:pt idx="144">
                  <c:v>126.38352638352639</c:v>
                </c:pt>
                <c:pt idx="145">
                  <c:v>129.25782925782926</c:v>
                </c:pt>
                <c:pt idx="146">
                  <c:v>129.98712998713</c:v>
                </c:pt>
                <c:pt idx="147">
                  <c:v>132.99013299013299</c:v>
                </c:pt>
                <c:pt idx="148">
                  <c:v>129.6868296868297</c:v>
                </c:pt>
                <c:pt idx="149">
                  <c:v>129.3007293007293</c:v>
                </c:pt>
                <c:pt idx="150">
                  <c:v>129.08622908622908</c:v>
                </c:pt>
                <c:pt idx="151">
                  <c:v>131.05963105963107</c:v>
                </c:pt>
                <c:pt idx="152">
                  <c:v>132.77563277563277</c:v>
                </c:pt>
                <c:pt idx="153">
                  <c:v>131.61733161733162</c:v>
                </c:pt>
                <c:pt idx="154">
                  <c:v>131.61733161733162</c:v>
                </c:pt>
                <c:pt idx="155">
                  <c:v>132.26083226083225</c:v>
                </c:pt>
                <c:pt idx="156">
                  <c:v>127.79922779922781</c:v>
                </c:pt>
                <c:pt idx="157">
                  <c:v>127.45602745602747</c:v>
                </c:pt>
                <c:pt idx="158">
                  <c:v>127.92792792792793</c:v>
                </c:pt>
                <c:pt idx="159">
                  <c:v>132.04633204633205</c:v>
                </c:pt>
                <c:pt idx="160">
                  <c:v>132.81853281853282</c:v>
                </c:pt>
                <c:pt idx="161">
                  <c:v>141.57014157014157</c:v>
                </c:pt>
                <c:pt idx="162">
                  <c:v>144.40154440154441</c:v>
                </c:pt>
                <c:pt idx="163">
                  <c:v>144.44444444444446</c:v>
                </c:pt>
                <c:pt idx="164">
                  <c:v>145.38824538824539</c:v>
                </c:pt>
                <c:pt idx="165">
                  <c:v>144.78764478764478</c:v>
                </c:pt>
                <c:pt idx="166">
                  <c:v>141.44144144144144</c:v>
                </c:pt>
                <c:pt idx="167">
                  <c:v>142.38524238524241</c:v>
                </c:pt>
                <c:pt idx="168">
                  <c:v>143.58644358644358</c:v>
                </c:pt>
                <c:pt idx="169">
                  <c:v>149.37794937794939</c:v>
                </c:pt>
                <c:pt idx="170">
                  <c:v>148.34834834834837</c:v>
                </c:pt>
                <c:pt idx="171">
                  <c:v>144.78764478764478</c:v>
                </c:pt>
                <c:pt idx="172">
                  <c:v>147.4045474045474</c:v>
                </c:pt>
                <c:pt idx="173">
                  <c:v>147.19004719004721</c:v>
                </c:pt>
                <c:pt idx="174">
                  <c:v>149.80694980694983</c:v>
                </c:pt>
                <c:pt idx="175">
                  <c:v>147.49034749034752</c:v>
                </c:pt>
                <c:pt idx="176">
                  <c:v>148.991848991849</c:v>
                </c:pt>
                <c:pt idx="177">
                  <c:v>147.79064779064782</c:v>
                </c:pt>
                <c:pt idx="178">
                  <c:v>149.80694980694983</c:v>
                </c:pt>
                <c:pt idx="179">
                  <c:v>153.32475332475335</c:v>
                </c:pt>
                <c:pt idx="180">
                  <c:v>154.69755469755469</c:v>
                </c:pt>
                <c:pt idx="181">
                  <c:v>152.0806520806521</c:v>
                </c:pt>
                <c:pt idx="182">
                  <c:v>149.33504933504935</c:v>
                </c:pt>
                <c:pt idx="183">
                  <c:v>150.45045045045046</c:v>
                </c:pt>
                <c:pt idx="184">
                  <c:v>152.50965250965251</c:v>
                </c:pt>
                <c:pt idx="185">
                  <c:v>153.02445302445304</c:v>
                </c:pt>
                <c:pt idx="186">
                  <c:v>155.3839553839554</c:v>
                </c:pt>
                <c:pt idx="187">
                  <c:v>161.21836121836122</c:v>
                </c:pt>
                <c:pt idx="188">
                  <c:v>164.13556413556415</c:v>
                </c:pt>
                <c:pt idx="189">
                  <c:v>168.25396825396825</c:v>
                </c:pt>
                <c:pt idx="190">
                  <c:v>167.39596739596743</c:v>
                </c:pt>
                <c:pt idx="191">
                  <c:v>172.45817245817247</c:v>
                </c:pt>
                <c:pt idx="192">
                  <c:v>172.84427284427284</c:v>
                </c:pt>
                <c:pt idx="193">
                  <c:v>164.26426426426426</c:v>
                </c:pt>
                <c:pt idx="194">
                  <c:v>169.02616902616901</c:v>
                </c:pt>
                <c:pt idx="195">
                  <c:v>172.37237237237238</c:v>
                </c:pt>
                <c:pt idx="196">
                  <c:v>172.80137280137282</c:v>
                </c:pt>
                <c:pt idx="197">
                  <c:v>166.62376662376664</c:v>
                </c:pt>
                <c:pt idx="198">
                  <c:v>163.14886314886317</c:v>
                </c:pt>
                <c:pt idx="199">
                  <c:v>166.49506649506651</c:v>
                </c:pt>
                <c:pt idx="200">
                  <c:v>164.69326469326469</c:v>
                </c:pt>
                <c:pt idx="201">
                  <c:v>158.77305877305878</c:v>
                </c:pt>
                <c:pt idx="202">
                  <c:v>162.33376233376237</c:v>
                </c:pt>
                <c:pt idx="203">
                  <c:v>164.82196482196483</c:v>
                </c:pt>
                <c:pt idx="204">
                  <c:v>165.80866580866584</c:v>
                </c:pt>
                <c:pt idx="205">
                  <c:v>163.10596310596313</c:v>
                </c:pt>
                <c:pt idx="206">
                  <c:v>161.94766194766194</c:v>
                </c:pt>
                <c:pt idx="207">
                  <c:v>159.75975975975979</c:v>
                </c:pt>
                <c:pt idx="208">
                  <c:v>161.69026169026168</c:v>
                </c:pt>
                <c:pt idx="209">
                  <c:v>157.91505791505793</c:v>
                </c:pt>
                <c:pt idx="210">
                  <c:v>152.85285285285289</c:v>
                </c:pt>
                <c:pt idx="211">
                  <c:v>153.96825396825398</c:v>
                </c:pt>
                <c:pt idx="212">
                  <c:v>146.16044616044616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44C-4BF2-8978-3F9A1AD165CF}"/>
            </c:ext>
          </c:extLst>
        </c:ser>
        <c:ser>
          <c:idx val="1"/>
          <c:order val="1"/>
          <c:tx>
            <c:strRef>
              <c:f>'UFO 과거 데이터'!$C$1</c:f>
              <c:strCache>
                <c:ptCount val="1"/>
                <c:pt idx="0">
                  <c:v>ARKX</c:v>
                </c:pt>
              </c:strCache>
            </c:strRef>
          </c:tx>
          <c:spPr>
            <a:ln w="2222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cat>
            <c:numRef>
              <c:f>'UFO 과거 데이터'!$A$2:$A$214</c:f>
              <c:numCache>
                <c:formatCode>m/d/yyyy</c:formatCode>
                <c:ptCount val="213"/>
                <c:pt idx="0">
                  <c:v>45659</c:v>
                </c:pt>
                <c:pt idx="1">
                  <c:v>45660</c:v>
                </c:pt>
                <c:pt idx="2">
                  <c:v>45663</c:v>
                </c:pt>
                <c:pt idx="3">
                  <c:v>45664</c:v>
                </c:pt>
                <c:pt idx="4">
                  <c:v>45665</c:v>
                </c:pt>
                <c:pt idx="5">
                  <c:v>45667</c:v>
                </c:pt>
                <c:pt idx="6">
                  <c:v>45670</c:v>
                </c:pt>
                <c:pt idx="7">
                  <c:v>45671</c:v>
                </c:pt>
                <c:pt idx="8">
                  <c:v>45672</c:v>
                </c:pt>
                <c:pt idx="9">
                  <c:v>45673</c:v>
                </c:pt>
                <c:pt idx="10">
                  <c:v>45674</c:v>
                </c:pt>
                <c:pt idx="11">
                  <c:v>45678</c:v>
                </c:pt>
                <c:pt idx="12">
                  <c:v>45679</c:v>
                </c:pt>
                <c:pt idx="13">
                  <c:v>45680</c:v>
                </c:pt>
                <c:pt idx="14">
                  <c:v>45681</c:v>
                </c:pt>
                <c:pt idx="15">
                  <c:v>45684</c:v>
                </c:pt>
                <c:pt idx="16">
                  <c:v>45685</c:v>
                </c:pt>
                <c:pt idx="17">
                  <c:v>45686</c:v>
                </c:pt>
                <c:pt idx="18">
                  <c:v>45687</c:v>
                </c:pt>
                <c:pt idx="19">
                  <c:v>45688</c:v>
                </c:pt>
                <c:pt idx="20">
                  <c:v>45691</c:v>
                </c:pt>
                <c:pt idx="21">
                  <c:v>45692</c:v>
                </c:pt>
                <c:pt idx="22">
                  <c:v>45693</c:v>
                </c:pt>
                <c:pt idx="23">
                  <c:v>45694</c:v>
                </c:pt>
                <c:pt idx="24">
                  <c:v>45695</c:v>
                </c:pt>
                <c:pt idx="25">
                  <c:v>45698</c:v>
                </c:pt>
                <c:pt idx="26">
                  <c:v>45699</c:v>
                </c:pt>
                <c:pt idx="27">
                  <c:v>45700</c:v>
                </c:pt>
                <c:pt idx="28">
                  <c:v>45701</c:v>
                </c:pt>
                <c:pt idx="29">
                  <c:v>45702</c:v>
                </c:pt>
                <c:pt idx="30">
                  <c:v>45706</c:v>
                </c:pt>
                <c:pt idx="31">
                  <c:v>45707</c:v>
                </c:pt>
                <c:pt idx="32">
                  <c:v>45708</c:v>
                </c:pt>
                <c:pt idx="33">
                  <c:v>45709</c:v>
                </c:pt>
                <c:pt idx="34">
                  <c:v>45712</c:v>
                </c:pt>
                <c:pt idx="35">
                  <c:v>45713</c:v>
                </c:pt>
                <c:pt idx="36">
                  <c:v>45714</c:v>
                </c:pt>
                <c:pt idx="37">
                  <c:v>45715</c:v>
                </c:pt>
                <c:pt idx="38">
                  <c:v>45716</c:v>
                </c:pt>
                <c:pt idx="39">
                  <c:v>45719</c:v>
                </c:pt>
                <c:pt idx="40">
                  <c:v>45720</c:v>
                </c:pt>
                <c:pt idx="41">
                  <c:v>45721</c:v>
                </c:pt>
                <c:pt idx="42">
                  <c:v>45722</c:v>
                </c:pt>
                <c:pt idx="43">
                  <c:v>45723</c:v>
                </c:pt>
                <c:pt idx="44">
                  <c:v>45726</c:v>
                </c:pt>
                <c:pt idx="45">
                  <c:v>45727</c:v>
                </c:pt>
                <c:pt idx="46">
                  <c:v>45728</c:v>
                </c:pt>
                <c:pt idx="47">
                  <c:v>45729</c:v>
                </c:pt>
                <c:pt idx="48">
                  <c:v>45730</c:v>
                </c:pt>
                <c:pt idx="49">
                  <c:v>45733</c:v>
                </c:pt>
                <c:pt idx="50">
                  <c:v>45734</c:v>
                </c:pt>
                <c:pt idx="51">
                  <c:v>45735</c:v>
                </c:pt>
                <c:pt idx="52">
                  <c:v>45736</c:v>
                </c:pt>
                <c:pt idx="53">
                  <c:v>45737</c:v>
                </c:pt>
                <c:pt idx="54">
                  <c:v>45740</c:v>
                </c:pt>
                <c:pt idx="55">
                  <c:v>45741</c:v>
                </c:pt>
                <c:pt idx="56">
                  <c:v>45742</c:v>
                </c:pt>
                <c:pt idx="57">
                  <c:v>45743</c:v>
                </c:pt>
                <c:pt idx="58">
                  <c:v>45744</c:v>
                </c:pt>
                <c:pt idx="59">
                  <c:v>45747</c:v>
                </c:pt>
                <c:pt idx="60">
                  <c:v>45748</c:v>
                </c:pt>
                <c:pt idx="61">
                  <c:v>45749</c:v>
                </c:pt>
                <c:pt idx="62">
                  <c:v>45750</c:v>
                </c:pt>
                <c:pt idx="63">
                  <c:v>45751</c:v>
                </c:pt>
                <c:pt idx="64">
                  <c:v>45754</c:v>
                </c:pt>
                <c:pt idx="65">
                  <c:v>45755</c:v>
                </c:pt>
                <c:pt idx="66">
                  <c:v>45756</c:v>
                </c:pt>
                <c:pt idx="67">
                  <c:v>45757</c:v>
                </c:pt>
                <c:pt idx="68">
                  <c:v>45758</c:v>
                </c:pt>
                <c:pt idx="69">
                  <c:v>45761</c:v>
                </c:pt>
                <c:pt idx="70">
                  <c:v>45762</c:v>
                </c:pt>
                <c:pt idx="71">
                  <c:v>45763</c:v>
                </c:pt>
                <c:pt idx="72">
                  <c:v>45764</c:v>
                </c:pt>
                <c:pt idx="73">
                  <c:v>45768</c:v>
                </c:pt>
                <c:pt idx="74">
                  <c:v>45769</c:v>
                </c:pt>
                <c:pt idx="75">
                  <c:v>45770</c:v>
                </c:pt>
                <c:pt idx="76">
                  <c:v>45771</c:v>
                </c:pt>
                <c:pt idx="77">
                  <c:v>45772</c:v>
                </c:pt>
                <c:pt idx="78">
                  <c:v>45775</c:v>
                </c:pt>
                <c:pt idx="79">
                  <c:v>45776</c:v>
                </c:pt>
                <c:pt idx="80">
                  <c:v>45777</c:v>
                </c:pt>
                <c:pt idx="81">
                  <c:v>45778</c:v>
                </c:pt>
                <c:pt idx="82">
                  <c:v>45779</c:v>
                </c:pt>
                <c:pt idx="83">
                  <c:v>45782</c:v>
                </c:pt>
                <c:pt idx="84">
                  <c:v>45783</c:v>
                </c:pt>
                <c:pt idx="85">
                  <c:v>45784</c:v>
                </c:pt>
                <c:pt idx="86">
                  <c:v>45785</c:v>
                </c:pt>
                <c:pt idx="87">
                  <c:v>45786</c:v>
                </c:pt>
                <c:pt idx="88">
                  <c:v>45789</c:v>
                </c:pt>
                <c:pt idx="89">
                  <c:v>45790</c:v>
                </c:pt>
                <c:pt idx="90">
                  <c:v>45791</c:v>
                </c:pt>
                <c:pt idx="91">
                  <c:v>45792</c:v>
                </c:pt>
                <c:pt idx="92">
                  <c:v>45793</c:v>
                </c:pt>
                <c:pt idx="93">
                  <c:v>45796</c:v>
                </c:pt>
                <c:pt idx="94">
                  <c:v>45797</c:v>
                </c:pt>
                <c:pt idx="95">
                  <c:v>45798</c:v>
                </c:pt>
                <c:pt idx="96">
                  <c:v>45799</c:v>
                </c:pt>
                <c:pt idx="97">
                  <c:v>45800</c:v>
                </c:pt>
                <c:pt idx="98">
                  <c:v>45804</c:v>
                </c:pt>
                <c:pt idx="99">
                  <c:v>45805</c:v>
                </c:pt>
                <c:pt idx="100">
                  <c:v>45806</c:v>
                </c:pt>
                <c:pt idx="101">
                  <c:v>45807</c:v>
                </c:pt>
                <c:pt idx="102">
                  <c:v>45810</c:v>
                </c:pt>
                <c:pt idx="103">
                  <c:v>45811</c:v>
                </c:pt>
                <c:pt idx="104">
                  <c:v>45812</c:v>
                </c:pt>
                <c:pt idx="105">
                  <c:v>45813</c:v>
                </c:pt>
                <c:pt idx="106">
                  <c:v>45814</c:v>
                </c:pt>
                <c:pt idx="107">
                  <c:v>45817</c:v>
                </c:pt>
                <c:pt idx="108">
                  <c:v>45818</c:v>
                </c:pt>
                <c:pt idx="109">
                  <c:v>45819</c:v>
                </c:pt>
                <c:pt idx="110">
                  <c:v>45820</c:v>
                </c:pt>
                <c:pt idx="111">
                  <c:v>45821</c:v>
                </c:pt>
                <c:pt idx="112">
                  <c:v>45824</c:v>
                </c:pt>
                <c:pt idx="113">
                  <c:v>45825</c:v>
                </c:pt>
                <c:pt idx="114">
                  <c:v>45826</c:v>
                </c:pt>
                <c:pt idx="115">
                  <c:v>45828</c:v>
                </c:pt>
                <c:pt idx="116">
                  <c:v>45831</c:v>
                </c:pt>
                <c:pt idx="117">
                  <c:v>45832</c:v>
                </c:pt>
                <c:pt idx="118">
                  <c:v>45833</c:v>
                </c:pt>
                <c:pt idx="119">
                  <c:v>45834</c:v>
                </c:pt>
                <c:pt idx="120">
                  <c:v>45835</c:v>
                </c:pt>
                <c:pt idx="121">
                  <c:v>45838</c:v>
                </c:pt>
                <c:pt idx="122">
                  <c:v>45839</c:v>
                </c:pt>
                <c:pt idx="123">
                  <c:v>45840</c:v>
                </c:pt>
                <c:pt idx="124">
                  <c:v>45841</c:v>
                </c:pt>
                <c:pt idx="125">
                  <c:v>45845</c:v>
                </c:pt>
                <c:pt idx="126">
                  <c:v>45846</c:v>
                </c:pt>
                <c:pt idx="127">
                  <c:v>45847</c:v>
                </c:pt>
                <c:pt idx="128">
                  <c:v>45848</c:v>
                </c:pt>
                <c:pt idx="129">
                  <c:v>45849</c:v>
                </c:pt>
                <c:pt idx="130">
                  <c:v>45852</c:v>
                </c:pt>
                <c:pt idx="131">
                  <c:v>45853</c:v>
                </c:pt>
                <c:pt idx="132">
                  <c:v>45854</c:v>
                </c:pt>
                <c:pt idx="133">
                  <c:v>45855</c:v>
                </c:pt>
                <c:pt idx="134">
                  <c:v>45856</c:v>
                </c:pt>
                <c:pt idx="135">
                  <c:v>45859</c:v>
                </c:pt>
                <c:pt idx="136">
                  <c:v>45860</c:v>
                </c:pt>
                <c:pt idx="137">
                  <c:v>45861</c:v>
                </c:pt>
                <c:pt idx="138">
                  <c:v>45862</c:v>
                </c:pt>
                <c:pt idx="139">
                  <c:v>45863</c:v>
                </c:pt>
                <c:pt idx="140">
                  <c:v>45866</c:v>
                </c:pt>
                <c:pt idx="141">
                  <c:v>45867</c:v>
                </c:pt>
                <c:pt idx="142">
                  <c:v>45868</c:v>
                </c:pt>
                <c:pt idx="143">
                  <c:v>45869</c:v>
                </c:pt>
                <c:pt idx="144">
                  <c:v>45870</c:v>
                </c:pt>
                <c:pt idx="145">
                  <c:v>45873</c:v>
                </c:pt>
                <c:pt idx="146">
                  <c:v>45874</c:v>
                </c:pt>
                <c:pt idx="147">
                  <c:v>45875</c:v>
                </c:pt>
                <c:pt idx="148">
                  <c:v>45876</c:v>
                </c:pt>
                <c:pt idx="149">
                  <c:v>45877</c:v>
                </c:pt>
                <c:pt idx="150">
                  <c:v>45880</c:v>
                </c:pt>
                <c:pt idx="151">
                  <c:v>45881</c:v>
                </c:pt>
                <c:pt idx="152">
                  <c:v>45882</c:v>
                </c:pt>
                <c:pt idx="153">
                  <c:v>45883</c:v>
                </c:pt>
                <c:pt idx="154">
                  <c:v>45884</c:v>
                </c:pt>
                <c:pt idx="155">
                  <c:v>45887</c:v>
                </c:pt>
                <c:pt idx="156">
                  <c:v>45888</c:v>
                </c:pt>
                <c:pt idx="157">
                  <c:v>45889</c:v>
                </c:pt>
                <c:pt idx="158">
                  <c:v>45890</c:v>
                </c:pt>
                <c:pt idx="159">
                  <c:v>45891</c:v>
                </c:pt>
                <c:pt idx="160">
                  <c:v>45894</c:v>
                </c:pt>
                <c:pt idx="161">
                  <c:v>45895</c:v>
                </c:pt>
                <c:pt idx="162">
                  <c:v>45896</c:v>
                </c:pt>
                <c:pt idx="163">
                  <c:v>45897</c:v>
                </c:pt>
                <c:pt idx="164">
                  <c:v>45898</c:v>
                </c:pt>
                <c:pt idx="165">
                  <c:v>45902</c:v>
                </c:pt>
                <c:pt idx="166">
                  <c:v>45903</c:v>
                </c:pt>
                <c:pt idx="167">
                  <c:v>45904</c:v>
                </c:pt>
                <c:pt idx="168">
                  <c:v>45905</c:v>
                </c:pt>
                <c:pt idx="169">
                  <c:v>45908</c:v>
                </c:pt>
                <c:pt idx="170">
                  <c:v>45909</c:v>
                </c:pt>
                <c:pt idx="171">
                  <c:v>45910</c:v>
                </c:pt>
                <c:pt idx="172">
                  <c:v>45911</c:v>
                </c:pt>
                <c:pt idx="173">
                  <c:v>45912</c:v>
                </c:pt>
                <c:pt idx="174">
                  <c:v>45915</c:v>
                </c:pt>
                <c:pt idx="175">
                  <c:v>45916</c:v>
                </c:pt>
                <c:pt idx="176">
                  <c:v>45917</c:v>
                </c:pt>
                <c:pt idx="177">
                  <c:v>45918</c:v>
                </c:pt>
                <c:pt idx="178">
                  <c:v>45919</c:v>
                </c:pt>
                <c:pt idx="179">
                  <c:v>45922</c:v>
                </c:pt>
                <c:pt idx="180">
                  <c:v>45923</c:v>
                </c:pt>
                <c:pt idx="181">
                  <c:v>45924</c:v>
                </c:pt>
                <c:pt idx="182">
                  <c:v>45925</c:v>
                </c:pt>
                <c:pt idx="183">
                  <c:v>45926</c:v>
                </c:pt>
                <c:pt idx="184">
                  <c:v>45929</c:v>
                </c:pt>
                <c:pt idx="185">
                  <c:v>45930</c:v>
                </c:pt>
                <c:pt idx="186">
                  <c:v>45931</c:v>
                </c:pt>
                <c:pt idx="187">
                  <c:v>45932</c:v>
                </c:pt>
                <c:pt idx="188">
                  <c:v>45933</c:v>
                </c:pt>
                <c:pt idx="189">
                  <c:v>45936</c:v>
                </c:pt>
                <c:pt idx="190">
                  <c:v>45937</c:v>
                </c:pt>
                <c:pt idx="191">
                  <c:v>45938</c:v>
                </c:pt>
                <c:pt idx="192">
                  <c:v>45939</c:v>
                </c:pt>
                <c:pt idx="193">
                  <c:v>45940</c:v>
                </c:pt>
                <c:pt idx="194">
                  <c:v>45943</c:v>
                </c:pt>
                <c:pt idx="195">
                  <c:v>45944</c:v>
                </c:pt>
                <c:pt idx="196">
                  <c:v>45945</c:v>
                </c:pt>
                <c:pt idx="197">
                  <c:v>45946</c:v>
                </c:pt>
                <c:pt idx="198">
                  <c:v>45947</c:v>
                </c:pt>
                <c:pt idx="199">
                  <c:v>45950</c:v>
                </c:pt>
                <c:pt idx="200">
                  <c:v>45951</c:v>
                </c:pt>
                <c:pt idx="201">
                  <c:v>45952</c:v>
                </c:pt>
                <c:pt idx="202">
                  <c:v>45953</c:v>
                </c:pt>
                <c:pt idx="203">
                  <c:v>45954</c:v>
                </c:pt>
                <c:pt idx="204">
                  <c:v>45957</c:v>
                </c:pt>
                <c:pt idx="205">
                  <c:v>45958</c:v>
                </c:pt>
                <c:pt idx="206">
                  <c:v>45959</c:v>
                </c:pt>
                <c:pt idx="207">
                  <c:v>45960</c:v>
                </c:pt>
                <c:pt idx="208">
                  <c:v>45961</c:v>
                </c:pt>
                <c:pt idx="209">
                  <c:v>45964</c:v>
                </c:pt>
                <c:pt idx="210">
                  <c:v>45965</c:v>
                </c:pt>
                <c:pt idx="211">
                  <c:v>45966</c:v>
                </c:pt>
                <c:pt idx="212">
                  <c:v>45967</c:v>
                </c:pt>
              </c:numCache>
            </c:numRef>
          </c:cat>
          <c:val>
            <c:numRef>
              <c:f>'UFO 과거 데이터'!$C$2:$C$214</c:f>
              <c:numCache>
                <c:formatCode>General</c:formatCode>
                <c:ptCount val="213"/>
                <c:pt idx="0">
                  <c:v>100</c:v>
                </c:pt>
                <c:pt idx="1">
                  <c:v>105.81574884199692</c:v>
                </c:pt>
                <c:pt idx="2">
                  <c:v>107.25681935151827</c:v>
                </c:pt>
                <c:pt idx="3">
                  <c:v>105.55841482243953</c:v>
                </c:pt>
                <c:pt idx="4">
                  <c:v>103.6026762738034</c:v>
                </c:pt>
                <c:pt idx="5">
                  <c:v>100.92640247040659</c:v>
                </c:pt>
                <c:pt idx="6">
                  <c:v>98.816263510036023</c:v>
                </c:pt>
                <c:pt idx="7">
                  <c:v>100.25733401955739</c:v>
                </c:pt>
                <c:pt idx="8">
                  <c:v>102.52187339166238</c:v>
                </c:pt>
                <c:pt idx="9">
                  <c:v>103.19094184251159</c:v>
                </c:pt>
                <c:pt idx="10">
                  <c:v>103.70560988162634</c:v>
                </c:pt>
                <c:pt idx="11">
                  <c:v>109.57282552753473</c:v>
                </c:pt>
                <c:pt idx="12">
                  <c:v>109.21255790015441</c:v>
                </c:pt>
                <c:pt idx="13">
                  <c:v>110.08749356664951</c:v>
                </c:pt>
                <c:pt idx="14">
                  <c:v>110.5506948018528</c:v>
                </c:pt>
                <c:pt idx="15">
                  <c:v>107.10241893978383</c:v>
                </c:pt>
                <c:pt idx="16">
                  <c:v>107.72002058672156</c:v>
                </c:pt>
                <c:pt idx="17">
                  <c:v>106.38188368502317</c:v>
                </c:pt>
                <c:pt idx="18">
                  <c:v>106.58775090066908</c:v>
                </c:pt>
                <c:pt idx="19">
                  <c:v>107.35975295934122</c:v>
                </c:pt>
                <c:pt idx="20">
                  <c:v>105.50694801852805</c:v>
                </c:pt>
                <c:pt idx="21">
                  <c:v>108.74935666495111</c:v>
                </c:pt>
                <c:pt idx="22">
                  <c:v>108.23468862583634</c:v>
                </c:pt>
                <c:pt idx="23">
                  <c:v>107.30828615542976</c:v>
                </c:pt>
                <c:pt idx="24">
                  <c:v>106.38188368502317</c:v>
                </c:pt>
                <c:pt idx="25">
                  <c:v>109.21255790015441</c:v>
                </c:pt>
                <c:pt idx="26">
                  <c:v>106.38188368502317</c:v>
                </c:pt>
                <c:pt idx="27">
                  <c:v>105.71281523417395</c:v>
                </c:pt>
                <c:pt idx="28">
                  <c:v>106.9480185280494</c:v>
                </c:pt>
                <c:pt idx="29">
                  <c:v>107.20535254760679</c:v>
                </c:pt>
                <c:pt idx="30">
                  <c:v>108.69788986103963</c:v>
                </c:pt>
                <c:pt idx="31">
                  <c:v>106.84508492022647</c:v>
                </c:pt>
                <c:pt idx="32">
                  <c:v>105.4040144107051</c:v>
                </c:pt>
                <c:pt idx="33">
                  <c:v>101.59547092125578</c:v>
                </c:pt>
                <c:pt idx="34">
                  <c:v>99.176531137416362</c:v>
                </c:pt>
                <c:pt idx="35">
                  <c:v>97.58106021616058</c:v>
                </c:pt>
                <c:pt idx="36">
                  <c:v>99.279464745239324</c:v>
                </c:pt>
                <c:pt idx="37">
                  <c:v>97.735460627894994</c:v>
                </c:pt>
                <c:pt idx="38">
                  <c:v>98.610396294390128</c:v>
                </c:pt>
                <c:pt idx="39">
                  <c:v>96.139989706639213</c:v>
                </c:pt>
                <c:pt idx="40">
                  <c:v>96.088522902727746</c:v>
                </c:pt>
                <c:pt idx="41">
                  <c:v>99.073597529593414</c:v>
                </c:pt>
                <c:pt idx="42">
                  <c:v>95.985589294904784</c:v>
                </c:pt>
                <c:pt idx="43">
                  <c:v>96.603190941842513</c:v>
                </c:pt>
                <c:pt idx="44">
                  <c:v>93.206381883685026</c:v>
                </c:pt>
                <c:pt idx="45">
                  <c:v>92.228512609366959</c:v>
                </c:pt>
                <c:pt idx="46">
                  <c:v>93.103448275862064</c:v>
                </c:pt>
                <c:pt idx="47">
                  <c:v>91.610910962429244</c:v>
                </c:pt>
                <c:pt idx="48">
                  <c:v>95.059186824498198</c:v>
                </c:pt>
                <c:pt idx="49">
                  <c:v>96.654657745753994</c:v>
                </c:pt>
                <c:pt idx="50">
                  <c:v>95.213587236232627</c:v>
                </c:pt>
                <c:pt idx="51">
                  <c:v>96.654657745753994</c:v>
                </c:pt>
                <c:pt idx="52">
                  <c:v>95.882655687081837</c:v>
                </c:pt>
                <c:pt idx="53">
                  <c:v>96.037056098816265</c:v>
                </c:pt>
                <c:pt idx="54">
                  <c:v>98.816263510036023</c:v>
                </c:pt>
                <c:pt idx="55">
                  <c:v>99.433865156973752</c:v>
                </c:pt>
                <c:pt idx="56">
                  <c:v>97.220792588780242</c:v>
                </c:pt>
                <c:pt idx="57">
                  <c:v>95.522388059701484</c:v>
                </c:pt>
                <c:pt idx="58">
                  <c:v>92.537313432835816</c:v>
                </c:pt>
                <c:pt idx="59">
                  <c:v>91.302110138960373</c:v>
                </c:pt>
                <c:pt idx="60">
                  <c:v>91.456510550694802</c:v>
                </c:pt>
                <c:pt idx="61">
                  <c:v>93.412249099330921</c:v>
                </c:pt>
                <c:pt idx="62">
                  <c:v>88.419969119917653</c:v>
                </c:pt>
                <c:pt idx="63">
                  <c:v>82.655687081832212</c:v>
                </c:pt>
                <c:pt idx="64">
                  <c:v>82.964487905301084</c:v>
                </c:pt>
                <c:pt idx="65">
                  <c:v>82.398353062274836</c:v>
                </c:pt>
                <c:pt idx="66">
                  <c:v>92.382913021101388</c:v>
                </c:pt>
                <c:pt idx="67">
                  <c:v>89.449305198147187</c:v>
                </c:pt>
                <c:pt idx="68">
                  <c:v>91.044776119402997</c:v>
                </c:pt>
                <c:pt idx="69">
                  <c:v>91.662377766340711</c:v>
                </c:pt>
                <c:pt idx="70">
                  <c:v>92.27997941327844</c:v>
                </c:pt>
                <c:pt idx="71">
                  <c:v>90.581574884199696</c:v>
                </c:pt>
                <c:pt idx="72">
                  <c:v>90.735975295934125</c:v>
                </c:pt>
                <c:pt idx="73">
                  <c:v>88.368502316006186</c:v>
                </c:pt>
                <c:pt idx="74">
                  <c:v>89.294904786412772</c:v>
                </c:pt>
                <c:pt idx="75">
                  <c:v>91.610910962429244</c:v>
                </c:pt>
                <c:pt idx="76">
                  <c:v>94.49305198147195</c:v>
                </c:pt>
                <c:pt idx="77">
                  <c:v>95.110653628409679</c:v>
                </c:pt>
                <c:pt idx="78">
                  <c:v>96.037056098816265</c:v>
                </c:pt>
                <c:pt idx="79">
                  <c:v>96.963458569222851</c:v>
                </c:pt>
                <c:pt idx="80">
                  <c:v>95.522388059701484</c:v>
                </c:pt>
                <c:pt idx="81">
                  <c:v>96.757591353576942</c:v>
                </c:pt>
                <c:pt idx="82">
                  <c:v>100.20586721564591</c:v>
                </c:pt>
                <c:pt idx="83">
                  <c:v>99.279464745239324</c:v>
                </c:pt>
                <c:pt idx="84">
                  <c:v>97.992794647452385</c:v>
                </c:pt>
                <c:pt idx="85">
                  <c:v>98.816263510036023</c:v>
                </c:pt>
                <c:pt idx="86">
                  <c:v>100.30880082346884</c:v>
                </c:pt>
                <c:pt idx="87">
                  <c:v>99.330931549150804</c:v>
                </c:pt>
                <c:pt idx="88">
                  <c:v>101.80133813690171</c:v>
                </c:pt>
                <c:pt idx="89">
                  <c:v>104.27174472465262</c:v>
                </c:pt>
                <c:pt idx="90">
                  <c:v>105.24961399897066</c:v>
                </c:pt>
                <c:pt idx="91">
                  <c:v>106.0730828615543</c:v>
                </c:pt>
                <c:pt idx="92">
                  <c:v>108.13175501801339</c:v>
                </c:pt>
                <c:pt idx="93">
                  <c:v>105.91868244981985</c:v>
                </c:pt>
                <c:pt idx="94">
                  <c:v>106.89655172413792</c:v>
                </c:pt>
                <c:pt idx="95">
                  <c:v>104.37467833247555</c:v>
                </c:pt>
                <c:pt idx="96">
                  <c:v>104.88934637159034</c:v>
                </c:pt>
                <c:pt idx="97">
                  <c:v>104.42614513638703</c:v>
                </c:pt>
                <c:pt idx="98">
                  <c:v>109.05815748841998</c:v>
                </c:pt>
                <c:pt idx="99">
                  <c:v>109.16109109624293</c:v>
                </c:pt>
                <c:pt idx="100">
                  <c:v>107.66855378281011</c:v>
                </c:pt>
                <c:pt idx="101">
                  <c:v>107.41121976325272</c:v>
                </c:pt>
                <c:pt idx="102">
                  <c:v>107.41121976325272</c:v>
                </c:pt>
                <c:pt idx="103">
                  <c:v>108.85229027277406</c:v>
                </c:pt>
                <c:pt idx="104">
                  <c:v>109.05815748841998</c:v>
                </c:pt>
                <c:pt idx="105">
                  <c:v>107.92588780236747</c:v>
                </c:pt>
                <c:pt idx="106">
                  <c:v>111.88883170355119</c:v>
                </c:pt>
                <c:pt idx="107">
                  <c:v>115.02830674215132</c:v>
                </c:pt>
                <c:pt idx="108">
                  <c:v>113.53576942871848</c:v>
                </c:pt>
                <c:pt idx="109">
                  <c:v>114.97683993823983</c:v>
                </c:pt>
                <c:pt idx="110">
                  <c:v>113.63870303654141</c:v>
                </c:pt>
                <c:pt idx="111">
                  <c:v>111.58003088008235</c:v>
                </c:pt>
                <c:pt idx="112">
                  <c:v>113.58723623262996</c:v>
                </c:pt>
                <c:pt idx="113">
                  <c:v>112.6093669583119</c:v>
                </c:pt>
                <c:pt idx="114">
                  <c:v>113.0725681935152</c:v>
                </c:pt>
                <c:pt idx="115">
                  <c:v>113.17550180133813</c:v>
                </c:pt>
                <c:pt idx="116">
                  <c:v>115.13124034997429</c:v>
                </c:pt>
                <c:pt idx="117">
                  <c:v>115.74884199691198</c:v>
                </c:pt>
                <c:pt idx="118">
                  <c:v>116.98404529078745</c:v>
                </c:pt>
                <c:pt idx="119">
                  <c:v>121.46165723108595</c:v>
                </c:pt>
                <c:pt idx="120">
                  <c:v>122.69686052496141</c:v>
                </c:pt>
                <c:pt idx="121">
                  <c:v>124.34379825012867</c:v>
                </c:pt>
                <c:pt idx="122">
                  <c:v>120.38085434894495</c:v>
                </c:pt>
                <c:pt idx="123">
                  <c:v>121.56459083890891</c:v>
                </c:pt>
                <c:pt idx="124">
                  <c:v>123.16006176016469</c:v>
                </c:pt>
                <c:pt idx="125">
                  <c:v>123.88059701492537</c:v>
                </c:pt>
                <c:pt idx="126">
                  <c:v>124.29233144621719</c:v>
                </c:pt>
                <c:pt idx="127">
                  <c:v>125.06433350488935</c:v>
                </c:pt>
                <c:pt idx="128">
                  <c:v>126.96860524961401</c:v>
                </c:pt>
                <c:pt idx="129">
                  <c:v>128.51260936695829</c:v>
                </c:pt>
                <c:pt idx="130">
                  <c:v>131.1888831703551</c:v>
                </c:pt>
                <c:pt idx="131">
                  <c:v>131.65208440555841</c:v>
                </c:pt>
                <c:pt idx="132">
                  <c:v>136.02676273803397</c:v>
                </c:pt>
                <c:pt idx="133">
                  <c:v>141.22490993309316</c:v>
                </c:pt>
                <c:pt idx="134">
                  <c:v>141.01904271744726</c:v>
                </c:pt>
                <c:pt idx="135">
                  <c:v>138.13690169840453</c:v>
                </c:pt>
                <c:pt idx="136">
                  <c:v>135.61502830674218</c:v>
                </c:pt>
                <c:pt idx="137">
                  <c:v>139.88677303139474</c:v>
                </c:pt>
                <c:pt idx="138">
                  <c:v>136.18116314976839</c:v>
                </c:pt>
                <c:pt idx="139">
                  <c:v>137.31343283582089</c:v>
                </c:pt>
                <c:pt idx="140">
                  <c:v>135.61502830674218</c:v>
                </c:pt>
                <c:pt idx="141">
                  <c:v>133.14462171899126</c:v>
                </c:pt>
                <c:pt idx="142">
                  <c:v>134.79155944415854</c:v>
                </c:pt>
                <c:pt idx="143">
                  <c:v>134.37982501286669</c:v>
                </c:pt>
                <c:pt idx="144">
                  <c:v>131.49768399382401</c:v>
                </c:pt>
                <c:pt idx="145">
                  <c:v>136.48996397323728</c:v>
                </c:pt>
                <c:pt idx="146">
                  <c:v>136.79876479670611</c:v>
                </c:pt>
                <c:pt idx="147">
                  <c:v>135.40916109109625</c:v>
                </c:pt>
                <c:pt idx="148">
                  <c:v>134.74009264024704</c:v>
                </c:pt>
                <c:pt idx="149">
                  <c:v>135.82089552238807</c:v>
                </c:pt>
                <c:pt idx="150">
                  <c:v>135.56356150283065</c:v>
                </c:pt>
                <c:pt idx="151">
                  <c:v>138.70303654143078</c:v>
                </c:pt>
                <c:pt idx="152">
                  <c:v>139.26917138445702</c:v>
                </c:pt>
                <c:pt idx="153">
                  <c:v>137.62223365928975</c:v>
                </c:pt>
                <c:pt idx="154">
                  <c:v>136.79876479670611</c:v>
                </c:pt>
                <c:pt idx="155">
                  <c:v>136.74729799279467</c:v>
                </c:pt>
                <c:pt idx="156">
                  <c:v>131.44621718991249</c:v>
                </c:pt>
                <c:pt idx="157">
                  <c:v>131.0344827586207</c:v>
                </c:pt>
                <c:pt idx="158">
                  <c:v>131.49768399382401</c:v>
                </c:pt>
                <c:pt idx="159">
                  <c:v>135.0488934637159</c:v>
                </c:pt>
                <c:pt idx="160">
                  <c:v>134.99742665980443</c:v>
                </c:pt>
                <c:pt idx="161">
                  <c:v>136.64436438497171</c:v>
                </c:pt>
                <c:pt idx="162">
                  <c:v>135.82089552238807</c:v>
                </c:pt>
                <c:pt idx="163">
                  <c:v>136.69583118888318</c:v>
                </c:pt>
                <c:pt idx="164">
                  <c:v>134.79155944415854</c:v>
                </c:pt>
                <c:pt idx="165">
                  <c:v>133.81369016984047</c:v>
                </c:pt>
                <c:pt idx="166">
                  <c:v>131.60061760164695</c:v>
                </c:pt>
                <c:pt idx="167">
                  <c:v>131.60061760164695</c:v>
                </c:pt>
                <c:pt idx="168">
                  <c:v>132.37261966031909</c:v>
                </c:pt>
                <c:pt idx="169">
                  <c:v>132.52702007205352</c:v>
                </c:pt>
                <c:pt idx="170">
                  <c:v>131.1888831703551</c:v>
                </c:pt>
                <c:pt idx="171">
                  <c:v>131.75501801338137</c:v>
                </c:pt>
                <c:pt idx="172">
                  <c:v>133.76222336592897</c:v>
                </c:pt>
                <c:pt idx="173">
                  <c:v>135.30622748327329</c:v>
                </c:pt>
                <c:pt idx="174">
                  <c:v>137.36489963973239</c:v>
                </c:pt>
                <c:pt idx="175">
                  <c:v>137.72516726711274</c:v>
                </c:pt>
                <c:pt idx="176">
                  <c:v>137.21049922799796</c:v>
                </c:pt>
                <c:pt idx="177">
                  <c:v>140.81317550180134</c:v>
                </c:pt>
                <c:pt idx="178">
                  <c:v>141.79104477611941</c:v>
                </c:pt>
                <c:pt idx="179">
                  <c:v>144.0555841482244</c:v>
                </c:pt>
                <c:pt idx="180">
                  <c:v>145.95985589294904</c:v>
                </c:pt>
                <c:pt idx="181">
                  <c:v>142.66598044261451</c:v>
                </c:pt>
                <c:pt idx="182">
                  <c:v>142.35717961914565</c:v>
                </c:pt>
                <c:pt idx="183">
                  <c:v>143.38651569737519</c:v>
                </c:pt>
                <c:pt idx="184">
                  <c:v>144.82758620689654</c:v>
                </c:pt>
                <c:pt idx="185">
                  <c:v>146.9377251672671</c:v>
                </c:pt>
                <c:pt idx="186">
                  <c:v>148.68759650025734</c:v>
                </c:pt>
                <c:pt idx="187">
                  <c:v>153.16520844055586</c:v>
                </c:pt>
                <c:pt idx="188">
                  <c:v>155.73854863612971</c:v>
                </c:pt>
                <c:pt idx="189">
                  <c:v>161.86309830159547</c:v>
                </c:pt>
                <c:pt idx="190">
                  <c:v>161.29696345856922</c:v>
                </c:pt>
                <c:pt idx="191">
                  <c:v>164.33350488934636</c:v>
                </c:pt>
                <c:pt idx="192">
                  <c:v>162.73803396809058</c:v>
                </c:pt>
                <c:pt idx="193">
                  <c:v>155.9444158517756</c:v>
                </c:pt>
                <c:pt idx="194">
                  <c:v>159.59855892949048</c:v>
                </c:pt>
                <c:pt idx="195">
                  <c:v>161.39989706639219</c:v>
                </c:pt>
                <c:pt idx="196">
                  <c:v>160.42202779207412</c:v>
                </c:pt>
                <c:pt idx="197">
                  <c:v>156.97375193000516</c:v>
                </c:pt>
                <c:pt idx="198">
                  <c:v>153.67987647967061</c:v>
                </c:pt>
                <c:pt idx="199">
                  <c:v>158.10602161605766</c:v>
                </c:pt>
                <c:pt idx="200">
                  <c:v>158.15748841996913</c:v>
                </c:pt>
                <c:pt idx="201">
                  <c:v>152.95934122490993</c:v>
                </c:pt>
                <c:pt idx="202">
                  <c:v>156.20174987133299</c:v>
                </c:pt>
                <c:pt idx="203">
                  <c:v>158.82655687081834</c:v>
                </c:pt>
                <c:pt idx="204">
                  <c:v>159.8044261451364</c:v>
                </c:pt>
                <c:pt idx="205">
                  <c:v>158.00308800823467</c:v>
                </c:pt>
                <c:pt idx="206">
                  <c:v>161.50283067421515</c:v>
                </c:pt>
                <c:pt idx="207">
                  <c:v>158.20895522388059</c:v>
                </c:pt>
                <c:pt idx="208">
                  <c:v>161.39989706639219</c:v>
                </c:pt>
                <c:pt idx="209">
                  <c:v>160.37056098816265</c:v>
                </c:pt>
                <c:pt idx="210">
                  <c:v>154.70921255790014</c:v>
                </c:pt>
                <c:pt idx="211">
                  <c:v>153.0622748327329</c:v>
                </c:pt>
                <c:pt idx="212">
                  <c:v>146.21718991250643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44C-4BF2-8978-3F9A1AD165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85761040"/>
        <c:axId val="685761520"/>
      </c:lineChart>
      <c:dateAx>
        <c:axId val="685761040"/>
        <c:scaling>
          <c:orientation val="minMax"/>
        </c:scaling>
        <c:delete val="0"/>
        <c:axPos val="b"/>
        <c:numFmt formatCode="[$-409]mmm&quot;-&quot;yy;@" sourceLinked="0"/>
        <c:majorTickMark val="in"/>
        <c:minorTickMark val="none"/>
        <c:tickLblPos val="nextTo"/>
        <c:spPr>
          <a:noFill/>
          <a:ln w="31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endParaRPr lang="ko-KR"/>
          </a:p>
        </c:txPr>
        <c:crossAx val="685761520"/>
        <c:crosses val="autoZero"/>
        <c:auto val="1"/>
        <c:lblOffset val="100"/>
        <c:baseTimeUnit val="days"/>
        <c:majorUnit val="2"/>
        <c:majorTimeUnit val="months"/>
      </c:dateAx>
      <c:valAx>
        <c:axId val="685761520"/>
        <c:scaling>
          <c:orientation val="minMax"/>
          <c:max val="180"/>
          <c:min val="60"/>
        </c:scaling>
        <c:delete val="0"/>
        <c:axPos val="l"/>
        <c:numFmt formatCode="General" sourceLinked="1"/>
        <c:majorTickMark val="in"/>
        <c:minorTickMark val="none"/>
        <c:tickLblPos val="nextTo"/>
        <c:spPr>
          <a:noFill/>
          <a:ln w="3175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endParaRPr lang="ko-KR"/>
          </a:p>
        </c:txPr>
        <c:crossAx val="685761040"/>
        <c:crosses val="autoZero"/>
        <c:crossBetween val="between"/>
        <c:majorUnit val="60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sz="800">
          <a:solidFill>
            <a:schemeClr val="tx1"/>
          </a:solidFill>
          <a:latin typeface="KoPubWorld돋움체 Medium" panose="00000600000000000000" pitchFamily="2" charset="-127"/>
          <a:ea typeface="KoPubWorld돋움체 Medium" panose="00000600000000000000" pitchFamily="2" charset="-127"/>
          <a:cs typeface="KoPubWorld돋움체 Medium" panose="00000600000000000000" pitchFamily="2" charset="-127"/>
        </a:defRPr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0007651109410864"/>
          <c:y val="9.7321449969244203E-2"/>
          <c:w val="0.85784238714613614"/>
          <c:h val="0.76580718986800511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203864"/>
            </a:solidFill>
            <a:ln>
              <a:noFill/>
            </a:ln>
            <a:effectLst/>
          </c:spPr>
          <c:invertIfNegative val="1"/>
          <c:cat>
            <c:strRef>
              <c:f>Sheet4!$H$2:$H$26</c:f>
              <c:strCache>
                <c:ptCount val="25"/>
                <c:pt idx="0">
                  <c:v>'00</c:v>
                </c:pt>
                <c:pt idx="1">
                  <c:v>'01</c:v>
                </c:pt>
                <c:pt idx="2">
                  <c:v>'02</c:v>
                </c:pt>
                <c:pt idx="3">
                  <c:v>'03</c:v>
                </c:pt>
                <c:pt idx="4">
                  <c:v>'04</c:v>
                </c:pt>
                <c:pt idx="5">
                  <c:v>'05</c:v>
                </c:pt>
                <c:pt idx="6">
                  <c:v>'06</c:v>
                </c:pt>
                <c:pt idx="7">
                  <c:v>'07</c:v>
                </c:pt>
                <c:pt idx="8">
                  <c:v>'08</c:v>
                </c:pt>
                <c:pt idx="9">
                  <c:v>'09</c:v>
                </c:pt>
                <c:pt idx="10">
                  <c:v>'10</c:v>
                </c:pt>
                <c:pt idx="11">
                  <c:v>'11</c:v>
                </c:pt>
                <c:pt idx="12">
                  <c:v>'12</c:v>
                </c:pt>
                <c:pt idx="13">
                  <c:v>'13</c:v>
                </c:pt>
                <c:pt idx="14">
                  <c:v>'14</c:v>
                </c:pt>
                <c:pt idx="15">
                  <c:v>'15</c:v>
                </c:pt>
                <c:pt idx="16">
                  <c:v>'16</c:v>
                </c:pt>
                <c:pt idx="17">
                  <c:v>'17</c:v>
                </c:pt>
                <c:pt idx="18">
                  <c:v>'18</c:v>
                </c:pt>
                <c:pt idx="19">
                  <c:v>'19</c:v>
                </c:pt>
                <c:pt idx="20">
                  <c:v>'20</c:v>
                </c:pt>
                <c:pt idx="21">
                  <c:v>'21</c:v>
                </c:pt>
                <c:pt idx="22">
                  <c:v>'22</c:v>
                </c:pt>
                <c:pt idx="23">
                  <c:v>'23</c:v>
                </c:pt>
                <c:pt idx="24">
                  <c:v>'24</c:v>
                </c:pt>
              </c:strCache>
            </c:strRef>
          </c:cat>
          <c:val>
            <c:numRef>
              <c:f>Sheet4!$I$2:$I$26</c:f>
              <c:numCache>
                <c:formatCode>#,##0</c:formatCode>
                <c:ptCount val="25"/>
                <c:pt idx="0">
                  <c:v>78</c:v>
                </c:pt>
                <c:pt idx="1">
                  <c:v>55</c:v>
                </c:pt>
                <c:pt idx="2">
                  <c:v>60</c:v>
                </c:pt>
                <c:pt idx="3">
                  <c:v>55</c:v>
                </c:pt>
                <c:pt idx="4">
                  <c:v>50</c:v>
                </c:pt>
                <c:pt idx="5">
                  <c:v>47</c:v>
                </c:pt>
                <c:pt idx="6">
                  <c:v>56</c:v>
                </c:pt>
                <c:pt idx="7">
                  <c:v>64</c:v>
                </c:pt>
                <c:pt idx="8">
                  <c:v>60</c:v>
                </c:pt>
                <c:pt idx="9">
                  <c:v>74</c:v>
                </c:pt>
                <c:pt idx="10">
                  <c:v>70</c:v>
                </c:pt>
                <c:pt idx="11">
                  <c:v>79</c:v>
                </c:pt>
                <c:pt idx="12">
                  <c:v>71</c:v>
                </c:pt>
                <c:pt idx="13">
                  <c:v>77</c:v>
                </c:pt>
                <c:pt idx="14">
                  <c:v>89</c:v>
                </c:pt>
                <c:pt idx="15">
                  <c:v>82</c:v>
                </c:pt>
                <c:pt idx="16">
                  <c:v>82</c:v>
                </c:pt>
                <c:pt idx="17">
                  <c:v>86</c:v>
                </c:pt>
                <c:pt idx="18">
                  <c:v>112</c:v>
                </c:pt>
                <c:pt idx="19">
                  <c:v>95</c:v>
                </c:pt>
                <c:pt idx="20">
                  <c:v>103</c:v>
                </c:pt>
                <c:pt idx="21">
                  <c:v>132</c:v>
                </c:pt>
                <c:pt idx="22">
                  <c:v>174</c:v>
                </c:pt>
                <c:pt idx="23">
                  <c:v>233</c:v>
                </c:pt>
                <c:pt idx="24">
                  <c:v>273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  <a:effectLst/>
                </c14:spPr>
              </c14:invertSolidFillFmt>
            </c:ext>
            <c:ext xmlns:c16="http://schemas.microsoft.com/office/drawing/2014/chart" uri="{C3380CC4-5D6E-409C-BE32-E72D297353CC}">
              <c16:uniqueId val="{00000000-6815-4981-A07E-75A5E4F0C0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45933616"/>
        <c:axId val="1645932656"/>
      </c:barChart>
      <c:catAx>
        <c:axId val="1645933616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extTo"/>
        <c:spPr>
          <a:noFill/>
          <a:ln w="31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endParaRPr lang="ko-KR"/>
          </a:p>
        </c:txPr>
        <c:crossAx val="1645932656"/>
        <c:crosses val="autoZero"/>
        <c:auto val="1"/>
        <c:lblAlgn val="ctr"/>
        <c:lblOffset val="100"/>
        <c:noMultiLvlLbl val="0"/>
      </c:catAx>
      <c:valAx>
        <c:axId val="1645932656"/>
        <c:scaling>
          <c:orientation val="minMax"/>
        </c:scaling>
        <c:delete val="0"/>
        <c:axPos val="l"/>
        <c:numFmt formatCode="#,##0" sourceLinked="1"/>
        <c:majorTickMark val="in"/>
        <c:minorTickMark val="none"/>
        <c:tickLblPos val="nextTo"/>
        <c:spPr>
          <a:noFill/>
          <a:ln w="3175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endParaRPr lang="ko-KR"/>
          </a:p>
        </c:txPr>
        <c:crossAx val="1645933616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700">
          <a:solidFill>
            <a:schemeClr val="tx1"/>
          </a:solidFill>
          <a:latin typeface="KoPubWorld돋움체 Medium" panose="00000600000000000000" pitchFamily="2" charset="-127"/>
          <a:ea typeface="KoPubWorld돋움체 Medium" panose="00000600000000000000" pitchFamily="2" charset="-127"/>
          <a:cs typeface="KoPubWorld돋움체 Medium" panose="00000600000000000000" pitchFamily="2" charset="-127"/>
        </a:defRPr>
      </a:pPr>
      <a:endParaRPr lang="ko-KR"/>
    </a:p>
  </c:txPr>
  <c:externalData r:id="rId4">
    <c:autoUpdate val="0"/>
  </c:externalData>
  <c:userShapes r:id="rId5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8658242956477847"/>
          <c:y val="0.19345617447146135"/>
          <c:w val="0.44289235564965779"/>
          <c:h val="0.79926845266567925"/>
        </c:manualLayout>
      </c:layout>
      <c:pieChart>
        <c:varyColors val="1"/>
        <c:ser>
          <c:idx val="0"/>
          <c:order val="0"/>
          <c:tx>
            <c:strRef>
              <c:f>Sheet4!$I$31</c:f>
              <c:strCache>
                <c:ptCount val="1"/>
                <c:pt idx="0">
                  <c:v>발사횟수</c:v>
                </c:pt>
              </c:strCache>
            </c:strRef>
          </c:tx>
          <c:dPt>
            <c:idx val="0"/>
            <c:bubble3D val="0"/>
            <c:explosion val="1"/>
            <c:spPr>
              <a:solidFill>
                <a:srgbClr val="20386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894-44BD-B016-962139C3F223}"/>
              </c:ext>
            </c:extLst>
          </c:dPt>
          <c:dPt>
            <c:idx val="1"/>
            <c:bubble3D val="0"/>
            <c:spPr>
              <a:solidFill>
                <a:srgbClr val="D0CEC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894-44BD-B016-962139C3F223}"/>
              </c:ext>
            </c:extLst>
          </c:dPt>
          <c:dPt>
            <c:idx val="2"/>
            <c:bubble3D val="0"/>
            <c:spPr>
              <a:solidFill>
                <a:srgbClr val="2F5597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894-44BD-B016-962139C3F223}"/>
              </c:ext>
            </c:extLst>
          </c:dPt>
          <c:dPt>
            <c:idx val="3"/>
            <c:bubble3D val="0"/>
            <c:spPr>
              <a:solidFill>
                <a:srgbClr val="8FAAD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894-44BD-B016-962139C3F223}"/>
              </c:ext>
            </c:extLst>
          </c:dPt>
          <c:dPt>
            <c:idx val="4"/>
            <c:bubble3D val="0"/>
            <c:spPr>
              <a:solidFill>
                <a:srgbClr val="B4C7E7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2894-44BD-B016-962139C3F223}"/>
              </c:ext>
            </c:extLst>
          </c:dPt>
          <c:dPt>
            <c:idx val="5"/>
            <c:bubble3D val="0"/>
            <c:spPr>
              <a:solidFill>
                <a:srgbClr val="E7E6E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2894-44BD-B016-962139C3F223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700" b="0" i="0" u="none" strike="noStrike" kern="1200" baseline="0">
                      <a:solidFill>
                        <a:schemeClr val="bg1"/>
                      </a:solidFill>
                      <a:latin typeface="KoPubWorld돋움체 Medium" panose="00000600000000000000" pitchFamily="2" charset="-127"/>
                      <a:ea typeface="KoPubWorld돋움체 Medium" panose="00000600000000000000" pitchFamily="2" charset="-127"/>
                      <a:cs typeface="KoPubWorld돋움체 Medium" panose="00000600000000000000" pitchFamily="2" charset="-127"/>
                    </a:defRPr>
                  </a:pPr>
                  <a:endParaRPr lang="ko-KR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2894-44BD-B016-962139C3F223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700" b="0" i="0" u="none" strike="noStrike" kern="1200" baseline="0">
                      <a:solidFill>
                        <a:schemeClr val="bg1"/>
                      </a:solidFill>
                      <a:latin typeface="KoPubWorld돋움체 Medium" panose="00000600000000000000" pitchFamily="2" charset="-127"/>
                      <a:ea typeface="KoPubWorld돋움체 Medium" panose="00000600000000000000" pitchFamily="2" charset="-127"/>
                      <a:cs typeface="KoPubWorld돋움체 Medium" panose="00000600000000000000" pitchFamily="2" charset="-127"/>
                    </a:defRPr>
                  </a:pPr>
                  <a:endParaRPr lang="ko-KR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2894-44BD-B016-962139C3F223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894-44BD-B016-962139C3F223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894-44BD-B016-962139C3F223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894-44BD-B016-962139C3F22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>
                    <a:solidFill>
                      <a:schemeClr val="tx1"/>
                    </a:solidFill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defRPr>
                </a:pPr>
                <a:endParaRPr lang="ko-KR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Sheet4!$H$32:$H$37</c:f>
              <c:strCache>
                <c:ptCount val="6"/>
                <c:pt idx="0">
                  <c:v>미국</c:v>
                </c:pt>
                <c:pt idx="1">
                  <c:v>중국</c:v>
                </c:pt>
                <c:pt idx="2">
                  <c:v>러시아</c:v>
                </c:pt>
                <c:pt idx="3">
                  <c:v>일본</c:v>
                </c:pt>
                <c:pt idx="4">
                  <c:v>인도</c:v>
                </c:pt>
                <c:pt idx="5">
                  <c:v>그 외</c:v>
                </c:pt>
              </c:strCache>
            </c:strRef>
          </c:cat>
          <c:val>
            <c:numRef>
              <c:f>Sheet4!$I$32:$I$37</c:f>
              <c:numCache>
                <c:formatCode>General</c:formatCode>
                <c:ptCount val="6"/>
                <c:pt idx="0">
                  <c:v>154</c:v>
                </c:pt>
                <c:pt idx="1">
                  <c:v>68</c:v>
                </c:pt>
                <c:pt idx="2">
                  <c:v>17</c:v>
                </c:pt>
                <c:pt idx="3">
                  <c:v>7</c:v>
                </c:pt>
                <c:pt idx="4">
                  <c:v>5</c:v>
                </c:pt>
                <c:pt idx="5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2894-44BD-B016-962139C3F2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defRPr>
          </a:pPr>
          <a:endParaRPr lang="ko-K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700">
          <a:solidFill>
            <a:schemeClr val="tx1"/>
          </a:solidFill>
          <a:latin typeface="KoPubWorld돋움체 Medium" panose="00000600000000000000" pitchFamily="2" charset="-127"/>
          <a:ea typeface="KoPubWorld돋움체 Medium" panose="00000600000000000000" pitchFamily="2" charset="-127"/>
          <a:cs typeface="KoPubWorld돋움체 Medium" panose="00000600000000000000" pitchFamily="2" charset="-127"/>
        </a:defRPr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Sheet2!$L$2</c:f>
              <c:strCache>
                <c:ptCount val="1"/>
                <c:pt idx="0">
                  <c:v>발사 횟수(좌)</c:v>
                </c:pt>
              </c:strCache>
            </c:strRef>
          </c:tx>
          <c:spPr>
            <a:solidFill>
              <a:srgbClr val="203864"/>
            </a:solidFill>
            <a:ln>
              <a:noFill/>
            </a:ln>
            <a:effectLst/>
          </c:spPr>
          <c:invertIfNegative val="0"/>
          <c:cat>
            <c:strRef>
              <c:f>Sheet2!$K$3:$K$11</c:f>
              <c:strCache>
                <c:ptCount val="8"/>
                <c:pt idx="0">
                  <c:v> '18</c:v>
                </c:pt>
                <c:pt idx="1">
                  <c:v> '19</c:v>
                </c:pt>
                <c:pt idx="2">
                  <c:v> '20</c:v>
                </c:pt>
                <c:pt idx="3">
                  <c:v> '21</c:v>
                </c:pt>
                <c:pt idx="4">
                  <c:v> '22</c:v>
                </c:pt>
                <c:pt idx="5">
                  <c:v> '23</c:v>
                </c:pt>
                <c:pt idx="6">
                  <c:v> '24</c:v>
                </c:pt>
                <c:pt idx="7">
                  <c:v> '25</c:v>
                </c:pt>
              </c:strCache>
            </c:strRef>
          </c:cat>
          <c:val>
            <c:numRef>
              <c:f>Sheet2!$L$3:$L$11</c:f>
              <c:numCache>
                <c:formatCode>General</c:formatCode>
                <c:ptCount val="8"/>
                <c:pt idx="0">
                  <c:v>20</c:v>
                </c:pt>
                <c:pt idx="1">
                  <c:v>11</c:v>
                </c:pt>
                <c:pt idx="2">
                  <c:v>25</c:v>
                </c:pt>
                <c:pt idx="3">
                  <c:v>31</c:v>
                </c:pt>
                <c:pt idx="4">
                  <c:v>61</c:v>
                </c:pt>
                <c:pt idx="5">
                  <c:v>91</c:v>
                </c:pt>
                <c:pt idx="6">
                  <c:v>132</c:v>
                </c:pt>
                <c:pt idx="7">
                  <c:v>122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280-4989-A08E-E0261BDA8F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73283056"/>
        <c:axId val="2073283536"/>
      </c:barChart>
      <c:lineChart>
        <c:grouping val="standard"/>
        <c:varyColors val="0"/>
        <c:ser>
          <c:idx val="1"/>
          <c:order val="1"/>
          <c:tx>
            <c:strRef>
              <c:f>Sheet2!$M$2</c:f>
              <c:strCache>
                <c:ptCount val="1"/>
                <c:pt idx="0">
                  <c:v>점유율(우)</c:v>
                </c:pt>
              </c:strCache>
            </c:strRef>
          </c:tx>
          <c:spPr>
            <a:ln w="28575" cap="rnd">
              <a:solidFill>
                <a:srgbClr val="D0CECE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D0CECE"/>
              </a:solidFill>
              <a:ln w="9525">
                <a:noFill/>
              </a:ln>
              <a:effectLst/>
            </c:spPr>
          </c:marker>
          <c:cat>
            <c:strRef>
              <c:f>Sheet2!$K$3:$K$11</c:f>
              <c:strCache>
                <c:ptCount val="8"/>
                <c:pt idx="0">
                  <c:v> '18</c:v>
                </c:pt>
                <c:pt idx="1">
                  <c:v> '19</c:v>
                </c:pt>
                <c:pt idx="2">
                  <c:v> '20</c:v>
                </c:pt>
                <c:pt idx="3">
                  <c:v> '21</c:v>
                </c:pt>
                <c:pt idx="4">
                  <c:v> '22</c:v>
                </c:pt>
                <c:pt idx="5">
                  <c:v> '23</c:v>
                </c:pt>
                <c:pt idx="6">
                  <c:v> '24</c:v>
                </c:pt>
                <c:pt idx="7">
                  <c:v> '25</c:v>
                </c:pt>
              </c:strCache>
            </c:strRef>
          </c:cat>
          <c:val>
            <c:numRef>
              <c:f>Sheet2!$M$3:$M$11</c:f>
              <c:numCache>
                <c:formatCode>0%</c:formatCode>
                <c:ptCount val="8"/>
                <c:pt idx="0">
                  <c:v>0.18</c:v>
                </c:pt>
                <c:pt idx="1">
                  <c:v>0.09</c:v>
                </c:pt>
                <c:pt idx="2">
                  <c:v>0.24</c:v>
                </c:pt>
                <c:pt idx="3">
                  <c:v>0.2</c:v>
                </c:pt>
                <c:pt idx="4">
                  <c:v>0.31</c:v>
                </c:pt>
                <c:pt idx="5">
                  <c:v>0.38</c:v>
                </c:pt>
                <c:pt idx="6">
                  <c:v>0.49</c:v>
                </c:pt>
                <c:pt idx="7">
                  <c:v>0.53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280-4989-A08E-E0261BDA8F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73276336"/>
        <c:axId val="2073285936"/>
      </c:lineChart>
      <c:catAx>
        <c:axId val="2073283056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extTo"/>
        <c:spPr>
          <a:noFill/>
          <a:ln w="31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endParaRPr lang="ko-KR"/>
          </a:p>
        </c:txPr>
        <c:crossAx val="2073283536"/>
        <c:crosses val="autoZero"/>
        <c:auto val="1"/>
        <c:lblAlgn val="ctr"/>
        <c:lblOffset val="100"/>
        <c:noMultiLvlLbl val="0"/>
      </c:catAx>
      <c:valAx>
        <c:axId val="2073283536"/>
        <c:scaling>
          <c:orientation val="minMax"/>
        </c:scaling>
        <c:delete val="0"/>
        <c:axPos val="l"/>
        <c:numFmt formatCode="General" sourceLinked="1"/>
        <c:majorTickMark val="in"/>
        <c:minorTickMark val="none"/>
        <c:tickLblPos val="nextTo"/>
        <c:spPr>
          <a:noFill/>
          <a:ln w="3175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endParaRPr lang="ko-KR"/>
          </a:p>
        </c:txPr>
        <c:crossAx val="2073283056"/>
        <c:crosses val="autoZero"/>
        <c:crossBetween val="between"/>
      </c:valAx>
      <c:valAx>
        <c:axId val="2073285936"/>
        <c:scaling>
          <c:orientation val="minMax"/>
        </c:scaling>
        <c:delete val="0"/>
        <c:axPos val="r"/>
        <c:numFmt formatCode="0%" sourceLinked="1"/>
        <c:majorTickMark val="in"/>
        <c:minorTickMark val="none"/>
        <c:tickLblPos val="nextTo"/>
        <c:spPr>
          <a:noFill/>
          <a:ln w="3175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endParaRPr lang="ko-KR"/>
          </a:p>
        </c:txPr>
        <c:crossAx val="2073276336"/>
        <c:crosses val="max"/>
        <c:crossBetween val="between"/>
      </c:valAx>
      <c:catAx>
        <c:axId val="207327633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7328593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3175" cap="flat" cmpd="sng" algn="ctr">
      <a:noFill/>
      <a:round/>
    </a:ln>
    <a:effectLst/>
  </c:spPr>
  <c:txPr>
    <a:bodyPr/>
    <a:lstStyle/>
    <a:p>
      <a:pPr>
        <a:defRPr sz="700">
          <a:solidFill>
            <a:schemeClr val="tx1"/>
          </a:solidFill>
          <a:latin typeface="KoPubWorld돋움체 Medium" panose="00000600000000000000" pitchFamily="2" charset="-127"/>
          <a:ea typeface="KoPubWorld돋움체 Medium" panose="00000600000000000000" pitchFamily="2" charset="-127"/>
          <a:cs typeface="KoPubWorld돋움체 Medium" panose="00000600000000000000" pitchFamily="2" charset="-127"/>
        </a:defRPr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971073613944001"/>
          <c:y val="0.22167298212147446"/>
          <c:w val="0.82095308733543482"/>
          <c:h val="0.63230990135449661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Sheet3!$I$3</c:f>
              <c:strCache>
                <c:ptCount val="1"/>
                <c:pt idx="0">
                  <c:v>팰컨9</c:v>
                </c:pt>
              </c:strCache>
            </c:strRef>
          </c:tx>
          <c:spPr>
            <a:solidFill>
              <a:srgbClr val="203864"/>
            </a:solidFill>
            <a:ln>
              <a:noFill/>
            </a:ln>
            <a:effectLst/>
          </c:spPr>
          <c:invertIfNegative val="0"/>
          <c:dLbls>
            <c:dLbl>
              <c:idx val="14"/>
              <c:layout>
                <c:manualLayout>
                  <c:x val="4.8964317991680675E-2"/>
                  <c:y val="-0.2666225189593236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700" b="0" i="0" u="none" strike="noStrike" kern="1200" baseline="0">
                        <a:solidFill>
                          <a:srgbClr val="C00000"/>
                        </a:solidFill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defRPr>
                    </a:pPr>
                    <a:r>
                      <a:rPr lang="en-US" altLang="ko-KR" sz="700">
                        <a:solidFill>
                          <a:srgbClr val="C00000"/>
                        </a:solidFill>
                        <a:latin typeface="KoPubWorld돋움체 Bold" panose="00000800000000000000" pitchFamily="2" charset="-127"/>
                        <a:ea typeface="KoPubWorld돋움체 Bold" panose="00000800000000000000" pitchFamily="2" charset="-127"/>
                        <a:cs typeface="KoPubWorld돋움체 Bold" panose="00000800000000000000" pitchFamily="2" charset="-127"/>
                      </a:rPr>
                      <a:t>83%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rgbClr val="C00000"/>
                      </a:solidFill>
                      <a:latin typeface="KoPubWorld돋움체 Bold" panose="00000800000000000000" pitchFamily="2" charset="-127"/>
                      <a:ea typeface="KoPubWorld돋움체 Bold" panose="00000800000000000000" pitchFamily="2" charset="-127"/>
                      <a:cs typeface="KoPubWorld돋움체 Bold" panose="00000800000000000000" pitchFamily="2" charset="-127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5474039692748407E-2"/>
                      <c:h val="7.9065174456879522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0-6FB6-4291-A048-1FB3D69A795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rgbClr val="C00000"/>
                    </a:solidFill>
                    <a:latin typeface="KoPubWorld돋움체 Bold" panose="00000800000000000000" pitchFamily="2" charset="-127"/>
                    <a:ea typeface="KoPubWorld돋움체 Bold" panose="00000800000000000000" pitchFamily="2" charset="-127"/>
                    <a:cs typeface="KoPubWorld돋움체 Bold" panose="00000800000000000000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Sheet3!$H$4:$H$18</c:f>
              <c:strCache>
                <c:ptCount val="15"/>
                <c:pt idx="0">
                  <c:v>'10</c:v>
                </c:pt>
                <c:pt idx="1">
                  <c:v>'11</c:v>
                </c:pt>
                <c:pt idx="2">
                  <c:v>'12</c:v>
                </c:pt>
                <c:pt idx="3">
                  <c:v>'13</c:v>
                </c:pt>
                <c:pt idx="4">
                  <c:v>'14</c:v>
                </c:pt>
                <c:pt idx="5">
                  <c:v>'15</c:v>
                </c:pt>
                <c:pt idx="6">
                  <c:v>'16</c:v>
                </c:pt>
                <c:pt idx="7">
                  <c:v>'17</c:v>
                </c:pt>
                <c:pt idx="8">
                  <c:v>'18</c:v>
                </c:pt>
                <c:pt idx="9">
                  <c:v>'19</c:v>
                </c:pt>
                <c:pt idx="10">
                  <c:v>'20</c:v>
                </c:pt>
                <c:pt idx="11">
                  <c:v>'21</c:v>
                </c:pt>
                <c:pt idx="12">
                  <c:v>'22</c:v>
                </c:pt>
                <c:pt idx="13">
                  <c:v>'23</c:v>
                </c:pt>
                <c:pt idx="14">
                  <c:v>'24</c:v>
                </c:pt>
              </c:strCache>
            </c:strRef>
          </c:cat>
          <c:val>
            <c:numRef>
              <c:f>Sheet3!$I$4:$I$18</c:f>
              <c:numCache>
                <c:formatCode>General</c:formatCode>
                <c:ptCount val="15"/>
                <c:pt idx="0">
                  <c:v>8</c:v>
                </c:pt>
                <c:pt idx="1">
                  <c:v>0</c:v>
                </c:pt>
                <c:pt idx="2">
                  <c:v>6</c:v>
                </c:pt>
                <c:pt idx="3">
                  <c:v>10</c:v>
                </c:pt>
                <c:pt idx="4">
                  <c:v>14</c:v>
                </c:pt>
                <c:pt idx="5">
                  <c:v>18</c:v>
                </c:pt>
                <c:pt idx="6">
                  <c:v>22</c:v>
                </c:pt>
                <c:pt idx="7">
                  <c:v>40</c:v>
                </c:pt>
                <c:pt idx="8">
                  <c:v>42</c:v>
                </c:pt>
                <c:pt idx="9">
                  <c:v>30</c:v>
                </c:pt>
                <c:pt idx="10">
                  <c:v>53</c:v>
                </c:pt>
                <c:pt idx="11">
                  <c:v>52</c:v>
                </c:pt>
                <c:pt idx="12">
                  <c:v>67</c:v>
                </c:pt>
                <c:pt idx="13">
                  <c:v>79</c:v>
                </c:pt>
                <c:pt idx="14">
                  <c:v>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FB6-4291-A048-1FB3D69A795B}"/>
            </c:ext>
          </c:extLst>
        </c:ser>
        <c:ser>
          <c:idx val="1"/>
          <c:order val="1"/>
          <c:tx>
            <c:strRef>
              <c:f>Sheet3!$J$3</c:f>
              <c:strCache>
                <c:ptCount val="1"/>
                <c:pt idx="0">
                  <c:v>소유즈</c:v>
                </c:pt>
              </c:strCache>
            </c:strRef>
          </c:tx>
          <c:spPr>
            <a:solidFill>
              <a:srgbClr val="D0CECE"/>
            </a:solidFill>
            <a:ln>
              <a:noFill/>
            </a:ln>
            <a:effectLst/>
          </c:spPr>
          <c:invertIfNegative val="0"/>
          <c:cat>
            <c:strRef>
              <c:f>Sheet3!$H$4:$H$18</c:f>
              <c:strCache>
                <c:ptCount val="15"/>
                <c:pt idx="0">
                  <c:v>'10</c:v>
                </c:pt>
                <c:pt idx="1">
                  <c:v>'11</c:v>
                </c:pt>
                <c:pt idx="2">
                  <c:v>'12</c:v>
                </c:pt>
                <c:pt idx="3">
                  <c:v>'13</c:v>
                </c:pt>
                <c:pt idx="4">
                  <c:v>'14</c:v>
                </c:pt>
                <c:pt idx="5">
                  <c:v>'15</c:v>
                </c:pt>
                <c:pt idx="6">
                  <c:v>'16</c:v>
                </c:pt>
                <c:pt idx="7">
                  <c:v>'17</c:v>
                </c:pt>
                <c:pt idx="8">
                  <c:v>'18</c:v>
                </c:pt>
                <c:pt idx="9">
                  <c:v>'19</c:v>
                </c:pt>
                <c:pt idx="10">
                  <c:v>'20</c:v>
                </c:pt>
                <c:pt idx="11">
                  <c:v>'21</c:v>
                </c:pt>
                <c:pt idx="12">
                  <c:v>'22</c:v>
                </c:pt>
                <c:pt idx="13">
                  <c:v>'23</c:v>
                </c:pt>
                <c:pt idx="14">
                  <c:v>'24</c:v>
                </c:pt>
              </c:strCache>
            </c:strRef>
          </c:cat>
          <c:val>
            <c:numRef>
              <c:f>Sheet3!$J$4:$J$18</c:f>
              <c:numCache>
                <c:formatCode>General</c:formatCode>
                <c:ptCount val="15"/>
                <c:pt idx="0">
                  <c:v>50</c:v>
                </c:pt>
                <c:pt idx="1">
                  <c:v>65</c:v>
                </c:pt>
                <c:pt idx="2">
                  <c:v>50</c:v>
                </c:pt>
                <c:pt idx="3">
                  <c:v>50</c:v>
                </c:pt>
                <c:pt idx="4">
                  <c:v>50</c:v>
                </c:pt>
                <c:pt idx="5">
                  <c:v>44</c:v>
                </c:pt>
                <c:pt idx="6">
                  <c:v>38</c:v>
                </c:pt>
                <c:pt idx="7">
                  <c:v>35</c:v>
                </c:pt>
                <c:pt idx="8">
                  <c:v>35</c:v>
                </c:pt>
                <c:pt idx="9">
                  <c:v>52</c:v>
                </c:pt>
                <c:pt idx="10">
                  <c:v>30</c:v>
                </c:pt>
                <c:pt idx="11">
                  <c:v>37</c:v>
                </c:pt>
                <c:pt idx="12">
                  <c:v>23</c:v>
                </c:pt>
                <c:pt idx="13">
                  <c:v>15</c:v>
                </c:pt>
                <c:pt idx="14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FB6-4291-A048-1FB3D69A795B}"/>
            </c:ext>
          </c:extLst>
        </c:ser>
        <c:ser>
          <c:idx val="2"/>
          <c:order val="2"/>
          <c:tx>
            <c:strRef>
              <c:f>Sheet3!$K$3</c:f>
              <c:strCache>
                <c:ptCount val="1"/>
                <c:pt idx="0">
                  <c:v>아리안5</c:v>
                </c:pt>
              </c:strCache>
            </c:strRef>
          </c:tx>
          <c:spPr>
            <a:solidFill>
              <a:srgbClr val="2F5597"/>
            </a:solidFill>
            <a:ln>
              <a:noFill/>
            </a:ln>
            <a:effectLst/>
          </c:spPr>
          <c:invertIfNegative val="0"/>
          <c:cat>
            <c:strRef>
              <c:f>Sheet3!$H$4:$H$18</c:f>
              <c:strCache>
                <c:ptCount val="15"/>
                <c:pt idx="0">
                  <c:v>'10</c:v>
                </c:pt>
                <c:pt idx="1">
                  <c:v>'11</c:v>
                </c:pt>
                <c:pt idx="2">
                  <c:v>'12</c:v>
                </c:pt>
                <c:pt idx="3">
                  <c:v>'13</c:v>
                </c:pt>
                <c:pt idx="4">
                  <c:v>'14</c:v>
                </c:pt>
                <c:pt idx="5">
                  <c:v>'15</c:v>
                </c:pt>
                <c:pt idx="6">
                  <c:v>'16</c:v>
                </c:pt>
                <c:pt idx="7">
                  <c:v>'17</c:v>
                </c:pt>
                <c:pt idx="8">
                  <c:v>'18</c:v>
                </c:pt>
                <c:pt idx="9">
                  <c:v>'19</c:v>
                </c:pt>
                <c:pt idx="10">
                  <c:v>'20</c:v>
                </c:pt>
                <c:pt idx="11">
                  <c:v>'21</c:v>
                </c:pt>
                <c:pt idx="12">
                  <c:v>'22</c:v>
                </c:pt>
                <c:pt idx="13">
                  <c:v>'23</c:v>
                </c:pt>
                <c:pt idx="14">
                  <c:v>'24</c:v>
                </c:pt>
              </c:strCache>
            </c:strRef>
          </c:cat>
          <c:val>
            <c:numRef>
              <c:f>Sheet3!$K$4:$K$18</c:f>
              <c:numCache>
                <c:formatCode>General</c:formatCode>
                <c:ptCount val="15"/>
                <c:pt idx="0">
                  <c:v>25</c:v>
                </c:pt>
                <c:pt idx="1">
                  <c:v>18</c:v>
                </c:pt>
                <c:pt idx="2">
                  <c:v>20</c:v>
                </c:pt>
                <c:pt idx="3">
                  <c:v>15</c:v>
                </c:pt>
                <c:pt idx="4">
                  <c:v>18</c:v>
                </c:pt>
                <c:pt idx="5">
                  <c:v>18</c:v>
                </c:pt>
                <c:pt idx="6">
                  <c:v>20</c:v>
                </c:pt>
                <c:pt idx="7">
                  <c:v>15</c:v>
                </c:pt>
                <c:pt idx="8">
                  <c:v>10</c:v>
                </c:pt>
                <c:pt idx="9">
                  <c:v>8</c:v>
                </c:pt>
                <c:pt idx="10">
                  <c:v>8</c:v>
                </c:pt>
                <c:pt idx="11">
                  <c:v>7</c:v>
                </c:pt>
                <c:pt idx="12">
                  <c:v>5</c:v>
                </c:pt>
                <c:pt idx="13">
                  <c:v>3</c:v>
                </c:pt>
                <c:pt idx="1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FB6-4291-A048-1FB3D69A795B}"/>
            </c:ext>
          </c:extLst>
        </c:ser>
        <c:ser>
          <c:idx val="3"/>
          <c:order val="3"/>
          <c:tx>
            <c:strRef>
              <c:f>Sheet3!$L$3</c:f>
              <c:strCache>
                <c:ptCount val="1"/>
                <c:pt idx="0">
                  <c:v>아틀라스V</c:v>
                </c:pt>
              </c:strCache>
            </c:strRef>
          </c:tx>
          <c:spPr>
            <a:solidFill>
              <a:srgbClr val="8FAADC"/>
            </a:solidFill>
            <a:ln>
              <a:noFill/>
            </a:ln>
            <a:effectLst/>
          </c:spPr>
          <c:invertIfNegative val="0"/>
          <c:cat>
            <c:strRef>
              <c:f>Sheet3!$H$4:$H$18</c:f>
              <c:strCache>
                <c:ptCount val="15"/>
                <c:pt idx="0">
                  <c:v>'10</c:v>
                </c:pt>
                <c:pt idx="1">
                  <c:v>'11</c:v>
                </c:pt>
                <c:pt idx="2">
                  <c:v>'12</c:v>
                </c:pt>
                <c:pt idx="3">
                  <c:v>'13</c:v>
                </c:pt>
                <c:pt idx="4">
                  <c:v>'14</c:v>
                </c:pt>
                <c:pt idx="5">
                  <c:v>'15</c:v>
                </c:pt>
                <c:pt idx="6">
                  <c:v>'16</c:v>
                </c:pt>
                <c:pt idx="7">
                  <c:v>'17</c:v>
                </c:pt>
                <c:pt idx="8">
                  <c:v>'18</c:v>
                </c:pt>
                <c:pt idx="9">
                  <c:v>'19</c:v>
                </c:pt>
                <c:pt idx="10">
                  <c:v>'20</c:v>
                </c:pt>
                <c:pt idx="11">
                  <c:v>'21</c:v>
                </c:pt>
                <c:pt idx="12">
                  <c:v>'22</c:v>
                </c:pt>
                <c:pt idx="13">
                  <c:v>'23</c:v>
                </c:pt>
                <c:pt idx="14">
                  <c:v>'24</c:v>
                </c:pt>
              </c:strCache>
            </c:strRef>
          </c:cat>
          <c:val>
            <c:numRef>
              <c:f>Sheet3!$L$4:$L$18</c:f>
              <c:numCache>
                <c:formatCode>General</c:formatCode>
                <c:ptCount val="15"/>
                <c:pt idx="0">
                  <c:v>17</c:v>
                </c:pt>
                <c:pt idx="1">
                  <c:v>17</c:v>
                </c:pt>
                <c:pt idx="2">
                  <c:v>24</c:v>
                </c:pt>
                <c:pt idx="3">
                  <c:v>25</c:v>
                </c:pt>
                <c:pt idx="4">
                  <c:v>18</c:v>
                </c:pt>
                <c:pt idx="5">
                  <c:v>20</c:v>
                </c:pt>
                <c:pt idx="6">
                  <c:v>20</c:v>
                </c:pt>
                <c:pt idx="7">
                  <c:v>10</c:v>
                </c:pt>
                <c:pt idx="8">
                  <c:v>13</c:v>
                </c:pt>
                <c:pt idx="9">
                  <c:v>10</c:v>
                </c:pt>
                <c:pt idx="10">
                  <c:v>9</c:v>
                </c:pt>
                <c:pt idx="11">
                  <c:v>4</c:v>
                </c:pt>
                <c:pt idx="12">
                  <c:v>5</c:v>
                </c:pt>
                <c:pt idx="13">
                  <c:v>3</c:v>
                </c:pt>
                <c:pt idx="1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FB6-4291-A048-1FB3D69A79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62918624"/>
        <c:axId val="62923904"/>
      </c:barChart>
      <c:catAx>
        <c:axId val="62918624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extTo"/>
        <c:spPr>
          <a:noFill/>
          <a:ln w="31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endParaRPr lang="ko-KR"/>
          </a:p>
        </c:txPr>
        <c:crossAx val="62923904"/>
        <c:crosses val="autoZero"/>
        <c:auto val="1"/>
        <c:lblAlgn val="ctr"/>
        <c:lblOffset val="100"/>
        <c:noMultiLvlLbl val="0"/>
      </c:catAx>
      <c:valAx>
        <c:axId val="62923904"/>
        <c:scaling>
          <c:orientation val="minMax"/>
        </c:scaling>
        <c:delete val="0"/>
        <c:axPos val="l"/>
        <c:numFmt formatCode="0%" sourceLinked="1"/>
        <c:majorTickMark val="in"/>
        <c:minorTickMark val="none"/>
        <c:tickLblPos val="nextTo"/>
        <c:spPr>
          <a:noFill/>
          <a:ln w="3175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endParaRPr lang="ko-KR"/>
          </a:p>
        </c:txPr>
        <c:crossAx val="6291862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sz="700">
          <a:solidFill>
            <a:schemeClr val="tx1"/>
          </a:solidFill>
          <a:latin typeface="KoPubWorld돋움체 Medium" panose="00000600000000000000" pitchFamily="2" charset="-127"/>
          <a:ea typeface="KoPubWorld돋움체 Medium" panose="00000600000000000000" pitchFamily="2" charset="-127"/>
          <a:cs typeface="KoPubWorld돋움체 Medium" panose="00000600000000000000" pitchFamily="2" charset="-127"/>
        </a:defRPr>
      </a:pPr>
      <a:endParaRPr lang="ko-KR"/>
    </a:p>
  </c:txPr>
  <c:externalData r:id="rId3">
    <c:autoUpdate val="0"/>
  </c:externalData>
  <c:userShapes r:id="rId4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4689927701770439"/>
          <c:y val="0.12899093690327659"/>
          <c:w val="0.50484302847112306"/>
          <c:h val="0.7633298826281123"/>
        </c:manualLayout>
      </c:layout>
      <c:pieChart>
        <c:varyColors val="1"/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023164507263446"/>
          <c:y val="3.9487179487179488E-2"/>
          <c:w val="0.85404320043033488"/>
          <c:h val="0.83465201465201466"/>
        </c:manualLayout>
      </c:layout>
      <c:lineChart>
        <c:grouping val="standard"/>
        <c:varyColors val="0"/>
        <c:ser>
          <c:idx val="0"/>
          <c:order val="0"/>
          <c:tx>
            <c:strRef>
              <c:f>Sheet1!$L$69</c:f>
              <c:strCache>
                <c:ptCount val="1"/>
                <c:pt idx="0">
                  <c:v>Satellite Count (approx.)</c:v>
                </c:pt>
              </c:strCache>
            </c:strRef>
          </c:tx>
          <c:spPr>
            <a:ln w="15875" cap="rnd">
              <a:solidFill>
                <a:srgbClr val="203864"/>
              </a:solidFill>
              <a:round/>
            </a:ln>
            <a:effectLst/>
          </c:spPr>
          <c:marker>
            <c:symbol val="none"/>
          </c:marker>
          <c:cat>
            <c:numRef>
              <c:f>Sheet1!$K$70:$K$136</c:f>
              <c:numCache>
                <c:formatCode>General</c:formatCode>
                <c:ptCount val="67"/>
                <c:pt idx="0">
                  <c:v>1957</c:v>
                </c:pt>
                <c:pt idx="1">
                  <c:v>1958</c:v>
                </c:pt>
                <c:pt idx="2">
                  <c:v>1959</c:v>
                </c:pt>
                <c:pt idx="3">
                  <c:v>1960</c:v>
                </c:pt>
                <c:pt idx="4">
                  <c:v>1961</c:v>
                </c:pt>
                <c:pt idx="5">
                  <c:v>1962</c:v>
                </c:pt>
                <c:pt idx="6">
                  <c:v>1963</c:v>
                </c:pt>
                <c:pt idx="7">
                  <c:v>1964</c:v>
                </c:pt>
                <c:pt idx="8">
                  <c:v>1965</c:v>
                </c:pt>
                <c:pt idx="9">
                  <c:v>1966</c:v>
                </c:pt>
                <c:pt idx="10">
                  <c:v>1967</c:v>
                </c:pt>
                <c:pt idx="11">
                  <c:v>1968</c:v>
                </c:pt>
                <c:pt idx="12">
                  <c:v>1969</c:v>
                </c:pt>
                <c:pt idx="13">
                  <c:v>1970</c:v>
                </c:pt>
                <c:pt idx="14">
                  <c:v>1971</c:v>
                </c:pt>
                <c:pt idx="15">
                  <c:v>1972</c:v>
                </c:pt>
                <c:pt idx="16">
                  <c:v>1973</c:v>
                </c:pt>
                <c:pt idx="17">
                  <c:v>1974</c:v>
                </c:pt>
                <c:pt idx="18">
                  <c:v>1975</c:v>
                </c:pt>
                <c:pt idx="19">
                  <c:v>1976</c:v>
                </c:pt>
                <c:pt idx="20">
                  <c:v>1977</c:v>
                </c:pt>
                <c:pt idx="21">
                  <c:v>1978</c:v>
                </c:pt>
                <c:pt idx="22">
                  <c:v>1979</c:v>
                </c:pt>
                <c:pt idx="23">
                  <c:v>1980</c:v>
                </c:pt>
                <c:pt idx="24">
                  <c:v>1981</c:v>
                </c:pt>
                <c:pt idx="25">
                  <c:v>1982</c:v>
                </c:pt>
                <c:pt idx="26">
                  <c:v>1983</c:v>
                </c:pt>
                <c:pt idx="27">
                  <c:v>1984</c:v>
                </c:pt>
                <c:pt idx="28">
                  <c:v>1985</c:v>
                </c:pt>
                <c:pt idx="29">
                  <c:v>1986</c:v>
                </c:pt>
                <c:pt idx="30">
                  <c:v>1987</c:v>
                </c:pt>
                <c:pt idx="31">
                  <c:v>1988</c:v>
                </c:pt>
                <c:pt idx="32">
                  <c:v>1989</c:v>
                </c:pt>
                <c:pt idx="33">
                  <c:v>1990</c:v>
                </c:pt>
                <c:pt idx="34">
                  <c:v>1991</c:v>
                </c:pt>
                <c:pt idx="35">
                  <c:v>1992</c:v>
                </c:pt>
                <c:pt idx="36">
                  <c:v>1993</c:v>
                </c:pt>
                <c:pt idx="37">
                  <c:v>1994</c:v>
                </c:pt>
                <c:pt idx="38">
                  <c:v>1995</c:v>
                </c:pt>
                <c:pt idx="39">
                  <c:v>1996</c:v>
                </c:pt>
                <c:pt idx="40">
                  <c:v>1997</c:v>
                </c:pt>
                <c:pt idx="41">
                  <c:v>1998</c:v>
                </c:pt>
                <c:pt idx="42">
                  <c:v>1999</c:v>
                </c:pt>
                <c:pt idx="43">
                  <c:v>2000</c:v>
                </c:pt>
                <c:pt idx="44">
                  <c:v>2001</c:v>
                </c:pt>
                <c:pt idx="45">
                  <c:v>2002</c:v>
                </c:pt>
                <c:pt idx="46">
                  <c:v>2003</c:v>
                </c:pt>
                <c:pt idx="47">
                  <c:v>2004</c:v>
                </c:pt>
                <c:pt idx="48">
                  <c:v>2005</c:v>
                </c:pt>
                <c:pt idx="49">
                  <c:v>2006</c:v>
                </c:pt>
                <c:pt idx="50">
                  <c:v>2007</c:v>
                </c:pt>
                <c:pt idx="51">
                  <c:v>2008</c:v>
                </c:pt>
                <c:pt idx="52">
                  <c:v>2009</c:v>
                </c:pt>
                <c:pt idx="53">
                  <c:v>2010</c:v>
                </c:pt>
                <c:pt idx="54">
                  <c:v>2011</c:v>
                </c:pt>
                <c:pt idx="55">
                  <c:v>2012</c:v>
                </c:pt>
                <c:pt idx="56">
                  <c:v>2013</c:v>
                </c:pt>
                <c:pt idx="57">
                  <c:v>2014</c:v>
                </c:pt>
                <c:pt idx="58">
                  <c:v>2015</c:v>
                </c:pt>
                <c:pt idx="59">
                  <c:v>2016</c:v>
                </c:pt>
                <c:pt idx="60">
                  <c:v>2017</c:v>
                </c:pt>
                <c:pt idx="61">
                  <c:v>2018</c:v>
                </c:pt>
                <c:pt idx="62">
                  <c:v>2019</c:v>
                </c:pt>
                <c:pt idx="63">
                  <c:v>2020</c:v>
                </c:pt>
                <c:pt idx="64">
                  <c:v>2021</c:v>
                </c:pt>
                <c:pt idx="65">
                  <c:v>2022</c:v>
                </c:pt>
                <c:pt idx="66">
                  <c:v>2023</c:v>
                </c:pt>
              </c:numCache>
            </c:numRef>
          </c:cat>
          <c:val>
            <c:numRef>
              <c:f>Sheet1!$L$70:$L$136</c:f>
              <c:numCache>
                <c:formatCode>General</c:formatCode>
                <c:ptCount val="67"/>
                <c:pt idx="0">
                  <c:v>1</c:v>
                </c:pt>
                <c:pt idx="1">
                  <c:v>16</c:v>
                </c:pt>
                <c:pt idx="2">
                  <c:v>32</c:v>
                </c:pt>
                <c:pt idx="3">
                  <c:v>47</c:v>
                </c:pt>
                <c:pt idx="4">
                  <c:v>62</c:v>
                </c:pt>
                <c:pt idx="5">
                  <c:v>78</c:v>
                </c:pt>
                <c:pt idx="6">
                  <c:v>93</c:v>
                </c:pt>
                <c:pt idx="7">
                  <c:v>108</c:v>
                </c:pt>
                <c:pt idx="8">
                  <c:v>123</c:v>
                </c:pt>
                <c:pt idx="9">
                  <c:v>139</c:v>
                </c:pt>
                <c:pt idx="10">
                  <c:v>154</c:v>
                </c:pt>
                <c:pt idx="11">
                  <c:v>169</c:v>
                </c:pt>
                <c:pt idx="12">
                  <c:v>185</c:v>
                </c:pt>
                <c:pt idx="13">
                  <c:v>200</c:v>
                </c:pt>
                <c:pt idx="14">
                  <c:v>220</c:v>
                </c:pt>
                <c:pt idx="15">
                  <c:v>240</c:v>
                </c:pt>
                <c:pt idx="16">
                  <c:v>260</c:v>
                </c:pt>
                <c:pt idx="17">
                  <c:v>280</c:v>
                </c:pt>
                <c:pt idx="18">
                  <c:v>300</c:v>
                </c:pt>
                <c:pt idx="19">
                  <c:v>320</c:v>
                </c:pt>
                <c:pt idx="20">
                  <c:v>340</c:v>
                </c:pt>
                <c:pt idx="21">
                  <c:v>360</c:v>
                </c:pt>
                <c:pt idx="22">
                  <c:v>380</c:v>
                </c:pt>
                <c:pt idx="23">
                  <c:v>400</c:v>
                </c:pt>
                <c:pt idx="24">
                  <c:v>410</c:v>
                </c:pt>
                <c:pt idx="25">
                  <c:v>420</c:v>
                </c:pt>
                <c:pt idx="26">
                  <c:v>430</c:v>
                </c:pt>
                <c:pt idx="27">
                  <c:v>440</c:v>
                </c:pt>
                <c:pt idx="28">
                  <c:v>450</c:v>
                </c:pt>
                <c:pt idx="29">
                  <c:v>460</c:v>
                </c:pt>
                <c:pt idx="30">
                  <c:v>470</c:v>
                </c:pt>
                <c:pt idx="31">
                  <c:v>480</c:v>
                </c:pt>
                <c:pt idx="32">
                  <c:v>490</c:v>
                </c:pt>
                <c:pt idx="33">
                  <c:v>500</c:v>
                </c:pt>
                <c:pt idx="34">
                  <c:v>540</c:v>
                </c:pt>
                <c:pt idx="35">
                  <c:v>580</c:v>
                </c:pt>
                <c:pt idx="36">
                  <c:v>600</c:v>
                </c:pt>
                <c:pt idx="37">
                  <c:v>620</c:v>
                </c:pt>
                <c:pt idx="38">
                  <c:v>640</c:v>
                </c:pt>
                <c:pt idx="39">
                  <c:v>660</c:v>
                </c:pt>
                <c:pt idx="40">
                  <c:v>700</c:v>
                </c:pt>
                <c:pt idx="41">
                  <c:v>750</c:v>
                </c:pt>
                <c:pt idx="42">
                  <c:v>800</c:v>
                </c:pt>
                <c:pt idx="43">
                  <c:v>850</c:v>
                </c:pt>
                <c:pt idx="44">
                  <c:v>835</c:v>
                </c:pt>
                <c:pt idx="45">
                  <c:v>870</c:v>
                </c:pt>
                <c:pt idx="46">
                  <c:v>900</c:v>
                </c:pt>
                <c:pt idx="47">
                  <c:v>910</c:v>
                </c:pt>
                <c:pt idx="48">
                  <c:v>920</c:v>
                </c:pt>
                <c:pt idx="49">
                  <c:v>930</c:v>
                </c:pt>
                <c:pt idx="50">
                  <c:v>950</c:v>
                </c:pt>
                <c:pt idx="51">
                  <c:v>970</c:v>
                </c:pt>
                <c:pt idx="52">
                  <c:v>995</c:v>
                </c:pt>
                <c:pt idx="53">
                  <c:v>1000</c:v>
                </c:pt>
                <c:pt idx="54">
                  <c:v>1030</c:v>
                </c:pt>
                <c:pt idx="55">
                  <c:v>1080</c:v>
                </c:pt>
                <c:pt idx="56">
                  <c:v>1100</c:v>
                </c:pt>
                <c:pt idx="57">
                  <c:v>1250</c:v>
                </c:pt>
                <c:pt idx="58">
                  <c:v>1400</c:v>
                </c:pt>
                <c:pt idx="59">
                  <c:v>1600</c:v>
                </c:pt>
                <c:pt idx="60">
                  <c:v>1900</c:v>
                </c:pt>
                <c:pt idx="61">
                  <c:v>2030</c:v>
                </c:pt>
                <c:pt idx="62">
                  <c:v>2200</c:v>
                </c:pt>
                <c:pt idx="63">
                  <c:v>3200</c:v>
                </c:pt>
                <c:pt idx="64">
                  <c:v>4800</c:v>
                </c:pt>
                <c:pt idx="65">
                  <c:v>6750</c:v>
                </c:pt>
                <c:pt idx="66">
                  <c:v>9115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700-4D56-B0B2-6F8DB97842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64672079"/>
        <c:axId val="1564678319"/>
      </c:lineChart>
      <c:catAx>
        <c:axId val="1564672079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extTo"/>
        <c:spPr>
          <a:noFill/>
          <a:ln w="31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endParaRPr lang="ko-KR"/>
          </a:p>
        </c:txPr>
        <c:crossAx val="1564678319"/>
        <c:crosses val="autoZero"/>
        <c:auto val="1"/>
        <c:lblAlgn val="ctr"/>
        <c:lblOffset val="100"/>
        <c:tickLblSkip val="10"/>
        <c:tickMarkSkip val="10"/>
        <c:noMultiLvlLbl val="0"/>
      </c:catAx>
      <c:valAx>
        <c:axId val="1564678319"/>
        <c:scaling>
          <c:orientation val="minMax"/>
        </c:scaling>
        <c:delete val="0"/>
        <c:axPos val="l"/>
        <c:numFmt formatCode="#,##0_);[Red]\(#,##0\)" sourceLinked="0"/>
        <c:majorTickMark val="in"/>
        <c:minorTickMark val="none"/>
        <c:tickLblPos val="nextTo"/>
        <c:spPr>
          <a:noFill/>
          <a:ln w="3175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endParaRPr lang="ko-KR"/>
          </a:p>
        </c:txPr>
        <c:crossAx val="1564672079"/>
        <c:crosses val="autoZero"/>
        <c:crossBetween val="between"/>
        <c:majorUnit val="5000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700">
          <a:latin typeface="KoPubWorld돋움체 Medium" panose="00000600000000000000" pitchFamily="2" charset="-127"/>
          <a:ea typeface="KoPubWorld돋움체 Medium" panose="00000600000000000000" pitchFamily="2" charset="-127"/>
          <a:cs typeface="KoPubWorld돋움체 Medium" panose="00000600000000000000" pitchFamily="2" charset="-127"/>
        </a:defRPr>
      </a:pPr>
      <a:endParaRPr lang="ko-KR"/>
    </a:p>
  </c:txPr>
  <c:externalData r:id="rId3">
    <c:autoUpdate val="0"/>
  </c:externalData>
  <c:userShapes r:id="rId4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4689927701770439"/>
          <c:y val="0.12899093690327659"/>
          <c:w val="0.50484302847112306"/>
          <c:h val="0.7633298826281123"/>
        </c:manualLayout>
      </c:layout>
      <c:pieChart>
        <c:varyColors val="1"/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0089956034014459"/>
          <c:y val="4.1294286496508195E-2"/>
          <c:w val="0.39820087931971082"/>
          <c:h val="8.143753540090899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07354774370481"/>
          <c:y val="0.15940164737472332"/>
          <c:w val="0.68386935926202941"/>
          <c:h val="0.7416352189847238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Sheet1!$S$51</c:f>
              <c:strCache>
                <c:ptCount val="1"/>
                <c:pt idx="0">
                  <c:v>스타링크 구독자 수</c:v>
                </c:pt>
              </c:strCache>
            </c:strRef>
          </c:tx>
          <c:spPr>
            <a:solidFill>
              <a:srgbClr val="203864"/>
            </a:solidFill>
            <a:ln>
              <a:noFill/>
            </a:ln>
            <a:effectLst/>
          </c:spPr>
          <c:invertIfNegative val="0"/>
          <c:cat>
            <c:strRef>
              <c:f>Sheet1!$R$52:$R$55</c:f>
              <c:strCache>
                <c:ptCount val="4"/>
                <c:pt idx="0">
                  <c:v>2025E</c:v>
                </c:pt>
                <c:pt idx="1">
                  <c:v>2027E</c:v>
                </c:pt>
                <c:pt idx="2">
                  <c:v>2030E</c:v>
                </c:pt>
                <c:pt idx="3">
                  <c:v>2035E</c:v>
                </c:pt>
              </c:strCache>
            </c:strRef>
          </c:cat>
          <c:val>
            <c:numRef>
              <c:f>Sheet1!$S$52:$S$55</c:f>
              <c:numCache>
                <c:formatCode>_(* #,##0_);_(* \(#,##0\);_(* "-"_);_(@_)</c:formatCode>
                <c:ptCount val="4"/>
                <c:pt idx="0">
                  <c:v>700</c:v>
                </c:pt>
                <c:pt idx="1">
                  <c:v>900</c:v>
                </c:pt>
                <c:pt idx="2">
                  <c:v>1400</c:v>
                </c:pt>
                <c:pt idx="3">
                  <c:v>2300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714-419D-A6F0-F90919E16D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191429488"/>
        <c:axId val="1191438608"/>
      </c:barChart>
      <c:lineChart>
        <c:grouping val="standard"/>
        <c:varyColors val="0"/>
        <c:ser>
          <c:idx val="1"/>
          <c:order val="1"/>
          <c:tx>
            <c:strRef>
              <c:f>Sheet1!$T$51</c:f>
              <c:strCache>
                <c:ptCount val="1"/>
                <c:pt idx="0">
                  <c:v>스타링크 구독 매출</c:v>
                </c:pt>
              </c:strCache>
            </c:strRef>
          </c:tx>
          <c:spPr>
            <a:ln w="28575" cap="rnd">
              <a:solidFill>
                <a:srgbClr val="D0CECE"/>
              </a:solidFill>
              <a:round/>
            </a:ln>
            <a:effectLst/>
          </c:spPr>
          <c:marker>
            <c:symbol val="none"/>
          </c:marker>
          <c:cat>
            <c:strRef>
              <c:f>Sheet1!$R$52:$R$55</c:f>
              <c:strCache>
                <c:ptCount val="4"/>
                <c:pt idx="0">
                  <c:v>2025E</c:v>
                </c:pt>
                <c:pt idx="1">
                  <c:v>2027E</c:v>
                </c:pt>
                <c:pt idx="2">
                  <c:v>2030E</c:v>
                </c:pt>
                <c:pt idx="3">
                  <c:v>2035E</c:v>
                </c:pt>
              </c:strCache>
            </c:strRef>
          </c:cat>
          <c:val>
            <c:numRef>
              <c:f>Sheet1!$T$52:$T$55</c:f>
              <c:numCache>
                <c:formatCode>_(* #,##0_);_(* \(#,##0\);_(* "-"_);_(@_)</c:formatCode>
                <c:ptCount val="4"/>
                <c:pt idx="0">
                  <c:v>14273</c:v>
                </c:pt>
                <c:pt idx="1">
                  <c:v>18351</c:v>
                </c:pt>
                <c:pt idx="2">
                  <c:v>28546</c:v>
                </c:pt>
                <c:pt idx="3">
                  <c:v>46897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714-419D-A6F0-F90919E16D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91441968"/>
        <c:axId val="1191436208"/>
      </c:lineChart>
      <c:catAx>
        <c:axId val="1191429488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extTo"/>
        <c:spPr>
          <a:noFill/>
          <a:ln w="31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endParaRPr lang="ko-KR"/>
          </a:p>
        </c:txPr>
        <c:crossAx val="1191438608"/>
        <c:crosses val="autoZero"/>
        <c:auto val="1"/>
        <c:lblAlgn val="ctr"/>
        <c:lblOffset val="100"/>
        <c:noMultiLvlLbl val="0"/>
      </c:catAx>
      <c:valAx>
        <c:axId val="1191438608"/>
        <c:scaling>
          <c:orientation val="minMax"/>
        </c:scaling>
        <c:delete val="0"/>
        <c:axPos val="l"/>
        <c:numFmt formatCode="#,##0_);[Red]\(#,##0\)" sourceLinked="0"/>
        <c:majorTickMark val="in"/>
        <c:minorTickMark val="none"/>
        <c:tickLblPos val="nextTo"/>
        <c:spPr>
          <a:noFill/>
          <a:ln w="3175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endParaRPr lang="ko-KR"/>
          </a:p>
        </c:txPr>
        <c:crossAx val="1191429488"/>
        <c:crosses val="autoZero"/>
        <c:crossBetween val="between"/>
        <c:majorUnit val="1250"/>
      </c:valAx>
      <c:valAx>
        <c:axId val="1191436208"/>
        <c:scaling>
          <c:orientation val="minMax"/>
        </c:scaling>
        <c:delete val="0"/>
        <c:axPos val="r"/>
        <c:numFmt formatCode="#,##0_);[Red]\(#,##0\)" sourceLinked="0"/>
        <c:majorTickMark val="in"/>
        <c:minorTickMark val="none"/>
        <c:tickLblPos val="nextTo"/>
        <c:spPr>
          <a:noFill/>
          <a:ln w="3175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endParaRPr lang="ko-KR"/>
          </a:p>
        </c:txPr>
        <c:crossAx val="1191441968"/>
        <c:crosses val="max"/>
        <c:crossBetween val="between"/>
        <c:majorUnit val="25000"/>
      </c:valAx>
      <c:catAx>
        <c:axId val="119144196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9143620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sz="700">
          <a:solidFill>
            <a:schemeClr val="tx1"/>
          </a:solidFill>
          <a:latin typeface="KoPubWorld돋움체 Medium" panose="00000600000000000000" pitchFamily="2" charset="-127"/>
          <a:ea typeface="KoPubWorld돋움체 Medium" panose="00000600000000000000" pitchFamily="2" charset="-127"/>
          <a:cs typeface="KoPubWorld돋움체 Medium" panose="00000600000000000000" pitchFamily="2" charset="-127"/>
        </a:defRPr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361726120621266"/>
          <c:y val="0.26960290394899117"/>
          <c:w val="0.6060706191909192"/>
          <c:h val="0.69235017151074252"/>
        </c:manualLayout>
      </c:layout>
      <c:pieChart>
        <c:varyColors val="1"/>
        <c:ser>
          <c:idx val="0"/>
          <c:order val="0"/>
          <c:dPt>
            <c:idx val="0"/>
            <c:bubble3D val="0"/>
            <c:spPr>
              <a:solidFill>
                <a:srgbClr val="20386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496-4689-8F2F-3AB2E025EA7F}"/>
              </c:ext>
            </c:extLst>
          </c:dPt>
          <c:dPt>
            <c:idx val="1"/>
            <c:bubble3D val="0"/>
            <c:spPr>
              <a:solidFill>
                <a:srgbClr val="D0CEC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496-4689-8F2F-3AB2E025EA7F}"/>
              </c:ext>
            </c:extLst>
          </c:dPt>
          <c:dPt>
            <c:idx val="2"/>
            <c:bubble3D val="0"/>
            <c:spPr>
              <a:solidFill>
                <a:srgbClr val="2F5597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496-4689-8F2F-3AB2E025EA7F}"/>
              </c:ext>
            </c:extLst>
          </c:dPt>
          <c:dPt>
            <c:idx val="3"/>
            <c:bubble3D val="0"/>
            <c:spPr>
              <a:solidFill>
                <a:srgbClr val="8FAAD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496-4689-8F2F-3AB2E025EA7F}"/>
              </c:ext>
            </c:extLst>
          </c:dPt>
          <c:dPt>
            <c:idx val="4"/>
            <c:bubble3D val="0"/>
            <c:spPr>
              <a:solidFill>
                <a:srgbClr val="BCC7E7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3496-4689-8F2F-3AB2E025EA7F}"/>
              </c:ext>
            </c:extLst>
          </c:dPt>
          <c:dPt>
            <c:idx val="5"/>
            <c:bubble3D val="0"/>
            <c:spPr>
              <a:solidFill>
                <a:srgbClr val="E7E6E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3496-4689-8F2F-3AB2E025EA7F}"/>
              </c:ext>
            </c:extLst>
          </c:dPt>
          <c:dLbls>
            <c:dLbl>
              <c:idx val="0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bg1"/>
                      </a:solidFill>
                      <a:latin typeface="KoPubWorld돋움체 Medium" panose="00000600000000000000" pitchFamily="2" charset="-127"/>
                      <a:ea typeface="KoPubWorld돋움체 Medium" panose="00000600000000000000" pitchFamily="2" charset="-127"/>
                      <a:cs typeface="KoPubWorld돋움체 Medium" panose="00000600000000000000" pitchFamily="2" charset="-127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3496-4689-8F2F-3AB2E025EA7F}"/>
                </c:ext>
              </c:extLst>
            </c:dLbl>
            <c:dLbl>
              <c:idx val="2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bg1"/>
                      </a:solidFill>
                      <a:latin typeface="KoPubWorld돋움체 Medium" panose="00000600000000000000" pitchFamily="2" charset="-127"/>
                      <a:ea typeface="KoPubWorld돋움체 Medium" panose="00000600000000000000" pitchFamily="2" charset="-127"/>
                      <a:cs typeface="KoPubWorld돋움체 Medium" panose="00000600000000000000" pitchFamily="2" charset="-127"/>
                    </a:defRPr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3496-4689-8F2F-3AB2E025EA7F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/>
                    </a:solidFill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Sheet1!$D$29:$D$34</c:f>
              <c:strCache>
                <c:ptCount val="6"/>
                <c:pt idx="0">
                  <c:v>지구관측</c:v>
                </c:pt>
                <c:pt idx="1">
                  <c:v>항법</c:v>
                </c:pt>
                <c:pt idx="2">
                  <c:v>통신</c:v>
                </c:pt>
                <c:pt idx="3">
                  <c:v>우주수송</c:v>
                </c:pt>
                <c:pt idx="4">
                  <c:v>인간 및 로봇탐사</c:v>
                </c:pt>
                <c:pt idx="5">
                  <c:v>기타</c:v>
                </c:pt>
              </c:strCache>
            </c:strRef>
          </c:cat>
          <c:val>
            <c:numRef>
              <c:f>Sheet1!$E$29:$E$34</c:f>
              <c:numCache>
                <c:formatCode>0.00%</c:formatCode>
                <c:ptCount val="6"/>
                <c:pt idx="0">
                  <c:v>0.33600000000000002</c:v>
                </c:pt>
                <c:pt idx="1">
                  <c:v>0.125</c:v>
                </c:pt>
                <c:pt idx="2">
                  <c:v>0.106</c:v>
                </c:pt>
                <c:pt idx="3">
                  <c:v>9.8000000000000004E-2</c:v>
                </c:pt>
                <c:pt idx="4">
                  <c:v>7.8E-2</c:v>
                </c:pt>
                <c:pt idx="5">
                  <c:v>0.25700000000000001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3496-4689-8F2F-3AB2E025EA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4.4939803007554943E-2"/>
          <c:y val="3.8046924540266328E-2"/>
          <c:w val="0.95475424023287681"/>
          <c:h val="0.1681444385082809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defRPr>
          </a:pPr>
          <a:endParaRPr lang="ko-K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700">
          <a:solidFill>
            <a:schemeClr val="tx1"/>
          </a:solidFill>
          <a:latin typeface="KoPubWorld돋움체 Medium" panose="00000600000000000000" pitchFamily="2" charset="-127"/>
          <a:ea typeface="KoPubWorld돋움체 Medium" panose="00000600000000000000" pitchFamily="2" charset="-127"/>
          <a:cs typeface="KoPubWorld돋움체 Medium" panose="00000600000000000000" pitchFamily="2" charset="-127"/>
        </a:defRPr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171025276326055"/>
          <c:y val="7.7492547967790509E-2"/>
          <c:w val="0.79376495083315568"/>
          <c:h val="0.81876355129521849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20386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ysClr val="windowText" lastClr="000000"/>
                    </a:solidFill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Sheet1!$A$74:$A$77</c:f>
              <c:numCache>
                <c:formatCode>General</c:formatCod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numCache>
            </c:numRef>
          </c:cat>
          <c:val>
            <c:numRef>
              <c:f>Sheet1!$B$74:$B$77</c:f>
              <c:numCache>
                <c:formatCode>General</c:formatCode>
                <c:ptCount val="4"/>
                <c:pt idx="0">
                  <c:v>20</c:v>
                </c:pt>
                <c:pt idx="1">
                  <c:v>22.5</c:v>
                </c:pt>
                <c:pt idx="2">
                  <c:v>24</c:v>
                </c:pt>
                <c:pt idx="3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98-4106-9230-A5FA307BCD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54426143"/>
        <c:axId val="854427583"/>
      </c:barChart>
      <c:catAx>
        <c:axId val="854426143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extTo"/>
        <c:spPr>
          <a:noFill/>
          <a:ln w="31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ysClr val="windowText" lastClr="0000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endParaRPr lang="ko-KR"/>
          </a:p>
        </c:txPr>
        <c:crossAx val="854427583"/>
        <c:crosses val="autoZero"/>
        <c:auto val="1"/>
        <c:lblAlgn val="ctr"/>
        <c:lblOffset val="100"/>
        <c:noMultiLvlLbl val="0"/>
      </c:catAx>
      <c:valAx>
        <c:axId val="854427583"/>
        <c:scaling>
          <c:orientation val="minMax"/>
          <c:max val="26"/>
          <c:min val="14"/>
        </c:scaling>
        <c:delete val="0"/>
        <c:axPos val="l"/>
        <c:numFmt formatCode="General" sourceLinked="1"/>
        <c:majorTickMark val="in"/>
        <c:minorTickMark val="none"/>
        <c:tickLblPos val="nextTo"/>
        <c:spPr>
          <a:noFill/>
          <a:ln w="3175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ysClr val="windowText" lastClr="0000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endParaRPr lang="ko-KR"/>
          </a:p>
        </c:txPr>
        <c:crossAx val="854426143"/>
        <c:crosses val="autoZero"/>
        <c:crossBetween val="between"/>
        <c:majorUnit val="4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700">
          <a:solidFill>
            <a:sysClr val="windowText" lastClr="000000"/>
          </a:solidFill>
          <a:latin typeface="KoPubWorld돋움체 Medium" panose="00000600000000000000" pitchFamily="2" charset="-127"/>
          <a:ea typeface="KoPubWorld돋움체 Medium" panose="00000600000000000000" pitchFamily="2" charset="-127"/>
          <a:cs typeface="KoPubWorld돋움체 Medium" panose="00000600000000000000" pitchFamily="2" charset="-127"/>
        </a:defRPr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55555555555555"/>
          <c:y val="6.709354696606061E-2"/>
          <c:w val="0.83733333333333337"/>
          <c:h val="0.82811825226218472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203864"/>
            </a:solidFill>
            <a:ln>
              <a:noFill/>
            </a:ln>
            <a:effectLst/>
          </c:spPr>
          <c:invertIfNegative val="0"/>
          <c:cat>
            <c:strRef>
              <c:f>Sheet1!$A$95:$A$104</c:f>
              <c:strCache>
                <c:ptCount val="10"/>
                <c:pt idx="0">
                  <c:v>2024</c:v>
                </c:pt>
                <c:pt idx="1">
                  <c:v>'25E</c:v>
                </c:pt>
                <c:pt idx="2">
                  <c:v>2026</c:v>
                </c:pt>
                <c:pt idx="3">
                  <c:v>'27E</c:v>
                </c:pt>
                <c:pt idx="4">
                  <c:v>2028</c:v>
                </c:pt>
                <c:pt idx="5">
                  <c:v>'29E</c:v>
                </c:pt>
                <c:pt idx="6">
                  <c:v>2030</c:v>
                </c:pt>
                <c:pt idx="7">
                  <c:v>'31E</c:v>
                </c:pt>
                <c:pt idx="8">
                  <c:v>2032</c:v>
                </c:pt>
                <c:pt idx="9">
                  <c:v>'33E</c:v>
                </c:pt>
              </c:strCache>
            </c:strRef>
          </c:cat>
          <c:val>
            <c:numRef>
              <c:f>Sheet1!$B$95:$B$104</c:f>
              <c:numCache>
                <c:formatCode>General</c:formatCode>
                <c:ptCount val="10"/>
                <c:pt idx="0">
                  <c:v>3.7</c:v>
                </c:pt>
                <c:pt idx="1">
                  <c:v>3.89</c:v>
                </c:pt>
                <c:pt idx="2">
                  <c:v>4.09</c:v>
                </c:pt>
                <c:pt idx="3">
                  <c:v>4.29</c:v>
                </c:pt>
                <c:pt idx="4">
                  <c:v>4.51</c:v>
                </c:pt>
                <c:pt idx="5">
                  <c:v>4.74</c:v>
                </c:pt>
                <c:pt idx="6">
                  <c:v>4.9800000000000004</c:v>
                </c:pt>
                <c:pt idx="7">
                  <c:v>5.23</c:v>
                </c:pt>
                <c:pt idx="8">
                  <c:v>5.49</c:v>
                </c:pt>
                <c:pt idx="9">
                  <c:v>5.77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7E-464E-8AEA-12DFE3AACB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92365151"/>
        <c:axId val="1392376191"/>
      </c:barChart>
      <c:catAx>
        <c:axId val="1392365151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extTo"/>
        <c:spPr>
          <a:noFill/>
          <a:ln w="31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ysClr val="windowText" lastClr="0000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endParaRPr lang="ko-KR"/>
          </a:p>
        </c:txPr>
        <c:crossAx val="1392376191"/>
        <c:crosses val="autoZero"/>
        <c:auto val="1"/>
        <c:lblAlgn val="ctr"/>
        <c:lblOffset val="100"/>
        <c:tickLblSkip val="2"/>
        <c:tickMarkSkip val="2"/>
        <c:noMultiLvlLbl val="0"/>
      </c:catAx>
      <c:valAx>
        <c:axId val="1392376191"/>
        <c:scaling>
          <c:orientation val="minMax"/>
          <c:max val="6"/>
          <c:min val="3"/>
        </c:scaling>
        <c:delete val="0"/>
        <c:axPos val="l"/>
        <c:numFmt formatCode="General" sourceLinked="1"/>
        <c:majorTickMark val="in"/>
        <c:minorTickMark val="none"/>
        <c:tickLblPos val="nextTo"/>
        <c:spPr>
          <a:noFill/>
          <a:ln w="3175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ysClr val="windowText" lastClr="0000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endParaRPr lang="ko-KR"/>
          </a:p>
        </c:txPr>
        <c:crossAx val="1392365151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700">
          <a:solidFill>
            <a:sysClr val="windowText" lastClr="000000"/>
          </a:solidFill>
          <a:latin typeface="KoPubWorld돋움체 Medium" panose="00000600000000000000" pitchFamily="2" charset="-127"/>
          <a:ea typeface="KoPubWorld돋움체 Medium" panose="00000600000000000000" pitchFamily="2" charset="-127"/>
          <a:cs typeface="KoPubWorld돋움체 Medium" panose="00000600000000000000" pitchFamily="2" charset="-127"/>
        </a:defRPr>
      </a:pPr>
      <a:endParaRPr lang="ko-KR"/>
    </a:p>
  </c:txPr>
  <c:externalData r:id="rId3">
    <c:autoUpdate val="0"/>
  </c:externalData>
  <c:userShapes r:id="rId4"/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786597383981365"/>
          <c:y val="9.644364074743822E-2"/>
          <c:w val="0.79057516574090669"/>
          <c:h val="0.79369937965144111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173867"/>
            </a:solidFill>
            <a:ln>
              <a:solidFill>
                <a:srgbClr val="173867"/>
              </a:solidFill>
            </a:ln>
            <a:effectLst/>
          </c:spPr>
          <c:invertIfNegative val="0"/>
          <c:cat>
            <c:strRef>
              <c:f>그래프!$B$42:$B$45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2025E</c:v>
                </c:pt>
              </c:strCache>
            </c:strRef>
          </c:cat>
          <c:val>
            <c:numRef>
              <c:f>그래프!$C$42:$C$45</c:f>
              <c:numCache>
                <c:formatCode>General</c:formatCode>
                <c:ptCount val="4"/>
                <c:pt idx="0">
                  <c:v>150</c:v>
                </c:pt>
                <c:pt idx="1">
                  <c:v>962</c:v>
                </c:pt>
                <c:pt idx="2">
                  <c:v>973</c:v>
                </c:pt>
                <c:pt idx="3">
                  <c:v>1765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E4A-4387-B86A-5D16E1801D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136339952"/>
        <c:axId val="1136341664"/>
      </c:barChart>
      <c:lineChart>
        <c:grouping val="standard"/>
        <c:varyColors val="0"/>
        <c:ser>
          <c:idx val="1"/>
          <c:order val="1"/>
          <c:spPr>
            <a:ln w="22225" cap="rnd">
              <a:solidFill>
                <a:srgbClr val="D0CECE"/>
              </a:solidFill>
              <a:round/>
            </a:ln>
            <a:effectLst/>
          </c:spPr>
          <c:marker>
            <c:symbol val="none"/>
          </c:marker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/>
                    </a:solidFill>
                    <a:latin typeface="KoPubWorldDotum Medium" pitchFamily="2" charset="-127"/>
                    <a:ea typeface="KoPubWorldDotum Medium" pitchFamily="2" charset="-127"/>
                    <a:cs typeface="KoPubWorldDotum Medium" pitchFamily="2" charset="-127"/>
                  </a:defRPr>
                </a:pPr>
                <a:endParaRPr lang="ko-Kore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그래프!$B$42:$B$45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2025E</c:v>
                </c:pt>
              </c:strCache>
            </c:strRef>
          </c:cat>
          <c:val>
            <c:numRef>
              <c:f>그래프!$D$42:$D$45</c:f>
              <c:numCache>
                <c:formatCode>0.00%</c:formatCode>
                <c:ptCount val="4"/>
                <c:pt idx="0">
                  <c:v>6.3E-2</c:v>
                </c:pt>
                <c:pt idx="1">
                  <c:v>0.315</c:v>
                </c:pt>
                <c:pt idx="2">
                  <c:v>0.378</c:v>
                </c:pt>
                <c:pt idx="3">
                  <c:v>0.496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E4A-4387-B86A-5D16E1801D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45368623"/>
        <c:axId val="945363679"/>
      </c:lineChart>
      <c:catAx>
        <c:axId val="1136339952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extTo"/>
        <c:spPr>
          <a:noFill/>
          <a:ln w="31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defRPr>
            </a:pPr>
            <a:endParaRPr lang="ko-Kore-KR"/>
          </a:p>
        </c:txPr>
        <c:crossAx val="1136341664"/>
        <c:crosses val="autoZero"/>
        <c:auto val="1"/>
        <c:lblAlgn val="ctr"/>
        <c:lblOffset val="100"/>
        <c:noMultiLvlLbl val="0"/>
      </c:catAx>
      <c:valAx>
        <c:axId val="1136341664"/>
        <c:scaling>
          <c:orientation val="minMax"/>
        </c:scaling>
        <c:delete val="0"/>
        <c:axPos val="l"/>
        <c:numFmt formatCode="#,##0_);[Red]\(#,##0\)" sourceLinked="0"/>
        <c:majorTickMark val="in"/>
        <c:minorTickMark val="none"/>
        <c:tickLblPos val="nextTo"/>
        <c:spPr>
          <a:noFill/>
          <a:ln w="3175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defRPr>
            </a:pPr>
            <a:endParaRPr lang="ko-Kore-KR"/>
          </a:p>
        </c:txPr>
        <c:crossAx val="1136339952"/>
        <c:crosses val="autoZero"/>
        <c:crossBetween val="between"/>
      </c:valAx>
      <c:valAx>
        <c:axId val="945363679"/>
        <c:scaling>
          <c:orientation val="minMax"/>
        </c:scaling>
        <c:delete val="0"/>
        <c:axPos val="r"/>
        <c:numFmt formatCode="0%" sourceLinked="0"/>
        <c:majorTickMark val="in"/>
        <c:minorTickMark val="none"/>
        <c:tickLblPos val="nextTo"/>
        <c:spPr>
          <a:noFill/>
          <a:ln w="3175">
            <a:solidFill>
              <a:srgbClr val="173867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defRPr>
            </a:pPr>
            <a:endParaRPr lang="ko-Kore-KR"/>
          </a:p>
        </c:txPr>
        <c:crossAx val="945368623"/>
        <c:crosses val="max"/>
        <c:crossBetween val="between"/>
        <c:majorUnit val="0.15000000000000002"/>
      </c:valAx>
      <c:catAx>
        <c:axId val="94536862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94536367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ko-Kore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rgbClr val="8FAAD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62A-4D0E-840C-732A2632C896}"/>
              </c:ext>
            </c:extLst>
          </c:dPt>
          <c:dPt>
            <c:idx val="1"/>
            <c:bubble3D val="0"/>
            <c:spPr>
              <a:solidFill>
                <a:srgbClr val="20386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62A-4D0E-840C-732A2632C896}"/>
              </c:ext>
            </c:extLst>
          </c:dPt>
          <c:dPt>
            <c:idx val="2"/>
            <c:bubble3D val="0"/>
            <c:spPr>
              <a:solidFill>
                <a:srgbClr val="D0CEC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62A-4D0E-840C-732A2632C896}"/>
              </c:ext>
            </c:extLst>
          </c:dPt>
          <c:dPt>
            <c:idx val="3"/>
            <c:bubble3D val="0"/>
            <c:spPr>
              <a:solidFill>
                <a:srgbClr val="2F5597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E62A-4D0E-840C-732A2632C896}"/>
              </c:ext>
            </c:extLst>
          </c:dPt>
          <c:dLbls>
            <c:dLbl>
              <c:idx val="0"/>
              <c:layout>
                <c:manualLayout>
                  <c:x val="-5.5064620717476802E-2"/>
                  <c:y val="0.12559101654846336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62A-4D0E-840C-732A2632C896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bg1"/>
                      </a:solidFill>
                      <a:latin typeface="KoPubWorldDotum Medium" pitchFamily="2" charset="-127"/>
                      <a:ea typeface="KoPubWorldDotum Medium" pitchFamily="2" charset="-127"/>
                      <a:cs typeface="KoPubWorldDotum Medium" pitchFamily="2" charset="-127"/>
                    </a:defRPr>
                  </a:pPr>
                  <a:endParaRPr lang="ko-Kore-KR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62A-4D0E-840C-732A2632C896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bg1"/>
                      </a:solidFill>
                      <a:latin typeface="KoPubWorldDotum Medium" pitchFamily="2" charset="-127"/>
                      <a:ea typeface="KoPubWorldDotum Medium" pitchFamily="2" charset="-127"/>
                      <a:cs typeface="KoPubWorldDotum Medium" pitchFamily="2" charset="-127"/>
                    </a:defRPr>
                  </a:pPr>
                  <a:endParaRPr lang="ko-Kore-KR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62A-4D0E-840C-732A2632C89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/>
                    </a:solidFill>
                    <a:latin typeface="KoPubWorldDotum Medium" pitchFamily="2" charset="-127"/>
                    <a:ea typeface="KoPubWorldDotum Medium" pitchFamily="2" charset="-127"/>
                    <a:cs typeface="KoPubWorldDotum Medium" pitchFamily="2" charset="-127"/>
                  </a:defRPr>
                </a:pPr>
                <a:endParaRPr lang="ko-Kore-KR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그래프!$B$30:$B$33</c:f>
              <c:strCache>
                <c:ptCount val="4"/>
                <c:pt idx="0">
                  <c:v>국내</c:v>
                </c:pt>
                <c:pt idx="1">
                  <c:v>미국</c:v>
                </c:pt>
                <c:pt idx="2">
                  <c:v>유럽</c:v>
                </c:pt>
                <c:pt idx="3">
                  <c:v>기타</c:v>
                </c:pt>
              </c:strCache>
            </c:strRef>
          </c:cat>
          <c:val>
            <c:numRef>
              <c:f>그래프!$C$30:$C$33</c:f>
              <c:numCache>
                <c:formatCode>0.00%</c:formatCode>
                <c:ptCount val="4"/>
                <c:pt idx="0">
                  <c:v>7.7200000000000005E-2</c:v>
                </c:pt>
                <c:pt idx="1">
                  <c:v>0.4214</c:v>
                </c:pt>
                <c:pt idx="2">
                  <c:v>0.33289999999999997</c:v>
                </c:pt>
                <c:pt idx="3">
                  <c:v>0.1686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62A-4D0E-840C-732A2632C89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ko-Kore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413470258235194"/>
          <c:y val="8.2540695818704102E-2"/>
          <c:w val="0.8301226445185218"/>
          <c:h val="0.7536546441110756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그래프!$C$52</c:f>
              <c:strCache>
                <c:ptCount val="1"/>
                <c:pt idx="0">
                  <c:v>시장규모($B)</c:v>
                </c:pt>
              </c:strCache>
            </c:strRef>
          </c:tx>
          <c:spPr>
            <a:solidFill>
              <a:srgbClr val="203864"/>
            </a:solidFill>
            <a:ln>
              <a:noFill/>
            </a:ln>
            <a:effectLst/>
          </c:spPr>
          <c:invertIfNegative val="0"/>
          <c:cat>
            <c:strRef>
              <c:f>그래프!$B$53:$B$59</c:f>
              <c:strCache>
                <c:ptCount val="7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2025E</c:v>
                </c:pt>
                <c:pt idx="4">
                  <c:v>2026E</c:v>
                </c:pt>
                <c:pt idx="5">
                  <c:v>2027E</c:v>
                </c:pt>
                <c:pt idx="6">
                  <c:v>2028E</c:v>
                </c:pt>
              </c:strCache>
            </c:strRef>
          </c:cat>
          <c:val>
            <c:numRef>
              <c:f>그래프!$C$53:$C$59</c:f>
              <c:numCache>
                <c:formatCode>General</c:formatCode>
                <c:ptCount val="7"/>
                <c:pt idx="0">
                  <c:v>29.92</c:v>
                </c:pt>
                <c:pt idx="1">
                  <c:v>40</c:v>
                </c:pt>
                <c:pt idx="2">
                  <c:v>50</c:v>
                </c:pt>
                <c:pt idx="3">
                  <c:v>60</c:v>
                </c:pt>
                <c:pt idx="4">
                  <c:v>68</c:v>
                </c:pt>
                <c:pt idx="5">
                  <c:v>75</c:v>
                </c:pt>
                <c:pt idx="6">
                  <c:v>80.47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DE1-4836-A7E2-E5AFE301C0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19996112"/>
        <c:axId val="419997824"/>
      </c:barChart>
      <c:catAx>
        <c:axId val="419996112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extTo"/>
        <c:spPr>
          <a:noFill/>
          <a:ln w="31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endParaRPr lang="ko-Kore-KR"/>
          </a:p>
        </c:txPr>
        <c:crossAx val="419997824"/>
        <c:crosses val="autoZero"/>
        <c:auto val="1"/>
        <c:lblAlgn val="ctr"/>
        <c:lblOffset val="100"/>
        <c:noMultiLvlLbl val="0"/>
      </c:catAx>
      <c:valAx>
        <c:axId val="419997824"/>
        <c:scaling>
          <c:orientation val="minMax"/>
          <c:max val="100"/>
          <c:min val="20"/>
        </c:scaling>
        <c:delete val="0"/>
        <c:axPos val="l"/>
        <c:numFmt formatCode="General" sourceLinked="1"/>
        <c:majorTickMark val="in"/>
        <c:minorTickMark val="none"/>
        <c:tickLblPos val="nextTo"/>
        <c:spPr>
          <a:noFill/>
          <a:ln w="3175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endParaRPr lang="ko-Kore-KR"/>
          </a:p>
        </c:txPr>
        <c:crossAx val="4199961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>
          <a:solidFill>
            <a:sysClr val="windowText" lastClr="000000"/>
          </a:solidFill>
          <a:latin typeface="KoPubWorld돋움체 Medium" panose="00000600000000000000" pitchFamily="2" charset="-127"/>
          <a:ea typeface="KoPubWorld돋움체 Medium" panose="00000600000000000000" pitchFamily="2" charset="-127"/>
          <a:cs typeface="KoPubWorld돋움체 Medium" panose="00000600000000000000" pitchFamily="2" charset="-127"/>
        </a:defRPr>
      </a:pPr>
      <a:endParaRPr lang="ko-Kore-KR"/>
    </a:p>
  </c:txPr>
  <c:externalData r:id="rId3">
    <c:autoUpdate val="0"/>
  </c:externalData>
  <c:userShapes r:id="rId4"/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4281747704836462"/>
          <c:y val="0.18974224674243884"/>
          <c:w val="0.51436504590327081"/>
          <c:h val="0.78808480425534388"/>
        </c:manualLayout>
      </c:layout>
      <c:pieChart>
        <c:varyColors val="1"/>
        <c:ser>
          <c:idx val="0"/>
          <c:order val="0"/>
          <c:spPr>
            <a:solidFill>
              <a:srgbClr val="D0CECE"/>
            </a:solidFill>
          </c:spPr>
          <c:dPt>
            <c:idx val="0"/>
            <c:bubble3D val="0"/>
            <c:spPr>
              <a:solidFill>
                <a:srgbClr val="D0CECE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B07-4989-80AB-AE8FF812E4D6}"/>
              </c:ext>
            </c:extLst>
          </c:dPt>
          <c:dPt>
            <c:idx val="1"/>
            <c:bubble3D val="0"/>
            <c:spPr>
              <a:solidFill>
                <a:srgbClr val="173867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B07-4989-80AB-AE8FF812E4D6}"/>
              </c:ext>
            </c:extLst>
          </c:dPt>
          <c:dLbls>
            <c:dLbl>
              <c:idx val="0"/>
              <c:dLblPos val="ctr"/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25765442686000883"/>
                      <c:h val="0.4273548387096774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4B07-4989-80AB-AE8FF812E4D6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bg1"/>
                      </a:solidFill>
                      <a:latin typeface="KoPubWorld돋움체 Medium" panose="00000600000000000000" pitchFamily="2" charset="-127"/>
                      <a:ea typeface="KoPubWorld돋움체 Medium" panose="00000600000000000000" pitchFamily="2" charset="-127"/>
                      <a:cs typeface="KoPubWorld돋움체 Medium" panose="00000600000000000000" pitchFamily="2" charset="-127"/>
                    </a:defRPr>
                  </a:pPr>
                  <a:endParaRPr lang="ko-Kore-KR"/>
                </a:p>
              </c:txPr>
              <c:dLblPos val="ctr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B07-4989-80AB-AE8FF812E4D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/>
                    </a:solidFill>
                    <a:latin typeface="KoPubWorld돋움체 Medium" panose="00000600000000000000" pitchFamily="2" charset="-127"/>
                    <a:ea typeface="KoPubWorld돋움체 Medium" panose="00000600000000000000" pitchFamily="2" charset="-127"/>
                    <a:cs typeface="KoPubWorld돋움체 Medium" panose="00000600000000000000" pitchFamily="2" charset="-127"/>
                  </a:defRPr>
                </a:pPr>
                <a:endParaRPr lang="ko-Kore-KR"/>
              </a:p>
            </c:txPr>
            <c:dLblPos val="ctr"/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그래프!$B$64:$B$65</c:f>
              <c:strCache>
                <c:ptCount val="2"/>
                <c:pt idx="0">
                  <c:v>MAXAR &amp; Airbus</c:v>
                </c:pt>
                <c:pt idx="1">
                  <c:v>Others</c:v>
                </c:pt>
              </c:strCache>
            </c:strRef>
          </c:cat>
          <c:val>
            <c:numRef>
              <c:f>그래프!$C$64:$C$65</c:f>
              <c:numCache>
                <c:formatCode>0%</c:formatCode>
                <c:ptCount val="2"/>
                <c:pt idx="0">
                  <c:v>0.42</c:v>
                </c:pt>
                <c:pt idx="1">
                  <c:v>0.57999999999999996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B07-4989-80AB-AE8FF812E4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3378078703703706"/>
          <c:y val="2.5016776342140203E-2"/>
          <c:w val="0.33243819444444445"/>
          <c:h val="0.1570725250134933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ysClr val="windowText" lastClr="0000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ko-Kore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600893521965748"/>
          <c:y val="8.0679750160708899E-2"/>
          <c:w val="0.83231571109456437"/>
          <c:h val="0.80770161045196387"/>
        </c:manualLayout>
      </c:layout>
      <c:scatterChart>
        <c:scatterStyle val="lineMarker"/>
        <c:varyColors val="0"/>
        <c:ser>
          <c:idx val="0"/>
          <c:order val="0"/>
          <c:tx>
            <c:strRef>
              <c:f>그래프!$C$82</c:f>
              <c:strCache>
                <c:ptCount val="1"/>
                <c:pt idx="0">
                  <c:v>Electricity consumption (TWh)</c:v>
                </c:pt>
              </c:strCache>
            </c:strRef>
          </c:tx>
          <c:spPr>
            <a:ln w="19050" cap="rnd">
              <a:solidFill>
                <a:srgbClr val="173867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73867"/>
              </a:solidFill>
              <a:ln w="9525">
                <a:solidFill>
                  <a:srgbClr val="173867"/>
                </a:solidFill>
              </a:ln>
              <a:effectLst/>
            </c:spPr>
          </c:marker>
          <c:dPt>
            <c:idx val="3"/>
            <c:marker>
              <c:symbol val="circle"/>
              <c:size val="5"/>
              <c:spPr>
                <a:solidFill>
                  <a:srgbClr val="173867"/>
                </a:solidFill>
                <a:ln w="9525">
                  <a:solidFill>
                    <a:srgbClr val="173867"/>
                  </a:solidFill>
                </a:ln>
                <a:effectLst/>
              </c:spPr>
            </c:marker>
            <c:bubble3D val="0"/>
            <c:spPr>
              <a:ln w="19050" cap="rnd">
                <a:solidFill>
                  <a:srgbClr val="173867"/>
                </a:solidFill>
                <a:prstDash val="sysDot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F494-4432-B92C-7001376FF51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/>
                    </a:solidFill>
                    <a:latin typeface="KoPubWorldDotum Medium" pitchFamily="2" charset="-127"/>
                    <a:ea typeface="KoPubWorldDotum Medium" pitchFamily="2" charset="-127"/>
                    <a:cs typeface="KoPubWorldDotum Medium" pitchFamily="2" charset="-127"/>
                  </a:defRPr>
                </a:pPr>
                <a:endParaRPr lang="ko-Kore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그래프!$B$83:$B$86</c:f>
              <c:numCache>
                <c:formatCode>General</c:formatCode>
                <c:ptCount val="4"/>
                <c:pt idx="0">
                  <c:v>2020</c:v>
                </c:pt>
                <c:pt idx="1">
                  <c:v>2023</c:v>
                </c:pt>
                <c:pt idx="2">
                  <c:v>2024</c:v>
                </c:pt>
                <c:pt idx="3">
                  <c:v>2030</c:v>
                </c:pt>
              </c:numCache>
            </c:numRef>
          </c:xVal>
          <c:yVal>
            <c:numRef>
              <c:f>그래프!$C$83:$C$86</c:f>
              <c:numCache>
                <c:formatCode>General</c:formatCode>
                <c:ptCount val="4"/>
                <c:pt idx="0">
                  <c:v>108</c:v>
                </c:pt>
                <c:pt idx="1">
                  <c:v>154</c:v>
                </c:pt>
                <c:pt idx="2">
                  <c:v>183</c:v>
                </c:pt>
                <c:pt idx="3">
                  <c:v>426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F494-4432-B92C-7001376FF5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20162432"/>
        <c:axId val="420164144"/>
      </c:scatterChart>
      <c:valAx>
        <c:axId val="420162432"/>
        <c:scaling>
          <c:orientation val="minMax"/>
          <c:max val="2031"/>
          <c:min val="2018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31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defRPr>
            </a:pPr>
            <a:endParaRPr lang="ko-Kore-KR"/>
          </a:p>
        </c:txPr>
        <c:crossAx val="420164144"/>
        <c:crosses val="autoZero"/>
        <c:crossBetween val="midCat"/>
      </c:valAx>
      <c:valAx>
        <c:axId val="420164144"/>
        <c:scaling>
          <c:orientation val="minMax"/>
          <c:max val="450"/>
        </c:scaling>
        <c:delete val="0"/>
        <c:axPos val="l"/>
        <c:numFmt formatCode="General" sourceLinked="1"/>
        <c:majorTickMark val="in"/>
        <c:minorTickMark val="none"/>
        <c:tickLblPos val="nextTo"/>
        <c:spPr>
          <a:noFill/>
          <a:ln w="31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defRPr>
            </a:pPr>
            <a:endParaRPr lang="ko-Kore-KR"/>
          </a:p>
        </c:txPr>
        <c:crossAx val="420162432"/>
        <c:crosses val="autoZero"/>
        <c:crossBetween val="midCat"/>
        <c:majorUnit val="150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ko-Kore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195913971320599"/>
          <c:y val="4.3853737248958864E-2"/>
          <c:w val="0.79064797914571794"/>
          <c:h val="0.85519248833092276"/>
        </c:manualLayout>
      </c:layout>
      <c:lineChart>
        <c:grouping val="standard"/>
        <c:varyColors val="0"/>
        <c:ser>
          <c:idx val="0"/>
          <c:order val="0"/>
          <c:spPr>
            <a:ln w="22225" cap="rnd">
              <a:solidFill>
                <a:srgbClr val="203864"/>
              </a:solidFill>
              <a:round/>
            </a:ln>
            <a:effectLst/>
          </c:spPr>
          <c:marker>
            <c:symbol val="none"/>
          </c:marker>
          <c:cat>
            <c:numRef>
              <c:f>'099320 과거 데이터'!$A$2:$A$245</c:f>
              <c:numCache>
                <c:formatCode>m/d/yyyy</c:formatCode>
                <c:ptCount val="244"/>
                <c:pt idx="0">
                  <c:v>45603</c:v>
                </c:pt>
                <c:pt idx="1">
                  <c:v>45604</c:v>
                </c:pt>
                <c:pt idx="2">
                  <c:v>45607</c:v>
                </c:pt>
                <c:pt idx="3">
                  <c:v>45608</c:v>
                </c:pt>
                <c:pt idx="4">
                  <c:v>45609</c:v>
                </c:pt>
                <c:pt idx="5">
                  <c:v>45610</c:v>
                </c:pt>
                <c:pt idx="6">
                  <c:v>45611</c:v>
                </c:pt>
                <c:pt idx="7">
                  <c:v>45614</c:v>
                </c:pt>
                <c:pt idx="8">
                  <c:v>45615</c:v>
                </c:pt>
                <c:pt idx="9">
                  <c:v>45616</c:v>
                </c:pt>
                <c:pt idx="10">
                  <c:v>45617</c:v>
                </c:pt>
                <c:pt idx="11">
                  <c:v>45618</c:v>
                </c:pt>
                <c:pt idx="12">
                  <c:v>45621</c:v>
                </c:pt>
                <c:pt idx="13">
                  <c:v>45622</c:v>
                </c:pt>
                <c:pt idx="14">
                  <c:v>45623</c:v>
                </c:pt>
                <c:pt idx="15">
                  <c:v>45624</c:v>
                </c:pt>
                <c:pt idx="16">
                  <c:v>45625</c:v>
                </c:pt>
                <c:pt idx="17">
                  <c:v>45628</c:v>
                </c:pt>
                <c:pt idx="18">
                  <c:v>45629</c:v>
                </c:pt>
                <c:pt idx="19">
                  <c:v>45630</c:v>
                </c:pt>
                <c:pt idx="20">
                  <c:v>45631</c:v>
                </c:pt>
                <c:pt idx="21">
                  <c:v>45632</c:v>
                </c:pt>
                <c:pt idx="22">
                  <c:v>45635</c:v>
                </c:pt>
                <c:pt idx="23">
                  <c:v>45636</c:v>
                </c:pt>
                <c:pt idx="24">
                  <c:v>45637</c:v>
                </c:pt>
                <c:pt idx="25">
                  <c:v>45638</c:v>
                </c:pt>
                <c:pt idx="26">
                  <c:v>45639</c:v>
                </c:pt>
                <c:pt idx="27">
                  <c:v>45642</c:v>
                </c:pt>
                <c:pt idx="28">
                  <c:v>45643</c:v>
                </c:pt>
                <c:pt idx="29">
                  <c:v>45644</c:v>
                </c:pt>
                <c:pt idx="30">
                  <c:v>45645</c:v>
                </c:pt>
                <c:pt idx="31">
                  <c:v>45646</c:v>
                </c:pt>
                <c:pt idx="32">
                  <c:v>45649</c:v>
                </c:pt>
                <c:pt idx="33">
                  <c:v>45650</c:v>
                </c:pt>
                <c:pt idx="34">
                  <c:v>45652</c:v>
                </c:pt>
                <c:pt idx="35">
                  <c:v>45653</c:v>
                </c:pt>
                <c:pt idx="36">
                  <c:v>45656</c:v>
                </c:pt>
                <c:pt idx="37">
                  <c:v>45659</c:v>
                </c:pt>
                <c:pt idx="38">
                  <c:v>45660</c:v>
                </c:pt>
                <c:pt idx="39">
                  <c:v>45663</c:v>
                </c:pt>
                <c:pt idx="40">
                  <c:v>45664</c:v>
                </c:pt>
                <c:pt idx="41">
                  <c:v>45665</c:v>
                </c:pt>
                <c:pt idx="42">
                  <c:v>45666</c:v>
                </c:pt>
                <c:pt idx="43">
                  <c:v>45667</c:v>
                </c:pt>
                <c:pt idx="44">
                  <c:v>45670</c:v>
                </c:pt>
                <c:pt idx="45">
                  <c:v>45671</c:v>
                </c:pt>
                <c:pt idx="46">
                  <c:v>45672</c:v>
                </c:pt>
                <c:pt idx="47">
                  <c:v>45673</c:v>
                </c:pt>
                <c:pt idx="48">
                  <c:v>45674</c:v>
                </c:pt>
                <c:pt idx="49">
                  <c:v>45677</c:v>
                </c:pt>
                <c:pt idx="50">
                  <c:v>45678</c:v>
                </c:pt>
                <c:pt idx="51">
                  <c:v>45679</c:v>
                </c:pt>
                <c:pt idx="52">
                  <c:v>45680</c:v>
                </c:pt>
                <c:pt idx="53">
                  <c:v>45681</c:v>
                </c:pt>
                <c:pt idx="54">
                  <c:v>45688</c:v>
                </c:pt>
                <c:pt idx="55">
                  <c:v>45691</c:v>
                </c:pt>
                <c:pt idx="56">
                  <c:v>45692</c:v>
                </c:pt>
                <c:pt idx="57">
                  <c:v>45693</c:v>
                </c:pt>
                <c:pt idx="58">
                  <c:v>45694</c:v>
                </c:pt>
                <c:pt idx="59">
                  <c:v>45695</c:v>
                </c:pt>
                <c:pt idx="60">
                  <c:v>45698</c:v>
                </c:pt>
                <c:pt idx="61">
                  <c:v>45699</c:v>
                </c:pt>
                <c:pt idx="62">
                  <c:v>45700</c:v>
                </c:pt>
                <c:pt idx="63">
                  <c:v>45701</c:v>
                </c:pt>
                <c:pt idx="64">
                  <c:v>45702</c:v>
                </c:pt>
                <c:pt idx="65">
                  <c:v>45705</c:v>
                </c:pt>
                <c:pt idx="66">
                  <c:v>45706</c:v>
                </c:pt>
                <c:pt idx="67">
                  <c:v>45707</c:v>
                </c:pt>
                <c:pt idx="68">
                  <c:v>45708</c:v>
                </c:pt>
                <c:pt idx="69">
                  <c:v>45709</c:v>
                </c:pt>
                <c:pt idx="70">
                  <c:v>45712</c:v>
                </c:pt>
                <c:pt idx="71">
                  <c:v>45713</c:v>
                </c:pt>
                <c:pt idx="72">
                  <c:v>45714</c:v>
                </c:pt>
                <c:pt idx="73">
                  <c:v>45715</c:v>
                </c:pt>
                <c:pt idx="74">
                  <c:v>45716</c:v>
                </c:pt>
                <c:pt idx="75">
                  <c:v>45720</c:v>
                </c:pt>
                <c:pt idx="76">
                  <c:v>45721</c:v>
                </c:pt>
                <c:pt idx="77">
                  <c:v>45722</c:v>
                </c:pt>
                <c:pt idx="78">
                  <c:v>45723</c:v>
                </c:pt>
                <c:pt idx="79">
                  <c:v>45726</c:v>
                </c:pt>
                <c:pt idx="80">
                  <c:v>45727</c:v>
                </c:pt>
                <c:pt idx="81">
                  <c:v>45728</c:v>
                </c:pt>
                <c:pt idx="82">
                  <c:v>45729</c:v>
                </c:pt>
                <c:pt idx="83">
                  <c:v>45730</c:v>
                </c:pt>
                <c:pt idx="84">
                  <c:v>45733</c:v>
                </c:pt>
                <c:pt idx="85">
                  <c:v>45734</c:v>
                </c:pt>
                <c:pt idx="86">
                  <c:v>45735</c:v>
                </c:pt>
                <c:pt idx="87">
                  <c:v>45736</c:v>
                </c:pt>
                <c:pt idx="88">
                  <c:v>45737</c:v>
                </c:pt>
                <c:pt idx="89">
                  <c:v>45740</c:v>
                </c:pt>
                <c:pt idx="90">
                  <c:v>45741</c:v>
                </c:pt>
                <c:pt idx="91">
                  <c:v>45742</c:v>
                </c:pt>
                <c:pt idx="92">
                  <c:v>45743</c:v>
                </c:pt>
                <c:pt idx="93">
                  <c:v>45744</c:v>
                </c:pt>
                <c:pt idx="94">
                  <c:v>45747</c:v>
                </c:pt>
                <c:pt idx="95">
                  <c:v>45748</c:v>
                </c:pt>
                <c:pt idx="96">
                  <c:v>45749</c:v>
                </c:pt>
                <c:pt idx="97">
                  <c:v>45750</c:v>
                </c:pt>
                <c:pt idx="98">
                  <c:v>45751</c:v>
                </c:pt>
                <c:pt idx="99">
                  <c:v>45754</c:v>
                </c:pt>
                <c:pt idx="100">
                  <c:v>45755</c:v>
                </c:pt>
                <c:pt idx="101">
                  <c:v>45756</c:v>
                </c:pt>
                <c:pt idx="102">
                  <c:v>45757</c:v>
                </c:pt>
                <c:pt idx="103">
                  <c:v>45758</c:v>
                </c:pt>
                <c:pt idx="104">
                  <c:v>45761</c:v>
                </c:pt>
                <c:pt idx="105">
                  <c:v>45762</c:v>
                </c:pt>
                <c:pt idx="106">
                  <c:v>45763</c:v>
                </c:pt>
                <c:pt idx="107">
                  <c:v>45764</c:v>
                </c:pt>
                <c:pt idx="108">
                  <c:v>45765</c:v>
                </c:pt>
                <c:pt idx="109">
                  <c:v>45768</c:v>
                </c:pt>
                <c:pt idx="110">
                  <c:v>45769</c:v>
                </c:pt>
                <c:pt idx="111">
                  <c:v>45770</c:v>
                </c:pt>
                <c:pt idx="112">
                  <c:v>45771</c:v>
                </c:pt>
                <c:pt idx="113">
                  <c:v>45772</c:v>
                </c:pt>
                <c:pt idx="114">
                  <c:v>45775</c:v>
                </c:pt>
                <c:pt idx="115">
                  <c:v>45776</c:v>
                </c:pt>
                <c:pt idx="116">
                  <c:v>45777</c:v>
                </c:pt>
                <c:pt idx="117">
                  <c:v>45779</c:v>
                </c:pt>
                <c:pt idx="118">
                  <c:v>45784</c:v>
                </c:pt>
                <c:pt idx="119">
                  <c:v>45785</c:v>
                </c:pt>
                <c:pt idx="120">
                  <c:v>45786</c:v>
                </c:pt>
                <c:pt idx="121">
                  <c:v>45789</c:v>
                </c:pt>
                <c:pt idx="122">
                  <c:v>45790</c:v>
                </c:pt>
                <c:pt idx="123">
                  <c:v>45791</c:v>
                </c:pt>
                <c:pt idx="124">
                  <c:v>45792</c:v>
                </c:pt>
                <c:pt idx="125">
                  <c:v>45793</c:v>
                </c:pt>
                <c:pt idx="126">
                  <c:v>45796</c:v>
                </c:pt>
                <c:pt idx="127">
                  <c:v>45797</c:v>
                </c:pt>
                <c:pt idx="128">
                  <c:v>45798</c:v>
                </c:pt>
                <c:pt idx="129">
                  <c:v>45799</c:v>
                </c:pt>
                <c:pt idx="130">
                  <c:v>45800</c:v>
                </c:pt>
                <c:pt idx="131">
                  <c:v>45803</c:v>
                </c:pt>
                <c:pt idx="132">
                  <c:v>45804</c:v>
                </c:pt>
                <c:pt idx="133">
                  <c:v>45805</c:v>
                </c:pt>
                <c:pt idx="134">
                  <c:v>45806</c:v>
                </c:pt>
                <c:pt idx="135">
                  <c:v>45807</c:v>
                </c:pt>
                <c:pt idx="136">
                  <c:v>45810</c:v>
                </c:pt>
                <c:pt idx="137">
                  <c:v>45812</c:v>
                </c:pt>
                <c:pt idx="138">
                  <c:v>45813</c:v>
                </c:pt>
                <c:pt idx="139">
                  <c:v>45817</c:v>
                </c:pt>
                <c:pt idx="140">
                  <c:v>45818</c:v>
                </c:pt>
                <c:pt idx="141">
                  <c:v>45819</c:v>
                </c:pt>
                <c:pt idx="142">
                  <c:v>45820</c:v>
                </c:pt>
                <c:pt idx="143">
                  <c:v>45821</c:v>
                </c:pt>
                <c:pt idx="144">
                  <c:v>45824</c:v>
                </c:pt>
                <c:pt idx="145">
                  <c:v>45825</c:v>
                </c:pt>
                <c:pt idx="146">
                  <c:v>45826</c:v>
                </c:pt>
                <c:pt idx="147">
                  <c:v>45827</c:v>
                </c:pt>
                <c:pt idx="148">
                  <c:v>45828</c:v>
                </c:pt>
                <c:pt idx="149">
                  <c:v>45831</c:v>
                </c:pt>
                <c:pt idx="150">
                  <c:v>45832</c:v>
                </c:pt>
                <c:pt idx="151">
                  <c:v>45833</c:v>
                </c:pt>
                <c:pt idx="152">
                  <c:v>45834</c:v>
                </c:pt>
                <c:pt idx="153">
                  <c:v>45835</c:v>
                </c:pt>
                <c:pt idx="154">
                  <c:v>45838</c:v>
                </c:pt>
                <c:pt idx="155">
                  <c:v>45839</c:v>
                </c:pt>
                <c:pt idx="156">
                  <c:v>45840</c:v>
                </c:pt>
                <c:pt idx="157">
                  <c:v>45841</c:v>
                </c:pt>
                <c:pt idx="158">
                  <c:v>45842</c:v>
                </c:pt>
                <c:pt idx="159">
                  <c:v>45845</c:v>
                </c:pt>
                <c:pt idx="160">
                  <c:v>45846</c:v>
                </c:pt>
                <c:pt idx="161">
                  <c:v>45847</c:v>
                </c:pt>
                <c:pt idx="162">
                  <c:v>45848</c:v>
                </c:pt>
                <c:pt idx="163">
                  <c:v>45849</c:v>
                </c:pt>
                <c:pt idx="164">
                  <c:v>45852</c:v>
                </c:pt>
                <c:pt idx="165">
                  <c:v>45853</c:v>
                </c:pt>
                <c:pt idx="166">
                  <c:v>45854</c:v>
                </c:pt>
                <c:pt idx="167">
                  <c:v>45855</c:v>
                </c:pt>
                <c:pt idx="168">
                  <c:v>45856</c:v>
                </c:pt>
                <c:pt idx="169">
                  <c:v>45859</c:v>
                </c:pt>
                <c:pt idx="170">
                  <c:v>45860</c:v>
                </c:pt>
                <c:pt idx="171">
                  <c:v>45861</c:v>
                </c:pt>
                <c:pt idx="172">
                  <c:v>45862</c:v>
                </c:pt>
                <c:pt idx="173">
                  <c:v>45863</c:v>
                </c:pt>
                <c:pt idx="174">
                  <c:v>45866</c:v>
                </c:pt>
                <c:pt idx="175">
                  <c:v>45867</c:v>
                </c:pt>
                <c:pt idx="176">
                  <c:v>45868</c:v>
                </c:pt>
                <c:pt idx="177">
                  <c:v>45869</c:v>
                </c:pt>
                <c:pt idx="178">
                  <c:v>45870</c:v>
                </c:pt>
                <c:pt idx="179">
                  <c:v>45873</c:v>
                </c:pt>
                <c:pt idx="180">
                  <c:v>45874</c:v>
                </c:pt>
                <c:pt idx="181">
                  <c:v>45875</c:v>
                </c:pt>
                <c:pt idx="182">
                  <c:v>45876</c:v>
                </c:pt>
                <c:pt idx="183">
                  <c:v>45877</c:v>
                </c:pt>
                <c:pt idx="184">
                  <c:v>45880</c:v>
                </c:pt>
                <c:pt idx="185">
                  <c:v>45881</c:v>
                </c:pt>
                <c:pt idx="186">
                  <c:v>45882</c:v>
                </c:pt>
                <c:pt idx="187">
                  <c:v>45883</c:v>
                </c:pt>
                <c:pt idx="188">
                  <c:v>45887</c:v>
                </c:pt>
                <c:pt idx="189">
                  <c:v>45888</c:v>
                </c:pt>
                <c:pt idx="190">
                  <c:v>45889</c:v>
                </c:pt>
                <c:pt idx="191">
                  <c:v>45890</c:v>
                </c:pt>
                <c:pt idx="192">
                  <c:v>45891</c:v>
                </c:pt>
                <c:pt idx="193">
                  <c:v>45894</c:v>
                </c:pt>
                <c:pt idx="194">
                  <c:v>45895</c:v>
                </c:pt>
                <c:pt idx="195">
                  <c:v>45896</c:v>
                </c:pt>
                <c:pt idx="196">
                  <c:v>45897</c:v>
                </c:pt>
                <c:pt idx="197">
                  <c:v>45898</c:v>
                </c:pt>
                <c:pt idx="198">
                  <c:v>45901</c:v>
                </c:pt>
                <c:pt idx="199">
                  <c:v>45902</c:v>
                </c:pt>
                <c:pt idx="200">
                  <c:v>45903</c:v>
                </c:pt>
                <c:pt idx="201">
                  <c:v>45904</c:v>
                </c:pt>
                <c:pt idx="202">
                  <c:v>45905</c:v>
                </c:pt>
                <c:pt idx="203">
                  <c:v>45908</c:v>
                </c:pt>
                <c:pt idx="204">
                  <c:v>45909</c:v>
                </c:pt>
                <c:pt idx="205">
                  <c:v>45910</c:v>
                </c:pt>
                <c:pt idx="206">
                  <c:v>45911</c:v>
                </c:pt>
                <c:pt idx="207">
                  <c:v>45912</c:v>
                </c:pt>
                <c:pt idx="208">
                  <c:v>45915</c:v>
                </c:pt>
                <c:pt idx="209">
                  <c:v>45916</c:v>
                </c:pt>
                <c:pt idx="210">
                  <c:v>45917</c:v>
                </c:pt>
                <c:pt idx="211">
                  <c:v>45918</c:v>
                </c:pt>
                <c:pt idx="212">
                  <c:v>45919</c:v>
                </c:pt>
                <c:pt idx="213">
                  <c:v>45922</c:v>
                </c:pt>
                <c:pt idx="214">
                  <c:v>45923</c:v>
                </c:pt>
                <c:pt idx="215">
                  <c:v>45924</c:v>
                </c:pt>
                <c:pt idx="216">
                  <c:v>45925</c:v>
                </c:pt>
                <c:pt idx="217">
                  <c:v>45926</c:v>
                </c:pt>
                <c:pt idx="218">
                  <c:v>45929</c:v>
                </c:pt>
                <c:pt idx="219">
                  <c:v>45930</c:v>
                </c:pt>
                <c:pt idx="220">
                  <c:v>45931</c:v>
                </c:pt>
                <c:pt idx="221">
                  <c:v>45932</c:v>
                </c:pt>
                <c:pt idx="222">
                  <c:v>45936</c:v>
                </c:pt>
                <c:pt idx="223">
                  <c:v>45940</c:v>
                </c:pt>
                <c:pt idx="224">
                  <c:v>45943</c:v>
                </c:pt>
                <c:pt idx="225">
                  <c:v>45944</c:v>
                </c:pt>
                <c:pt idx="226">
                  <c:v>45945</c:v>
                </c:pt>
                <c:pt idx="227">
                  <c:v>45946</c:v>
                </c:pt>
                <c:pt idx="228">
                  <c:v>45947</c:v>
                </c:pt>
                <c:pt idx="229">
                  <c:v>45950</c:v>
                </c:pt>
                <c:pt idx="230">
                  <c:v>45951</c:v>
                </c:pt>
                <c:pt idx="231">
                  <c:v>45952</c:v>
                </c:pt>
                <c:pt idx="232">
                  <c:v>45953</c:v>
                </c:pt>
                <c:pt idx="233">
                  <c:v>45954</c:v>
                </c:pt>
                <c:pt idx="234">
                  <c:v>45957</c:v>
                </c:pt>
                <c:pt idx="235">
                  <c:v>45958</c:v>
                </c:pt>
                <c:pt idx="236">
                  <c:v>45959</c:v>
                </c:pt>
                <c:pt idx="237">
                  <c:v>45960</c:v>
                </c:pt>
                <c:pt idx="238">
                  <c:v>45961</c:v>
                </c:pt>
                <c:pt idx="239">
                  <c:v>45964</c:v>
                </c:pt>
                <c:pt idx="240">
                  <c:v>45965</c:v>
                </c:pt>
                <c:pt idx="241">
                  <c:v>45966</c:v>
                </c:pt>
                <c:pt idx="242">
                  <c:v>45967</c:v>
                </c:pt>
                <c:pt idx="243">
                  <c:v>45968</c:v>
                </c:pt>
              </c:numCache>
            </c:numRef>
          </c:cat>
          <c:val>
            <c:numRef>
              <c:f>'099320 과거 데이터'!$B$2:$B$245</c:f>
              <c:numCache>
                <c:formatCode>#,##0</c:formatCode>
                <c:ptCount val="244"/>
                <c:pt idx="0">
                  <c:v>48500</c:v>
                </c:pt>
                <c:pt idx="1">
                  <c:v>49600</c:v>
                </c:pt>
                <c:pt idx="2">
                  <c:v>50400</c:v>
                </c:pt>
                <c:pt idx="3">
                  <c:v>48000</c:v>
                </c:pt>
                <c:pt idx="4">
                  <c:v>45200</c:v>
                </c:pt>
                <c:pt idx="5">
                  <c:v>49350</c:v>
                </c:pt>
                <c:pt idx="6">
                  <c:v>49350</c:v>
                </c:pt>
                <c:pt idx="7">
                  <c:v>49850</c:v>
                </c:pt>
                <c:pt idx="8">
                  <c:v>50000</c:v>
                </c:pt>
                <c:pt idx="9">
                  <c:v>46450</c:v>
                </c:pt>
                <c:pt idx="10">
                  <c:v>44500</c:v>
                </c:pt>
                <c:pt idx="11">
                  <c:v>45850</c:v>
                </c:pt>
                <c:pt idx="12">
                  <c:v>47450</c:v>
                </c:pt>
                <c:pt idx="13">
                  <c:v>47050</c:v>
                </c:pt>
                <c:pt idx="14">
                  <c:v>44200</c:v>
                </c:pt>
                <c:pt idx="15">
                  <c:v>44450</c:v>
                </c:pt>
                <c:pt idx="16">
                  <c:v>43800</c:v>
                </c:pt>
                <c:pt idx="17">
                  <c:v>43000</c:v>
                </c:pt>
                <c:pt idx="18">
                  <c:v>43750</c:v>
                </c:pt>
                <c:pt idx="19">
                  <c:v>41900</c:v>
                </c:pt>
                <c:pt idx="20">
                  <c:v>41900</c:v>
                </c:pt>
                <c:pt idx="21">
                  <c:v>40500</c:v>
                </c:pt>
                <c:pt idx="22">
                  <c:v>36300</c:v>
                </c:pt>
                <c:pt idx="23">
                  <c:v>38000</c:v>
                </c:pt>
                <c:pt idx="24">
                  <c:v>39900</c:v>
                </c:pt>
                <c:pt idx="25">
                  <c:v>40850</c:v>
                </c:pt>
                <c:pt idx="26">
                  <c:v>41400</c:v>
                </c:pt>
                <c:pt idx="27">
                  <c:v>41200</c:v>
                </c:pt>
                <c:pt idx="28">
                  <c:v>40600</c:v>
                </c:pt>
                <c:pt idx="29">
                  <c:v>40600</c:v>
                </c:pt>
                <c:pt idx="30">
                  <c:v>40400</c:v>
                </c:pt>
                <c:pt idx="31">
                  <c:v>39300</c:v>
                </c:pt>
                <c:pt idx="32">
                  <c:v>41350</c:v>
                </c:pt>
                <c:pt idx="33">
                  <c:v>40650</c:v>
                </c:pt>
                <c:pt idx="34">
                  <c:v>39650</c:v>
                </c:pt>
                <c:pt idx="35">
                  <c:v>38650</c:v>
                </c:pt>
                <c:pt idx="36">
                  <c:v>40050</c:v>
                </c:pt>
                <c:pt idx="37">
                  <c:v>42700</c:v>
                </c:pt>
                <c:pt idx="38">
                  <c:v>43000</c:v>
                </c:pt>
                <c:pt idx="39">
                  <c:v>43200</c:v>
                </c:pt>
                <c:pt idx="40">
                  <c:v>43450</c:v>
                </c:pt>
                <c:pt idx="41">
                  <c:v>42650</c:v>
                </c:pt>
                <c:pt idx="42">
                  <c:v>43250</c:v>
                </c:pt>
                <c:pt idx="43">
                  <c:v>42650</c:v>
                </c:pt>
                <c:pt idx="44">
                  <c:v>43300</c:v>
                </c:pt>
                <c:pt idx="45">
                  <c:v>44150</c:v>
                </c:pt>
                <c:pt idx="46">
                  <c:v>44200</c:v>
                </c:pt>
                <c:pt idx="47">
                  <c:v>44400</c:v>
                </c:pt>
                <c:pt idx="48">
                  <c:v>43850</c:v>
                </c:pt>
                <c:pt idx="49">
                  <c:v>43150</c:v>
                </c:pt>
                <c:pt idx="50">
                  <c:v>46150</c:v>
                </c:pt>
                <c:pt idx="51">
                  <c:v>48700</c:v>
                </c:pt>
                <c:pt idx="52">
                  <c:v>46400</c:v>
                </c:pt>
                <c:pt idx="53">
                  <c:v>47450</c:v>
                </c:pt>
                <c:pt idx="54">
                  <c:v>45200</c:v>
                </c:pt>
                <c:pt idx="55">
                  <c:v>45250</c:v>
                </c:pt>
                <c:pt idx="56">
                  <c:v>47900</c:v>
                </c:pt>
                <c:pt idx="57">
                  <c:v>48350</c:v>
                </c:pt>
                <c:pt idx="58">
                  <c:v>48400</c:v>
                </c:pt>
                <c:pt idx="59">
                  <c:v>47550</c:v>
                </c:pt>
                <c:pt idx="60">
                  <c:v>47750</c:v>
                </c:pt>
                <c:pt idx="61">
                  <c:v>48550</c:v>
                </c:pt>
                <c:pt idx="62">
                  <c:v>51300</c:v>
                </c:pt>
                <c:pt idx="63">
                  <c:v>51700</c:v>
                </c:pt>
                <c:pt idx="64">
                  <c:v>54000</c:v>
                </c:pt>
                <c:pt idx="65">
                  <c:v>53700</c:v>
                </c:pt>
                <c:pt idx="66">
                  <c:v>58200</c:v>
                </c:pt>
                <c:pt idx="67">
                  <c:v>55700</c:v>
                </c:pt>
                <c:pt idx="68">
                  <c:v>52200</c:v>
                </c:pt>
                <c:pt idx="69">
                  <c:v>53200</c:v>
                </c:pt>
                <c:pt idx="70">
                  <c:v>53700</c:v>
                </c:pt>
                <c:pt idx="71">
                  <c:v>54600</c:v>
                </c:pt>
                <c:pt idx="72">
                  <c:v>53600</c:v>
                </c:pt>
                <c:pt idx="73">
                  <c:v>53000</c:v>
                </c:pt>
                <c:pt idx="74">
                  <c:v>51400</c:v>
                </c:pt>
                <c:pt idx="75">
                  <c:v>53000</c:v>
                </c:pt>
                <c:pt idx="76">
                  <c:v>53200</c:v>
                </c:pt>
                <c:pt idx="77">
                  <c:v>55400</c:v>
                </c:pt>
                <c:pt idx="78">
                  <c:v>55300</c:v>
                </c:pt>
                <c:pt idx="79">
                  <c:v>55400</c:v>
                </c:pt>
                <c:pt idx="80">
                  <c:v>55700</c:v>
                </c:pt>
                <c:pt idx="81">
                  <c:v>53900</c:v>
                </c:pt>
                <c:pt idx="82">
                  <c:v>54900</c:v>
                </c:pt>
                <c:pt idx="83">
                  <c:v>55800</c:v>
                </c:pt>
                <c:pt idx="84">
                  <c:v>56200</c:v>
                </c:pt>
                <c:pt idx="85">
                  <c:v>57200</c:v>
                </c:pt>
                <c:pt idx="86">
                  <c:v>55400</c:v>
                </c:pt>
                <c:pt idx="87">
                  <c:v>51000</c:v>
                </c:pt>
                <c:pt idx="88">
                  <c:v>50000</c:v>
                </c:pt>
                <c:pt idx="89">
                  <c:v>49300</c:v>
                </c:pt>
                <c:pt idx="90">
                  <c:v>47800</c:v>
                </c:pt>
                <c:pt idx="91">
                  <c:v>47700</c:v>
                </c:pt>
                <c:pt idx="92">
                  <c:v>45800</c:v>
                </c:pt>
                <c:pt idx="93">
                  <c:v>44450</c:v>
                </c:pt>
                <c:pt idx="94">
                  <c:v>44200</c:v>
                </c:pt>
                <c:pt idx="95">
                  <c:v>44550</c:v>
                </c:pt>
                <c:pt idx="96">
                  <c:v>44600</c:v>
                </c:pt>
                <c:pt idx="97">
                  <c:v>45000</c:v>
                </c:pt>
                <c:pt idx="98">
                  <c:v>43950</c:v>
                </c:pt>
                <c:pt idx="99">
                  <c:v>39600</c:v>
                </c:pt>
                <c:pt idx="100">
                  <c:v>40600</c:v>
                </c:pt>
                <c:pt idx="101">
                  <c:v>38700</c:v>
                </c:pt>
                <c:pt idx="102">
                  <c:v>42250</c:v>
                </c:pt>
                <c:pt idx="103">
                  <c:v>43200</c:v>
                </c:pt>
                <c:pt idx="104">
                  <c:v>43750</c:v>
                </c:pt>
                <c:pt idx="105">
                  <c:v>43800</c:v>
                </c:pt>
                <c:pt idx="106">
                  <c:v>43450</c:v>
                </c:pt>
                <c:pt idx="107">
                  <c:v>44300</c:v>
                </c:pt>
                <c:pt idx="108">
                  <c:v>43600</c:v>
                </c:pt>
                <c:pt idx="109">
                  <c:v>43800</c:v>
                </c:pt>
                <c:pt idx="110">
                  <c:v>44350</c:v>
                </c:pt>
                <c:pt idx="111">
                  <c:v>44100</c:v>
                </c:pt>
                <c:pt idx="112">
                  <c:v>44400</c:v>
                </c:pt>
                <c:pt idx="113">
                  <c:v>44000</c:v>
                </c:pt>
                <c:pt idx="114">
                  <c:v>43450</c:v>
                </c:pt>
                <c:pt idx="115">
                  <c:v>44550</c:v>
                </c:pt>
                <c:pt idx="116">
                  <c:v>45050</c:v>
                </c:pt>
                <c:pt idx="117">
                  <c:v>47300</c:v>
                </c:pt>
                <c:pt idx="118">
                  <c:v>48800</c:v>
                </c:pt>
                <c:pt idx="119">
                  <c:v>49550</c:v>
                </c:pt>
                <c:pt idx="120">
                  <c:v>48550</c:v>
                </c:pt>
                <c:pt idx="121">
                  <c:v>49050</c:v>
                </c:pt>
                <c:pt idx="122">
                  <c:v>48600</c:v>
                </c:pt>
                <c:pt idx="123">
                  <c:v>49550</c:v>
                </c:pt>
                <c:pt idx="124">
                  <c:v>48600</c:v>
                </c:pt>
                <c:pt idx="125">
                  <c:v>48700</c:v>
                </c:pt>
                <c:pt idx="126">
                  <c:v>46700</c:v>
                </c:pt>
                <c:pt idx="127">
                  <c:v>46400</c:v>
                </c:pt>
                <c:pt idx="128">
                  <c:v>53500</c:v>
                </c:pt>
                <c:pt idx="129">
                  <c:v>52000</c:v>
                </c:pt>
                <c:pt idx="130">
                  <c:v>49900</c:v>
                </c:pt>
                <c:pt idx="131">
                  <c:v>50700</c:v>
                </c:pt>
                <c:pt idx="132">
                  <c:v>50100</c:v>
                </c:pt>
                <c:pt idx="133">
                  <c:v>47650</c:v>
                </c:pt>
                <c:pt idx="134">
                  <c:v>48100</c:v>
                </c:pt>
                <c:pt idx="135">
                  <c:v>48550</c:v>
                </c:pt>
                <c:pt idx="136">
                  <c:v>47450</c:v>
                </c:pt>
                <c:pt idx="137">
                  <c:v>48600</c:v>
                </c:pt>
                <c:pt idx="138">
                  <c:v>48350</c:v>
                </c:pt>
                <c:pt idx="139">
                  <c:v>47400</c:v>
                </c:pt>
                <c:pt idx="140">
                  <c:v>50800</c:v>
                </c:pt>
                <c:pt idx="141">
                  <c:v>50400</c:v>
                </c:pt>
                <c:pt idx="142">
                  <c:v>50400</c:v>
                </c:pt>
                <c:pt idx="143">
                  <c:v>50500</c:v>
                </c:pt>
                <c:pt idx="144">
                  <c:v>50800</c:v>
                </c:pt>
                <c:pt idx="145">
                  <c:v>50400</c:v>
                </c:pt>
                <c:pt idx="146">
                  <c:v>50800</c:v>
                </c:pt>
                <c:pt idx="147">
                  <c:v>51300</c:v>
                </c:pt>
                <c:pt idx="148">
                  <c:v>50300</c:v>
                </c:pt>
                <c:pt idx="149">
                  <c:v>50500</c:v>
                </c:pt>
                <c:pt idx="150">
                  <c:v>49600</c:v>
                </c:pt>
                <c:pt idx="151">
                  <c:v>48900</c:v>
                </c:pt>
                <c:pt idx="152">
                  <c:v>48000</c:v>
                </c:pt>
                <c:pt idx="153">
                  <c:v>47950</c:v>
                </c:pt>
                <c:pt idx="154">
                  <c:v>47500</c:v>
                </c:pt>
                <c:pt idx="155">
                  <c:v>47450</c:v>
                </c:pt>
                <c:pt idx="156">
                  <c:v>46800</c:v>
                </c:pt>
                <c:pt idx="157">
                  <c:v>46450</c:v>
                </c:pt>
                <c:pt idx="158">
                  <c:v>44850</c:v>
                </c:pt>
                <c:pt idx="159">
                  <c:v>45100</c:v>
                </c:pt>
                <c:pt idx="160">
                  <c:v>44950</c:v>
                </c:pt>
                <c:pt idx="161">
                  <c:v>46700</c:v>
                </c:pt>
                <c:pt idx="162">
                  <c:v>46800</c:v>
                </c:pt>
                <c:pt idx="163">
                  <c:v>45350</c:v>
                </c:pt>
                <c:pt idx="164">
                  <c:v>45400</c:v>
                </c:pt>
                <c:pt idx="165">
                  <c:v>45900</c:v>
                </c:pt>
                <c:pt idx="166">
                  <c:v>45500</c:v>
                </c:pt>
                <c:pt idx="167">
                  <c:v>46300</c:v>
                </c:pt>
                <c:pt idx="168">
                  <c:v>46550</c:v>
                </c:pt>
                <c:pt idx="169">
                  <c:v>47700</c:v>
                </c:pt>
                <c:pt idx="170">
                  <c:v>46150</c:v>
                </c:pt>
                <c:pt idx="171">
                  <c:v>45800</c:v>
                </c:pt>
                <c:pt idx="172">
                  <c:v>45750</c:v>
                </c:pt>
                <c:pt idx="173">
                  <c:v>46250</c:v>
                </c:pt>
                <c:pt idx="174">
                  <c:v>46350</c:v>
                </c:pt>
                <c:pt idx="175">
                  <c:v>49200</c:v>
                </c:pt>
                <c:pt idx="176">
                  <c:v>49450</c:v>
                </c:pt>
                <c:pt idx="177">
                  <c:v>48950</c:v>
                </c:pt>
                <c:pt idx="178">
                  <c:v>48900</c:v>
                </c:pt>
                <c:pt idx="179">
                  <c:v>49350</c:v>
                </c:pt>
                <c:pt idx="180">
                  <c:v>51700</c:v>
                </c:pt>
                <c:pt idx="181">
                  <c:v>50800</c:v>
                </c:pt>
                <c:pt idx="182">
                  <c:v>51300</c:v>
                </c:pt>
                <c:pt idx="183">
                  <c:v>49500</c:v>
                </c:pt>
                <c:pt idx="184">
                  <c:v>49500</c:v>
                </c:pt>
                <c:pt idx="185">
                  <c:v>47750</c:v>
                </c:pt>
                <c:pt idx="186">
                  <c:v>47750</c:v>
                </c:pt>
                <c:pt idx="187">
                  <c:v>49250</c:v>
                </c:pt>
                <c:pt idx="188">
                  <c:v>49600</c:v>
                </c:pt>
                <c:pt idx="189">
                  <c:v>47150</c:v>
                </c:pt>
                <c:pt idx="190">
                  <c:v>46300</c:v>
                </c:pt>
                <c:pt idx="191">
                  <c:v>46900</c:v>
                </c:pt>
                <c:pt idx="192">
                  <c:v>50800</c:v>
                </c:pt>
                <c:pt idx="193">
                  <c:v>52900</c:v>
                </c:pt>
                <c:pt idx="194">
                  <c:v>52600</c:v>
                </c:pt>
                <c:pt idx="195">
                  <c:v>51400</c:v>
                </c:pt>
                <c:pt idx="196">
                  <c:v>51100</c:v>
                </c:pt>
                <c:pt idx="197">
                  <c:v>50700</c:v>
                </c:pt>
                <c:pt idx="198">
                  <c:v>51700</c:v>
                </c:pt>
                <c:pt idx="199">
                  <c:v>54000</c:v>
                </c:pt>
                <c:pt idx="200">
                  <c:v>53800</c:v>
                </c:pt>
                <c:pt idx="201">
                  <c:v>53100</c:v>
                </c:pt>
                <c:pt idx="202">
                  <c:v>53800</c:v>
                </c:pt>
                <c:pt idx="203">
                  <c:v>52400</c:v>
                </c:pt>
                <c:pt idx="204">
                  <c:v>51400</c:v>
                </c:pt>
                <c:pt idx="205">
                  <c:v>52400</c:v>
                </c:pt>
                <c:pt idx="206">
                  <c:v>59500</c:v>
                </c:pt>
                <c:pt idx="207">
                  <c:v>58800</c:v>
                </c:pt>
                <c:pt idx="208">
                  <c:v>59500</c:v>
                </c:pt>
                <c:pt idx="209">
                  <c:v>60700</c:v>
                </c:pt>
                <c:pt idx="210">
                  <c:v>63600</c:v>
                </c:pt>
                <c:pt idx="211">
                  <c:v>63500</c:v>
                </c:pt>
                <c:pt idx="212">
                  <c:v>70900</c:v>
                </c:pt>
                <c:pt idx="213">
                  <c:v>70700</c:v>
                </c:pt>
                <c:pt idx="214">
                  <c:v>69900</c:v>
                </c:pt>
                <c:pt idx="215">
                  <c:v>74000</c:v>
                </c:pt>
                <c:pt idx="216">
                  <c:v>71400</c:v>
                </c:pt>
                <c:pt idx="217">
                  <c:v>69900</c:v>
                </c:pt>
                <c:pt idx="218">
                  <c:v>68400</c:v>
                </c:pt>
                <c:pt idx="219">
                  <c:v>68900</c:v>
                </c:pt>
                <c:pt idx="220">
                  <c:v>68800</c:v>
                </c:pt>
                <c:pt idx="221">
                  <c:v>68600</c:v>
                </c:pt>
                <c:pt idx="222">
                  <c:v>68600</c:v>
                </c:pt>
                <c:pt idx="223">
                  <c:v>68500</c:v>
                </c:pt>
                <c:pt idx="224">
                  <c:v>69200</c:v>
                </c:pt>
                <c:pt idx="225">
                  <c:v>67700</c:v>
                </c:pt>
                <c:pt idx="226">
                  <c:v>72500</c:v>
                </c:pt>
                <c:pt idx="227">
                  <c:v>68700</c:v>
                </c:pt>
                <c:pt idx="228">
                  <c:v>61500</c:v>
                </c:pt>
                <c:pt idx="229">
                  <c:v>61600</c:v>
                </c:pt>
                <c:pt idx="230">
                  <c:v>61000</c:v>
                </c:pt>
                <c:pt idx="231">
                  <c:v>60300</c:v>
                </c:pt>
                <c:pt idx="232">
                  <c:v>59100</c:v>
                </c:pt>
                <c:pt idx="233">
                  <c:v>58700</c:v>
                </c:pt>
                <c:pt idx="234">
                  <c:v>60200</c:v>
                </c:pt>
                <c:pt idx="235">
                  <c:v>59200</c:v>
                </c:pt>
                <c:pt idx="236">
                  <c:v>59600</c:v>
                </c:pt>
                <c:pt idx="237">
                  <c:v>59700</c:v>
                </c:pt>
                <c:pt idx="238">
                  <c:v>60300</c:v>
                </c:pt>
                <c:pt idx="239">
                  <c:v>59800</c:v>
                </c:pt>
                <c:pt idx="240">
                  <c:v>57700</c:v>
                </c:pt>
                <c:pt idx="241">
                  <c:v>55100</c:v>
                </c:pt>
                <c:pt idx="242">
                  <c:v>54000</c:v>
                </c:pt>
                <c:pt idx="243">
                  <c:v>53900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A40-42C4-B149-B80FDC94F5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99947760"/>
        <c:axId val="1195719472"/>
      </c:lineChart>
      <c:dateAx>
        <c:axId val="1199947760"/>
        <c:scaling>
          <c:orientation val="minMax"/>
        </c:scaling>
        <c:delete val="0"/>
        <c:axPos val="b"/>
        <c:numFmt formatCode="[$-409]mmm&quot;-&quot;yy;@" sourceLinked="0"/>
        <c:majorTickMark val="in"/>
        <c:minorTickMark val="none"/>
        <c:tickLblPos val="nextTo"/>
        <c:spPr>
          <a:noFill/>
          <a:ln w="31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endParaRPr lang="ko-KR"/>
          </a:p>
        </c:txPr>
        <c:crossAx val="1195719472"/>
        <c:crosses val="autoZero"/>
        <c:auto val="1"/>
        <c:lblOffset val="100"/>
        <c:baseTimeUnit val="days"/>
        <c:majorUnit val="3"/>
        <c:majorTimeUnit val="months"/>
      </c:dateAx>
      <c:valAx>
        <c:axId val="1195719472"/>
        <c:scaling>
          <c:orientation val="minMax"/>
          <c:min val="20000"/>
        </c:scaling>
        <c:delete val="0"/>
        <c:axPos val="l"/>
        <c:numFmt formatCode="#,##0_);[Red]\(#,##0\)" sourceLinked="0"/>
        <c:majorTickMark val="in"/>
        <c:minorTickMark val="none"/>
        <c:tickLblPos val="nextTo"/>
        <c:spPr>
          <a:noFill/>
          <a:ln w="3175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endParaRPr lang="ko-KR"/>
          </a:p>
        </c:txPr>
        <c:crossAx val="1199947760"/>
        <c:crosses val="autoZero"/>
        <c:crossBetween val="between"/>
        <c:majorUnit val="2000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sz="500">
          <a:solidFill>
            <a:schemeClr val="tx1"/>
          </a:solidFill>
          <a:latin typeface="KoPubWorld돋움체 Medium" panose="00000600000000000000" pitchFamily="2" charset="-127"/>
          <a:ea typeface="KoPubWorld돋움체 Medium" panose="00000600000000000000" pitchFamily="2" charset="-127"/>
          <a:cs typeface="KoPubWorld돋움체 Medium" panose="00000600000000000000" pitchFamily="2" charset="-127"/>
        </a:defRPr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881977252843394"/>
          <c:y val="3.2083333333333332E-2"/>
          <c:w val="0.8811802274715661"/>
          <c:h val="0.870148859135133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Sheet1!$F$3</c:f>
              <c:strCache>
                <c:ptCount val="1"/>
                <c:pt idx="0">
                  <c:v>매출(위성부문)</c:v>
                </c:pt>
              </c:strCache>
            </c:strRef>
          </c:tx>
          <c:spPr>
            <a:solidFill>
              <a:srgbClr val="203864"/>
            </a:solidFill>
            <a:ln>
              <a:noFill/>
            </a:ln>
            <a:effectLst/>
          </c:spPr>
          <c:invertIfNegative val="0"/>
          <c:cat>
            <c:strRef>
              <c:f>Sheet1!$G$2:$J$2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1H25</c:v>
                </c:pt>
              </c:strCache>
            </c:strRef>
          </c:cat>
          <c:val>
            <c:numRef>
              <c:f>Sheet1!$G$3:$J$3</c:f>
              <c:numCache>
                <c:formatCode>General</c:formatCode>
                <c:ptCount val="4"/>
                <c:pt idx="0">
                  <c:v>78.199999999999989</c:v>
                </c:pt>
                <c:pt idx="1">
                  <c:v>114.69999999999999</c:v>
                </c:pt>
                <c:pt idx="2">
                  <c:v>162</c:v>
                </c:pt>
                <c:pt idx="3">
                  <c:v>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E4-486B-9DCE-994AFF12C4D7}"/>
            </c:ext>
          </c:extLst>
        </c:ser>
        <c:ser>
          <c:idx val="1"/>
          <c:order val="1"/>
          <c:tx>
            <c:strRef>
              <c:f>Sheet1!$F$4</c:f>
              <c:strCache>
                <c:ptCount val="1"/>
                <c:pt idx="0">
                  <c:v>수주잔고</c:v>
                </c:pt>
              </c:strCache>
            </c:strRef>
          </c:tx>
          <c:spPr>
            <a:solidFill>
              <a:srgbClr val="D0CECE"/>
            </a:solidFill>
            <a:ln>
              <a:noFill/>
            </a:ln>
            <a:effectLst/>
          </c:spPr>
          <c:invertIfNegative val="0"/>
          <c:cat>
            <c:strRef>
              <c:f>Sheet1!$G$2:$J$2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1H25</c:v>
                </c:pt>
              </c:strCache>
            </c:strRef>
          </c:cat>
          <c:val>
            <c:numRef>
              <c:f>Sheet1!$G$4:$J$4</c:f>
              <c:numCache>
                <c:formatCode>General</c:formatCode>
                <c:ptCount val="4"/>
                <c:pt idx="0">
                  <c:v>256</c:v>
                </c:pt>
                <c:pt idx="1">
                  <c:v>353.8</c:v>
                </c:pt>
                <c:pt idx="2">
                  <c:v>511</c:v>
                </c:pt>
                <c:pt idx="3">
                  <c:v>446.2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2E4-486B-9DCE-994AFF12C4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09475584"/>
        <c:axId val="1009463104"/>
      </c:barChart>
      <c:catAx>
        <c:axId val="1009475584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extTo"/>
        <c:spPr>
          <a:noFill/>
          <a:ln w="31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endParaRPr lang="ko-KR"/>
          </a:p>
        </c:txPr>
        <c:crossAx val="1009463104"/>
        <c:crosses val="autoZero"/>
        <c:auto val="1"/>
        <c:lblAlgn val="ctr"/>
        <c:lblOffset val="100"/>
        <c:noMultiLvlLbl val="0"/>
      </c:catAx>
      <c:valAx>
        <c:axId val="1009463104"/>
        <c:scaling>
          <c:orientation val="minMax"/>
          <c:min val="0"/>
        </c:scaling>
        <c:delete val="0"/>
        <c:axPos val="l"/>
        <c:numFmt formatCode="General" sourceLinked="1"/>
        <c:majorTickMark val="in"/>
        <c:minorTickMark val="none"/>
        <c:tickLblPos val="nextTo"/>
        <c:spPr>
          <a:noFill/>
          <a:ln w="3175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endParaRPr lang="ko-KR"/>
          </a:p>
        </c:txPr>
        <c:crossAx val="1009475584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ysClr val="windowText" lastClr="0000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defRPr>
          </a:pPr>
          <a:endParaRPr lang="ko-K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9761255941292764E-2"/>
          <c:y val="0.10191040092704411"/>
          <c:w val="0.83159383629785766"/>
          <c:h val="0.74365541894270182"/>
        </c:manualLayout>
      </c:layout>
      <c:lineChart>
        <c:grouping val="standard"/>
        <c:varyColors val="0"/>
        <c:ser>
          <c:idx val="0"/>
          <c:order val="0"/>
          <c:spPr>
            <a:ln w="22225" cap="rnd">
              <a:solidFill>
                <a:srgbClr val="203864"/>
              </a:solidFill>
              <a:round/>
            </a:ln>
            <a:effectLst/>
          </c:spPr>
          <c:marker>
            <c:symbol val="none"/>
          </c:marker>
          <c:cat>
            <c:numRef>
              <c:f>'PL 과거 데이터'!$A$2:$A$252</c:f>
              <c:numCache>
                <c:formatCode>m/d/yyyy</c:formatCode>
                <c:ptCount val="251"/>
                <c:pt idx="0">
                  <c:v>45602</c:v>
                </c:pt>
                <c:pt idx="1">
                  <c:v>45603</c:v>
                </c:pt>
                <c:pt idx="2">
                  <c:v>45604</c:v>
                </c:pt>
                <c:pt idx="3">
                  <c:v>45607</c:v>
                </c:pt>
                <c:pt idx="4">
                  <c:v>45608</c:v>
                </c:pt>
                <c:pt idx="5">
                  <c:v>45609</c:v>
                </c:pt>
                <c:pt idx="6">
                  <c:v>45610</c:v>
                </c:pt>
                <c:pt idx="7">
                  <c:v>45611</c:v>
                </c:pt>
                <c:pt idx="8">
                  <c:v>45614</c:v>
                </c:pt>
                <c:pt idx="9">
                  <c:v>45615</c:v>
                </c:pt>
                <c:pt idx="10">
                  <c:v>45616</c:v>
                </c:pt>
                <c:pt idx="11">
                  <c:v>45617</c:v>
                </c:pt>
                <c:pt idx="12">
                  <c:v>45618</c:v>
                </c:pt>
                <c:pt idx="13">
                  <c:v>45621</c:v>
                </c:pt>
                <c:pt idx="14">
                  <c:v>45622</c:v>
                </c:pt>
                <c:pt idx="15">
                  <c:v>45623</c:v>
                </c:pt>
                <c:pt idx="16">
                  <c:v>45625</c:v>
                </c:pt>
                <c:pt idx="17">
                  <c:v>45628</c:v>
                </c:pt>
                <c:pt idx="18">
                  <c:v>45629</c:v>
                </c:pt>
                <c:pt idx="19">
                  <c:v>45630</c:v>
                </c:pt>
                <c:pt idx="20">
                  <c:v>45631</c:v>
                </c:pt>
                <c:pt idx="21">
                  <c:v>45632</c:v>
                </c:pt>
                <c:pt idx="22">
                  <c:v>45635</c:v>
                </c:pt>
                <c:pt idx="23">
                  <c:v>45636</c:v>
                </c:pt>
                <c:pt idx="24">
                  <c:v>45637</c:v>
                </c:pt>
                <c:pt idx="25">
                  <c:v>45638</c:v>
                </c:pt>
                <c:pt idx="26">
                  <c:v>45639</c:v>
                </c:pt>
                <c:pt idx="27">
                  <c:v>45642</c:v>
                </c:pt>
                <c:pt idx="28">
                  <c:v>45643</c:v>
                </c:pt>
                <c:pt idx="29">
                  <c:v>45644</c:v>
                </c:pt>
                <c:pt idx="30">
                  <c:v>45645</c:v>
                </c:pt>
                <c:pt idx="31">
                  <c:v>45646</c:v>
                </c:pt>
                <c:pt idx="32">
                  <c:v>45649</c:v>
                </c:pt>
                <c:pt idx="33">
                  <c:v>45650</c:v>
                </c:pt>
                <c:pt idx="34">
                  <c:v>45652</c:v>
                </c:pt>
                <c:pt idx="35">
                  <c:v>45653</c:v>
                </c:pt>
                <c:pt idx="36">
                  <c:v>45656</c:v>
                </c:pt>
                <c:pt idx="37">
                  <c:v>45657</c:v>
                </c:pt>
                <c:pt idx="38">
                  <c:v>45659</c:v>
                </c:pt>
                <c:pt idx="39">
                  <c:v>45660</c:v>
                </c:pt>
                <c:pt idx="40">
                  <c:v>45663</c:v>
                </c:pt>
                <c:pt idx="41">
                  <c:v>45664</c:v>
                </c:pt>
                <c:pt idx="42">
                  <c:v>45665</c:v>
                </c:pt>
                <c:pt idx="43">
                  <c:v>45667</c:v>
                </c:pt>
                <c:pt idx="44">
                  <c:v>45670</c:v>
                </c:pt>
                <c:pt idx="45">
                  <c:v>45671</c:v>
                </c:pt>
                <c:pt idx="46">
                  <c:v>45672</c:v>
                </c:pt>
                <c:pt idx="47">
                  <c:v>45673</c:v>
                </c:pt>
                <c:pt idx="48">
                  <c:v>45674</c:v>
                </c:pt>
                <c:pt idx="49">
                  <c:v>45678</c:v>
                </c:pt>
                <c:pt idx="50">
                  <c:v>45679</c:v>
                </c:pt>
                <c:pt idx="51">
                  <c:v>45680</c:v>
                </c:pt>
                <c:pt idx="52">
                  <c:v>45681</c:v>
                </c:pt>
                <c:pt idx="53">
                  <c:v>45684</c:v>
                </c:pt>
                <c:pt idx="54">
                  <c:v>45685</c:v>
                </c:pt>
                <c:pt idx="55">
                  <c:v>45686</c:v>
                </c:pt>
                <c:pt idx="56">
                  <c:v>45687</c:v>
                </c:pt>
                <c:pt idx="57">
                  <c:v>45688</c:v>
                </c:pt>
                <c:pt idx="58">
                  <c:v>45691</c:v>
                </c:pt>
                <c:pt idx="59">
                  <c:v>45692</c:v>
                </c:pt>
                <c:pt idx="60">
                  <c:v>45693</c:v>
                </c:pt>
                <c:pt idx="61">
                  <c:v>45694</c:v>
                </c:pt>
                <c:pt idx="62">
                  <c:v>45695</c:v>
                </c:pt>
                <c:pt idx="63">
                  <c:v>45698</c:v>
                </c:pt>
                <c:pt idx="64">
                  <c:v>45699</c:v>
                </c:pt>
                <c:pt idx="65">
                  <c:v>45700</c:v>
                </c:pt>
                <c:pt idx="66">
                  <c:v>45701</c:v>
                </c:pt>
                <c:pt idx="67">
                  <c:v>45702</c:v>
                </c:pt>
                <c:pt idx="68">
                  <c:v>45706</c:v>
                </c:pt>
                <c:pt idx="69">
                  <c:v>45707</c:v>
                </c:pt>
                <c:pt idx="70">
                  <c:v>45708</c:v>
                </c:pt>
                <c:pt idx="71">
                  <c:v>45709</c:v>
                </c:pt>
                <c:pt idx="72">
                  <c:v>45712</c:v>
                </c:pt>
                <c:pt idx="73">
                  <c:v>45713</c:v>
                </c:pt>
                <c:pt idx="74">
                  <c:v>45714</c:v>
                </c:pt>
                <c:pt idx="75">
                  <c:v>45715</c:v>
                </c:pt>
                <c:pt idx="76">
                  <c:v>45716</c:v>
                </c:pt>
                <c:pt idx="77">
                  <c:v>45719</c:v>
                </c:pt>
                <c:pt idx="78">
                  <c:v>45720</c:v>
                </c:pt>
                <c:pt idx="79">
                  <c:v>45721</c:v>
                </c:pt>
                <c:pt idx="80">
                  <c:v>45722</c:v>
                </c:pt>
                <c:pt idx="81">
                  <c:v>45723</c:v>
                </c:pt>
                <c:pt idx="82">
                  <c:v>45726</c:v>
                </c:pt>
                <c:pt idx="83">
                  <c:v>45727</c:v>
                </c:pt>
                <c:pt idx="84">
                  <c:v>45728</c:v>
                </c:pt>
                <c:pt idx="85">
                  <c:v>45729</c:v>
                </c:pt>
                <c:pt idx="86">
                  <c:v>45730</c:v>
                </c:pt>
                <c:pt idx="87">
                  <c:v>45733</c:v>
                </c:pt>
                <c:pt idx="88">
                  <c:v>45734</c:v>
                </c:pt>
                <c:pt idx="89">
                  <c:v>45735</c:v>
                </c:pt>
                <c:pt idx="90">
                  <c:v>45736</c:v>
                </c:pt>
                <c:pt idx="91">
                  <c:v>45737</c:v>
                </c:pt>
                <c:pt idx="92">
                  <c:v>45740</c:v>
                </c:pt>
                <c:pt idx="93">
                  <c:v>45741</c:v>
                </c:pt>
                <c:pt idx="94">
                  <c:v>45742</c:v>
                </c:pt>
                <c:pt idx="95">
                  <c:v>45743</c:v>
                </c:pt>
                <c:pt idx="96">
                  <c:v>45744</c:v>
                </c:pt>
                <c:pt idx="97">
                  <c:v>45747</c:v>
                </c:pt>
                <c:pt idx="98">
                  <c:v>45748</c:v>
                </c:pt>
                <c:pt idx="99">
                  <c:v>45749</c:v>
                </c:pt>
                <c:pt idx="100">
                  <c:v>45750</c:v>
                </c:pt>
                <c:pt idx="101">
                  <c:v>45751</c:v>
                </c:pt>
                <c:pt idx="102">
                  <c:v>45754</c:v>
                </c:pt>
                <c:pt idx="103">
                  <c:v>45755</c:v>
                </c:pt>
                <c:pt idx="104">
                  <c:v>45756</c:v>
                </c:pt>
                <c:pt idx="105">
                  <c:v>45757</c:v>
                </c:pt>
                <c:pt idx="106">
                  <c:v>45758</c:v>
                </c:pt>
                <c:pt idx="107">
                  <c:v>45761</c:v>
                </c:pt>
                <c:pt idx="108">
                  <c:v>45762</c:v>
                </c:pt>
                <c:pt idx="109">
                  <c:v>45763</c:v>
                </c:pt>
                <c:pt idx="110">
                  <c:v>45764</c:v>
                </c:pt>
                <c:pt idx="111">
                  <c:v>45768</c:v>
                </c:pt>
                <c:pt idx="112">
                  <c:v>45769</c:v>
                </c:pt>
                <c:pt idx="113">
                  <c:v>45770</c:v>
                </c:pt>
                <c:pt idx="114">
                  <c:v>45771</c:v>
                </c:pt>
                <c:pt idx="115">
                  <c:v>45772</c:v>
                </c:pt>
                <c:pt idx="116">
                  <c:v>45775</c:v>
                </c:pt>
                <c:pt idx="117">
                  <c:v>45776</c:v>
                </c:pt>
                <c:pt idx="118">
                  <c:v>45777</c:v>
                </c:pt>
                <c:pt idx="119">
                  <c:v>45778</c:v>
                </c:pt>
                <c:pt idx="120">
                  <c:v>45779</c:v>
                </c:pt>
                <c:pt idx="121">
                  <c:v>45782</c:v>
                </c:pt>
                <c:pt idx="122">
                  <c:v>45783</c:v>
                </c:pt>
                <c:pt idx="123">
                  <c:v>45784</c:v>
                </c:pt>
                <c:pt idx="124">
                  <c:v>45785</c:v>
                </c:pt>
                <c:pt idx="125">
                  <c:v>45786</c:v>
                </c:pt>
                <c:pt idx="126">
                  <c:v>45789</c:v>
                </c:pt>
                <c:pt idx="127">
                  <c:v>45790</c:v>
                </c:pt>
                <c:pt idx="128">
                  <c:v>45791</c:v>
                </c:pt>
                <c:pt idx="129">
                  <c:v>45792</c:v>
                </c:pt>
                <c:pt idx="130">
                  <c:v>45793</c:v>
                </c:pt>
                <c:pt idx="131">
                  <c:v>45796</c:v>
                </c:pt>
                <c:pt idx="132">
                  <c:v>45797</c:v>
                </c:pt>
                <c:pt idx="133">
                  <c:v>45798</c:v>
                </c:pt>
                <c:pt idx="134">
                  <c:v>45799</c:v>
                </c:pt>
                <c:pt idx="135">
                  <c:v>45800</c:v>
                </c:pt>
                <c:pt idx="136">
                  <c:v>45804</c:v>
                </c:pt>
                <c:pt idx="137">
                  <c:v>45805</c:v>
                </c:pt>
                <c:pt idx="138">
                  <c:v>45806</c:v>
                </c:pt>
                <c:pt idx="139">
                  <c:v>45807</c:v>
                </c:pt>
                <c:pt idx="140">
                  <c:v>45810</c:v>
                </c:pt>
                <c:pt idx="141">
                  <c:v>45811</c:v>
                </c:pt>
                <c:pt idx="142">
                  <c:v>45812</c:v>
                </c:pt>
                <c:pt idx="143">
                  <c:v>45813</c:v>
                </c:pt>
                <c:pt idx="144">
                  <c:v>45814</c:v>
                </c:pt>
                <c:pt idx="145">
                  <c:v>45817</c:v>
                </c:pt>
                <c:pt idx="146">
                  <c:v>45818</c:v>
                </c:pt>
                <c:pt idx="147">
                  <c:v>45819</c:v>
                </c:pt>
                <c:pt idx="148">
                  <c:v>45820</c:v>
                </c:pt>
                <c:pt idx="149">
                  <c:v>45821</c:v>
                </c:pt>
                <c:pt idx="150">
                  <c:v>45824</c:v>
                </c:pt>
                <c:pt idx="151">
                  <c:v>45825</c:v>
                </c:pt>
                <c:pt idx="152">
                  <c:v>45826</c:v>
                </c:pt>
                <c:pt idx="153">
                  <c:v>45828</c:v>
                </c:pt>
                <c:pt idx="154">
                  <c:v>45831</c:v>
                </c:pt>
                <c:pt idx="155">
                  <c:v>45832</c:v>
                </c:pt>
                <c:pt idx="156">
                  <c:v>45833</c:v>
                </c:pt>
                <c:pt idx="157">
                  <c:v>45834</c:v>
                </c:pt>
                <c:pt idx="158">
                  <c:v>45835</c:v>
                </c:pt>
                <c:pt idx="159">
                  <c:v>45838</c:v>
                </c:pt>
                <c:pt idx="160">
                  <c:v>45839</c:v>
                </c:pt>
                <c:pt idx="161">
                  <c:v>45840</c:v>
                </c:pt>
                <c:pt idx="162">
                  <c:v>45841</c:v>
                </c:pt>
                <c:pt idx="163">
                  <c:v>45845</c:v>
                </c:pt>
                <c:pt idx="164">
                  <c:v>45846</c:v>
                </c:pt>
                <c:pt idx="165">
                  <c:v>45847</c:v>
                </c:pt>
                <c:pt idx="166">
                  <c:v>45848</c:v>
                </c:pt>
                <c:pt idx="167">
                  <c:v>45849</c:v>
                </c:pt>
                <c:pt idx="168">
                  <c:v>45852</c:v>
                </c:pt>
                <c:pt idx="169">
                  <c:v>45853</c:v>
                </c:pt>
                <c:pt idx="170">
                  <c:v>45854</c:v>
                </c:pt>
                <c:pt idx="171">
                  <c:v>45855</c:v>
                </c:pt>
                <c:pt idx="172">
                  <c:v>45856</c:v>
                </c:pt>
                <c:pt idx="173">
                  <c:v>45859</c:v>
                </c:pt>
                <c:pt idx="174">
                  <c:v>45860</c:v>
                </c:pt>
                <c:pt idx="175">
                  <c:v>45861</c:v>
                </c:pt>
                <c:pt idx="176">
                  <c:v>45862</c:v>
                </c:pt>
                <c:pt idx="177">
                  <c:v>45863</c:v>
                </c:pt>
                <c:pt idx="178">
                  <c:v>45866</c:v>
                </c:pt>
                <c:pt idx="179">
                  <c:v>45867</c:v>
                </c:pt>
                <c:pt idx="180">
                  <c:v>45868</c:v>
                </c:pt>
                <c:pt idx="181">
                  <c:v>45869</c:v>
                </c:pt>
                <c:pt idx="182">
                  <c:v>45870</c:v>
                </c:pt>
                <c:pt idx="183">
                  <c:v>45873</c:v>
                </c:pt>
                <c:pt idx="184">
                  <c:v>45874</c:v>
                </c:pt>
                <c:pt idx="185">
                  <c:v>45875</c:v>
                </c:pt>
                <c:pt idx="186">
                  <c:v>45876</c:v>
                </c:pt>
                <c:pt idx="187">
                  <c:v>45877</c:v>
                </c:pt>
                <c:pt idx="188">
                  <c:v>45880</c:v>
                </c:pt>
                <c:pt idx="189">
                  <c:v>45881</c:v>
                </c:pt>
                <c:pt idx="190">
                  <c:v>45882</c:v>
                </c:pt>
                <c:pt idx="191">
                  <c:v>45883</c:v>
                </c:pt>
                <c:pt idx="192">
                  <c:v>45884</c:v>
                </c:pt>
                <c:pt idx="193">
                  <c:v>45887</c:v>
                </c:pt>
                <c:pt idx="194">
                  <c:v>45888</c:v>
                </c:pt>
                <c:pt idx="195">
                  <c:v>45889</c:v>
                </c:pt>
                <c:pt idx="196">
                  <c:v>45890</c:v>
                </c:pt>
                <c:pt idx="197">
                  <c:v>45891</c:v>
                </c:pt>
                <c:pt idx="198">
                  <c:v>45894</c:v>
                </c:pt>
                <c:pt idx="199">
                  <c:v>45895</c:v>
                </c:pt>
                <c:pt idx="200">
                  <c:v>45896</c:v>
                </c:pt>
                <c:pt idx="201">
                  <c:v>45897</c:v>
                </c:pt>
                <c:pt idx="202">
                  <c:v>45898</c:v>
                </c:pt>
                <c:pt idx="203">
                  <c:v>45902</c:v>
                </c:pt>
                <c:pt idx="204">
                  <c:v>45903</c:v>
                </c:pt>
                <c:pt idx="205">
                  <c:v>45904</c:v>
                </c:pt>
                <c:pt idx="206">
                  <c:v>45905</c:v>
                </c:pt>
                <c:pt idx="207">
                  <c:v>45908</c:v>
                </c:pt>
                <c:pt idx="208">
                  <c:v>45909</c:v>
                </c:pt>
                <c:pt idx="209">
                  <c:v>45910</c:v>
                </c:pt>
                <c:pt idx="210">
                  <c:v>45911</c:v>
                </c:pt>
                <c:pt idx="211">
                  <c:v>45912</c:v>
                </c:pt>
                <c:pt idx="212">
                  <c:v>45915</c:v>
                </c:pt>
                <c:pt idx="213">
                  <c:v>45916</c:v>
                </c:pt>
                <c:pt idx="214">
                  <c:v>45917</c:v>
                </c:pt>
                <c:pt idx="215">
                  <c:v>45918</c:v>
                </c:pt>
                <c:pt idx="216">
                  <c:v>45919</c:v>
                </c:pt>
                <c:pt idx="217">
                  <c:v>45922</c:v>
                </c:pt>
                <c:pt idx="218">
                  <c:v>45923</c:v>
                </c:pt>
                <c:pt idx="219">
                  <c:v>45924</c:v>
                </c:pt>
                <c:pt idx="220">
                  <c:v>45925</c:v>
                </c:pt>
                <c:pt idx="221">
                  <c:v>45926</c:v>
                </c:pt>
                <c:pt idx="222">
                  <c:v>45929</c:v>
                </c:pt>
                <c:pt idx="223">
                  <c:v>45930</c:v>
                </c:pt>
                <c:pt idx="224">
                  <c:v>45931</c:v>
                </c:pt>
                <c:pt idx="225">
                  <c:v>45932</c:v>
                </c:pt>
                <c:pt idx="226">
                  <c:v>45933</c:v>
                </c:pt>
                <c:pt idx="227">
                  <c:v>45936</c:v>
                </c:pt>
                <c:pt idx="228">
                  <c:v>45937</c:v>
                </c:pt>
                <c:pt idx="229">
                  <c:v>45938</c:v>
                </c:pt>
                <c:pt idx="230">
                  <c:v>45939</c:v>
                </c:pt>
                <c:pt idx="231">
                  <c:v>45940</c:v>
                </c:pt>
                <c:pt idx="232">
                  <c:v>45943</c:v>
                </c:pt>
                <c:pt idx="233">
                  <c:v>45944</c:v>
                </c:pt>
                <c:pt idx="234">
                  <c:v>45945</c:v>
                </c:pt>
                <c:pt idx="235">
                  <c:v>45946</c:v>
                </c:pt>
                <c:pt idx="236">
                  <c:v>45947</c:v>
                </c:pt>
                <c:pt idx="237">
                  <c:v>45950</c:v>
                </c:pt>
                <c:pt idx="238">
                  <c:v>45951</c:v>
                </c:pt>
                <c:pt idx="239">
                  <c:v>45952</c:v>
                </c:pt>
                <c:pt idx="240">
                  <c:v>45953</c:v>
                </c:pt>
                <c:pt idx="241">
                  <c:v>45954</c:v>
                </c:pt>
                <c:pt idx="242">
                  <c:v>45957</c:v>
                </c:pt>
                <c:pt idx="243">
                  <c:v>45958</c:v>
                </c:pt>
                <c:pt idx="244">
                  <c:v>45959</c:v>
                </c:pt>
                <c:pt idx="245">
                  <c:v>45960</c:v>
                </c:pt>
                <c:pt idx="246">
                  <c:v>45961</c:v>
                </c:pt>
                <c:pt idx="247">
                  <c:v>45964</c:v>
                </c:pt>
                <c:pt idx="248">
                  <c:v>45965</c:v>
                </c:pt>
                <c:pt idx="249">
                  <c:v>45966</c:v>
                </c:pt>
                <c:pt idx="250">
                  <c:v>45967</c:v>
                </c:pt>
              </c:numCache>
            </c:numRef>
          </c:cat>
          <c:val>
            <c:numRef>
              <c:f>'PL 과거 데이터'!$B$2:$B$252</c:f>
              <c:numCache>
                <c:formatCode>General</c:formatCode>
                <c:ptCount val="251"/>
                <c:pt idx="0">
                  <c:v>2.4900000000000002</c:v>
                </c:pt>
                <c:pt idx="1">
                  <c:v>2.5</c:v>
                </c:pt>
                <c:pt idx="2">
                  <c:v>2.5099999999999998</c:v>
                </c:pt>
                <c:pt idx="3">
                  <c:v>2.61</c:v>
                </c:pt>
                <c:pt idx="4">
                  <c:v>2.63</c:v>
                </c:pt>
                <c:pt idx="5">
                  <c:v>3</c:v>
                </c:pt>
                <c:pt idx="6">
                  <c:v>3</c:v>
                </c:pt>
                <c:pt idx="7">
                  <c:v>2.93</c:v>
                </c:pt>
                <c:pt idx="8">
                  <c:v>3.05</c:v>
                </c:pt>
                <c:pt idx="9">
                  <c:v>3.18</c:v>
                </c:pt>
                <c:pt idx="10">
                  <c:v>3.14</c:v>
                </c:pt>
                <c:pt idx="11">
                  <c:v>3.32</c:v>
                </c:pt>
                <c:pt idx="12">
                  <c:v>3.51</c:v>
                </c:pt>
                <c:pt idx="13">
                  <c:v>3.78</c:v>
                </c:pt>
                <c:pt idx="14">
                  <c:v>3.68</c:v>
                </c:pt>
                <c:pt idx="15">
                  <c:v>3.82</c:v>
                </c:pt>
                <c:pt idx="16">
                  <c:v>3.93</c:v>
                </c:pt>
                <c:pt idx="17">
                  <c:v>4.51</c:v>
                </c:pt>
                <c:pt idx="18">
                  <c:v>4.4000000000000004</c:v>
                </c:pt>
                <c:pt idx="19">
                  <c:v>4.17</c:v>
                </c:pt>
                <c:pt idx="20">
                  <c:v>4.09</c:v>
                </c:pt>
                <c:pt idx="21">
                  <c:v>4.16</c:v>
                </c:pt>
                <c:pt idx="22">
                  <c:v>4.04</c:v>
                </c:pt>
                <c:pt idx="23">
                  <c:v>3.87</c:v>
                </c:pt>
                <c:pt idx="24">
                  <c:v>3.95</c:v>
                </c:pt>
                <c:pt idx="25">
                  <c:v>3.89</c:v>
                </c:pt>
                <c:pt idx="26">
                  <c:v>4.01</c:v>
                </c:pt>
                <c:pt idx="27">
                  <c:v>4.33</c:v>
                </c:pt>
                <c:pt idx="28">
                  <c:v>4.2</c:v>
                </c:pt>
                <c:pt idx="29">
                  <c:v>3.87</c:v>
                </c:pt>
                <c:pt idx="30">
                  <c:v>3.88</c:v>
                </c:pt>
                <c:pt idx="31">
                  <c:v>4.04</c:v>
                </c:pt>
                <c:pt idx="32">
                  <c:v>4.0199999999999996</c:v>
                </c:pt>
                <c:pt idx="33">
                  <c:v>4.1399999999999997</c:v>
                </c:pt>
                <c:pt idx="34">
                  <c:v>4.5199999999999996</c:v>
                </c:pt>
                <c:pt idx="35">
                  <c:v>4.38</c:v>
                </c:pt>
                <c:pt idx="36">
                  <c:v>4.21</c:v>
                </c:pt>
                <c:pt idx="37">
                  <c:v>4.04</c:v>
                </c:pt>
                <c:pt idx="38">
                  <c:v>3.97</c:v>
                </c:pt>
                <c:pt idx="39">
                  <c:v>4.22</c:v>
                </c:pt>
                <c:pt idx="40">
                  <c:v>4.3600000000000003</c:v>
                </c:pt>
                <c:pt idx="41">
                  <c:v>4.1100000000000003</c:v>
                </c:pt>
                <c:pt idx="42">
                  <c:v>3.88</c:v>
                </c:pt>
                <c:pt idx="43">
                  <c:v>3.71</c:v>
                </c:pt>
                <c:pt idx="44">
                  <c:v>3.57</c:v>
                </c:pt>
                <c:pt idx="45">
                  <c:v>3.73</c:v>
                </c:pt>
                <c:pt idx="46">
                  <c:v>3.83</c:v>
                </c:pt>
                <c:pt idx="47">
                  <c:v>3.81</c:v>
                </c:pt>
                <c:pt idx="48">
                  <c:v>3.82</c:v>
                </c:pt>
                <c:pt idx="49">
                  <c:v>4.67</c:v>
                </c:pt>
                <c:pt idx="50">
                  <c:v>4.4400000000000004</c:v>
                </c:pt>
                <c:pt idx="51">
                  <c:v>4.74</c:v>
                </c:pt>
                <c:pt idx="52">
                  <c:v>5.44</c:v>
                </c:pt>
                <c:pt idx="53">
                  <c:v>5.15</c:v>
                </c:pt>
                <c:pt idx="54">
                  <c:v>5.46</c:v>
                </c:pt>
                <c:pt idx="55">
                  <c:v>5.55</c:v>
                </c:pt>
                <c:pt idx="56">
                  <c:v>5.82</c:v>
                </c:pt>
                <c:pt idx="57">
                  <c:v>6.1</c:v>
                </c:pt>
                <c:pt idx="58">
                  <c:v>6.12</c:v>
                </c:pt>
                <c:pt idx="59">
                  <c:v>6.45</c:v>
                </c:pt>
                <c:pt idx="60">
                  <c:v>6.37</c:v>
                </c:pt>
                <c:pt idx="61">
                  <c:v>6.18</c:v>
                </c:pt>
                <c:pt idx="62">
                  <c:v>6</c:v>
                </c:pt>
                <c:pt idx="63">
                  <c:v>6.49</c:v>
                </c:pt>
                <c:pt idx="64">
                  <c:v>6.19</c:v>
                </c:pt>
                <c:pt idx="65">
                  <c:v>6.11</c:v>
                </c:pt>
                <c:pt idx="66">
                  <c:v>6.24</c:v>
                </c:pt>
                <c:pt idx="67">
                  <c:v>6.06</c:v>
                </c:pt>
                <c:pt idx="68">
                  <c:v>6.19</c:v>
                </c:pt>
                <c:pt idx="69">
                  <c:v>5.63</c:v>
                </c:pt>
                <c:pt idx="70">
                  <c:v>5.45</c:v>
                </c:pt>
                <c:pt idx="71">
                  <c:v>4.97</c:v>
                </c:pt>
                <c:pt idx="72">
                  <c:v>4.67</c:v>
                </c:pt>
                <c:pt idx="73">
                  <c:v>4.3899999999999997</c:v>
                </c:pt>
                <c:pt idx="74">
                  <c:v>4.67</c:v>
                </c:pt>
                <c:pt idx="75">
                  <c:v>4.49</c:v>
                </c:pt>
                <c:pt idx="76">
                  <c:v>4.62</c:v>
                </c:pt>
                <c:pt idx="77">
                  <c:v>4.25</c:v>
                </c:pt>
                <c:pt idx="78">
                  <c:v>4.0999999999999996</c:v>
                </c:pt>
                <c:pt idx="79">
                  <c:v>4.38</c:v>
                </c:pt>
                <c:pt idx="80">
                  <c:v>3.97</c:v>
                </c:pt>
                <c:pt idx="81">
                  <c:v>3.98</c:v>
                </c:pt>
                <c:pt idx="82">
                  <c:v>3.64</c:v>
                </c:pt>
                <c:pt idx="83">
                  <c:v>3.83</c:v>
                </c:pt>
                <c:pt idx="84">
                  <c:v>4</c:v>
                </c:pt>
                <c:pt idx="85">
                  <c:v>3.97</c:v>
                </c:pt>
                <c:pt idx="86">
                  <c:v>4.16</c:v>
                </c:pt>
                <c:pt idx="87">
                  <c:v>4.17</c:v>
                </c:pt>
                <c:pt idx="88">
                  <c:v>4.12</c:v>
                </c:pt>
                <c:pt idx="89">
                  <c:v>4.32</c:v>
                </c:pt>
                <c:pt idx="90">
                  <c:v>4.24</c:v>
                </c:pt>
                <c:pt idx="91">
                  <c:v>3.79</c:v>
                </c:pt>
                <c:pt idx="92">
                  <c:v>4</c:v>
                </c:pt>
                <c:pt idx="93">
                  <c:v>3.99</c:v>
                </c:pt>
                <c:pt idx="94">
                  <c:v>3.83</c:v>
                </c:pt>
                <c:pt idx="95">
                  <c:v>3.72</c:v>
                </c:pt>
                <c:pt idx="96">
                  <c:v>3.46</c:v>
                </c:pt>
                <c:pt idx="97">
                  <c:v>3.38</c:v>
                </c:pt>
                <c:pt idx="98">
                  <c:v>3.43</c:v>
                </c:pt>
                <c:pt idx="99">
                  <c:v>3.58</c:v>
                </c:pt>
                <c:pt idx="100">
                  <c:v>3.35</c:v>
                </c:pt>
                <c:pt idx="101">
                  <c:v>3.17</c:v>
                </c:pt>
                <c:pt idx="102">
                  <c:v>3.26</c:v>
                </c:pt>
                <c:pt idx="103">
                  <c:v>3.04</c:v>
                </c:pt>
                <c:pt idx="104">
                  <c:v>3.61</c:v>
                </c:pt>
                <c:pt idx="105">
                  <c:v>3.36</c:v>
                </c:pt>
                <c:pt idx="106">
                  <c:v>3.17</c:v>
                </c:pt>
                <c:pt idx="107">
                  <c:v>3.14</c:v>
                </c:pt>
                <c:pt idx="108">
                  <c:v>3.28</c:v>
                </c:pt>
                <c:pt idx="109">
                  <c:v>3.19</c:v>
                </c:pt>
                <c:pt idx="110">
                  <c:v>3.23</c:v>
                </c:pt>
                <c:pt idx="111">
                  <c:v>2.96</c:v>
                </c:pt>
                <c:pt idx="112">
                  <c:v>3.04</c:v>
                </c:pt>
                <c:pt idx="113">
                  <c:v>3.11</c:v>
                </c:pt>
                <c:pt idx="114">
                  <c:v>3.35</c:v>
                </c:pt>
                <c:pt idx="115">
                  <c:v>3.39</c:v>
                </c:pt>
                <c:pt idx="116">
                  <c:v>3.41</c:v>
                </c:pt>
                <c:pt idx="117">
                  <c:v>3.43</c:v>
                </c:pt>
                <c:pt idx="118">
                  <c:v>3.29</c:v>
                </c:pt>
                <c:pt idx="119">
                  <c:v>3.35</c:v>
                </c:pt>
                <c:pt idx="120">
                  <c:v>3.51</c:v>
                </c:pt>
                <c:pt idx="121">
                  <c:v>3.47</c:v>
                </c:pt>
                <c:pt idx="122">
                  <c:v>3.5</c:v>
                </c:pt>
                <c:pt idx="123">
                  <c:v>3.46</c:v>
                </c:pt>
                <c:pt idx="124">
                  <c:v>3.61</c:v>
                </c:pt>
                <c:pt idx="125">
                  <c:v>3.56</c:v>
                </c:pt>
                <c:pt idx="126">
                  <c:v>3.74</c:v>
                </c:pt>
                <c:pt idx="127">
                  <c:v>3.78</c:v>
                </c:pt>
                <c:pt idx="128">
                  <c:v>3.89</c:v>
                </c:pt>
                <c:pt idx="129">
                  <c:v>3.89</c:v>
                </c:pt>
                <c:pt idx="130">
                  <c:v>3.93</c:v>
                </c:pt>
                <c:pt idx="131">
                  <c:v>3.83</c:v>
                </c:pt>
                <c:pt idx="132">
                  <c:v>3.86</c:v>
                </c:pt>
                <c:pt idx="133">
                  <c:v>3.71</c:v>
                </c:pt>
                <c:pt idx="134">
                  <c:v>3.69</c:v>
                </c:pt>
                <c:pt idx="135">
                  <c:v>3.68</c:v>
                </c:pt>
                <c:pt idx="136">
                  <c:v>3.97</c:v>
                </c:pt>
                <c:pt idx="137">
                  <c:v>3.99</c:v>
                </c:pt>
                <c:pt idx="138">
                  <c:v>3.94</c:v>
                </c:pt>
                <c:pt idx="139">
                  <c:v>3.84</c:v>
                </c:pt>
                <c:pt idx="140">
                  <c:v>3.79</c:v>
                </c:pt>
                <c:pt idx="141">
                  <c:v>3.84</c:v>
                </c:pt>
                <c:pt idx="142">
                  <c:v>3.99</c:v>
                </c:pt>
                <c:pt idx="143">
                  <c:v>5.96</c:v>
                </c:pt>
                <c:pt idx="144">
                  <c:v>5.84</c:v>
                </c:pt>
                <c:pt idx="145">
                  <c:v>5.83</c:v>
                </c:pt>
                <c:pt idx="146">
                  <c:v>5.59</c:v>
                </c:pt>
                <c:pt idx="147">
                  <c:v>5.43</c:v>
                </c:pt>
                <c:pt idx="148">
                  <c:v>5.46</c:v>
                </c:pt>
                <c:pt idx="149">
                  <c:v>5.37</c:v>
                </c:pt>
                <c:pt idx="150">
                  <c:v>5.34</c:v>
                </c:pt>
                <c:pt idx="151">
                  <c:v>5.0999999999999996</c:v>
                </c:pt>
                <c:pt idx="152">
                  <c:v>5.1100000000000003</c:v>
                </c:pt>
                <c:pt idx="153">
                  <c:v>5.03</c:v>
                </c:pt>
                <c:pt idx="154">
                  <c:v>5.3</c:v>
                </c:pt>
                <c:pt idx="155">
                  <c:v>5.57</c:v>
                </c:pt>
                <c:pt idx="156">
                  <c:v>5.42</c:v>
                </c:pt>
                <c:pt idx="157">
                  <c:v>6.06</c:v>
                </c:pt>
                <c:pt idx="158">
                  <c:v>6.07</c:v>
                </c:pt>
                <c:pt idx="159">
                  <c:v>6.1</c:v>
                </c:pt>
                <c:pt idx="160">
                  <c:v>6.16</c:v>
                </c:pt>
                <c:pt idx="161">
                  <c:v>6.14</c:v>
                </c:pt>
                <c:pt idx="162">
                  <c:v>6.85</c:v>
                </c:pt>
                <c:pt idx="163">
                  <c:v>6.83</c:v>
                </c:pt>
                <c:pt idx="164">
                  <c:v>6.93</c:v>
                </c:pt>
                <c:pt idx="165">
                  <c:v>6.85</c:v>
                </c:pt>
                <c:pt idx="166">
                  <c:v>6.6</c:v>
                </c:pt>
                <c:pt idx="167">
                  <c:v>6.14</c:v>
                </c:pt>
                <c:pt idx="168">
                  <c:v>6.2</c:v>
                </c:pt>
                <c:pt idx="169">
                  <c:v>6.43</c:v>
                </c:pt>
                <c:pt idx="170">
                  <c:v>6.45</c:v>
                </c:pt>
                <c:pt idx="171">
                  <c:v>6.63</c:v>
                </c:pt>
                <c:pt idx="172">
                  <c:v>6.79</c:v>
                </c:pt>
                <c:pt idx="173">
                  <c:v>7.03</c:v>
                </c:pt>
                <c:pt idx="174">
                  <c:v>6.6</c:v>
                </c:pt>
                <c:pt idx="175">
                  <c:v>6.86</c:v>
                </c:pt>
                <c:pt idx="176">
                  <c:v>6.84</c:v>
                </c:pt>
                <c:pt idx="177">
                  <c:v>6.65</c:v>
                </c:pt>
                <c:pt idx="178">
                  <c:v>6.36</c:v>
                </c:pt>
                <c:pt idx="179">
                  <c:v>6.19</c:v>
                </c:pt>
                <c:pt idx="180">
                  <c:v>6.28</c:v>
                </c:pt>
                <c:pt idx="181">
                  <c:v>6.25</c:v>
                </c:pt>
                <c:pt idx="182">
                  <c:v>6.18</c:v>
                </c:pt>
                <c:pt idx="183">
                  <c:v>6.54</c:v>
                </c:pt>
                <c:pt idx="184">
                  <c:v>6.39</c:v>
                </c:pt>
                <c:pt idx="185">
                  <c:v>6.32</c:v>
                </c:pt>
                <c:pt idx="186">
                  <c:v>6.27</c:v>
                </c:pt>
                <c:pt idx="187">
                  <c:v>6.4</c:v>
                </c:pt>
                <c:pt idx="188">
                  <c:v>6.42</c:v>
                </c:pt>
                <c:pt idx="189">
                  <c:v>6.65</c:v>
                </c:pt>
                <c:pt idx="190">
                  <c:v>6.74</c:v>
                </c:pt>
                <c:pt idx="191">
                  <c:v>6.82</c:v>
                </c:pt>
                <c:pt idx="192">
                  <c:v>6.78</c:v>
                </c:pt>
                <c:pt idx="193">
                  <c:v>6.84</c:v>
                </c:pt>
                <c:pt idx="194">
                  <c:v>6.38</c:v>
                </c:pt>
                <c:pt idx="195">
                  <c:v>6.43</c:v>
                </c:pt>
                <c:pt idx="196">
                  <c:v>6.48</c:v>
                </c:pt>
                <c:pt idx="197">
                  <c:v>6.8</c:v>
                </c:pt>
                <c:pt idx="198">
                  <c:v>7.06</c:v>
                </c:pt>
                <c:pt idx="199">
                  <c:v>6.98</c:v>
                </c:pt>
                <c:pt idx="200">
                  <c:v>7.08</c:v>
                </c:pt>
                <c:pt idx="201">
                  <c:v>7.21</c:v>
                </c:pt>
                <c:pt idx="202">
                  <c:v>7.09</c:v>
                </c:pt>
                <c:pt idx="203">
                  <c:v>6.65</c:v>
                </c:pt>
                <c:pt idx="204">
                  <c:v>6.44</c:v>
                </c:pt>
                <c:pt idx="205">
                  <c:v>6.46</c:v>
                </c:pt>
                <c:pt idx="206">
                  <c:v>6.53</c:v>
                </c:pt>
                <c:pt idx="207">
                  <c:v>9.66</c:v>
                </c:pt>
                <c:pt idx="208">
                  <c:v>9.02</c:v>
                </c:pt>
                <c:pt idx="209">
                  <c:v>8.9700000000000006</c:v>
                </c:pt>
                <c:pt idx="210">
                  <c:v>9.67</c:v>
                </c:pt>
                <c:pt idx="211">
                  <c:v>9.7799999999999994</c:v>
                </c:pt>
                <c:pt idx="212">
                  <c:v>9.86</c:v>
                </c:pt>
                <c:pt idx="213">
                  <c:v>9.75</c:v>
                </c:pt>
                <c:pt idx="214">
                  <c:v>10.23</c:v>
                </c:pt>
                <c:pt idx="215">
                  <c:v>10.61</c:v>
                </c:pt>
                <c:pt idx="216">
                  <c:v>11.11</c:v>
                </c:pt>
                <c:pt idx="217">
                  <c:v>11.11</c:v>
                </c:pt>
                <c:pt idx="218">
                  <c:v>12.05</c:v>
                </c:pt>
                <c:pt idx="219">
                  <c:v>11.93</c:v>
                </c:pt>
                <c:pt idx="220">
                  <c:v>11.96</c:v>
                </c:pt>
                <c:pt idx="221">
                  <c:v>12.2</c:v>
                </c:pt>
                <c:pt idx="222">
                  <c:v>12.79</c:v>
                </c:pt>
                <c:pt idx="223">
                  <c:v>12.98</c:v>
                </c:pt>
                <c:pt idx="224">
                  <c:v>13.77</c:v>
                </c:pt>
                <c:pt idx="225">
                  <c:v>14.85</c:v>
                </c:pt>
                <c:pt idx="226">
                  <c:v>15.31</c:v>
                </c:pt>
                <c:pt idx="227">
                  <c:v>15.24</c:v>
                </c:pt>
                <c:pt idx="228">
                  <c:v>15.68</c:v>
                </c:pt>
                <c:pt idx="229">
                  <c:v>15.6</c:v>
                </c:pt>
                <c:pt idx="230">
                  <c:v>15.66</c:v>
                </c:pt>
                <c:pt idx="231">
                  <c:v>14.7</c:v>
                </c:pt>
                <c:pt idx="232">
                  <c:v>15.25</c:v>
                </c:pt>
                <c:pt idx="233">
                  <c:v>14.78</c:v>
                </c:pt>
                <c:pt idx="234">
                  <c:v>15.09</c:v>
                </c:pt>
                <c:pt idx="235">
                  <c:v>13.23</c:v>
                </c:pt>
                <c:pt idx="236">
                  <c:v>13.11</c:v>
                </c:pt>
                <c:pt idx="237">
                  <c:v>13.56</c:v>
                </c:pt>
                <c:pt idx="238">
                  <c:v>12.91</c:v>
                </c:pt>
                <c:pt idx="239">
                  <c:v>12.5</c:v>
                </c:pt>
                <c:pt idx="240">
                  <c:v>12.95</c:v>
                </c:pt>
                <c:pt idx="241">
                  <c:v>13.61</c:v>
                </c:pt>
                <c:pt idx="242">
                  <c:v>13.31</c:v>
                </c:pt>
                <c:pt idx="243">
                  <c:v>12.84</c:v>
                </c:pt>
                <c:pt idx="244">
                  <c:v>12.9</c:v>
                </c:pt>
                <c:pt idx="245">
                  <c:v>12.86</c:v>
                </c:pt>
                <c:pt idx="246">
                  <c:v>13.45</c:v>
                </c:pt>
                <c:pt idx="247">
                  <c:v>13.19</c:v>
                </c:pt>
                <c:pt idx="248">
                  <c:v>12.7</c:v>
                </c:pt>
                <c:pt idx="249">
                  <c:v>13.25</c:v>
                </c:pt>
                <c:pt idx="250">
                  <c:v>12.46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5A9-4F1A-A67B-F047C6F6AD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64052128"/>
        <c:axId val="1064049728"/>
      </c:lineChart>
      <c:dateAx>
        <c:axId val="1064052128"/>
        <c:scaling>
          <c:orientation val="minMax"/>
        </c:scaling>
        <c:delete val="0"/>
        <c:axPos val="b"/>
        <c:numFmt formatCode="[$-409]mmm&quot;-&quot;yy;@" sourceLinked="0"/>
        <c:majorTickMark val="in"/>
        <c:minorTickMark val="none"/>
        <c:tickLblPos val="nextTo"/>
        <c:spPr>
          <a:noFill/>
          <a:ln w="31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endParaRPr lang="ko-KR"/>
          </a:p>
        </c:txPr>
        <c:crossAx val="1064049728"/>
        <c:crosses val="autoZero"/>
        <c:auto val="1"/>
        <c:lblOffset val="100"/>
        <c:baseTimeUnit val="days"/>
        <c:majorUnit val="2"/>
        <c:majorTimeUnit val="months"/>
      </c:dateAx>
      <c:valAx>
        <c:axId val="1064049728"/>
        <c:scaling>
          <c:orientation val="minMax"/>
        </c:scaling>
        <c:delete val="0"/>
        <c:axPos val="l"/>
        <c:numFmt formatCode="General" sourceLinked="1"/>
        <c:majorTickMark val="in"/>
        <c:minorTickMark val="none"/>
        <c:tickLblPos val="nextTo"/>
        <c:spPr>
          <a:noFill/>
          <a:ln w="3175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endParaRPr lang="ko-KR"/>
          </a:p>
        </c:txPr>
        <c:crossAx val="10640521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sz="700">
          <a:solidFill>
            <a:schemeClr val="tx1"/>
          </a:solidFill>
          <a:latin typeface="KoPubWorld돋움체 Medium" panose="00000600000000000000" pitchFamily="2" charset="-127"/>
          <a:ea typeface="KoPubWorld돋움체 Medium" panose="00000600000000000000" pitchFamily="2" charset="-127"/>
          <a:cs typeface="KoPubWorld돋움체 Medium" panose="00000600000000000000" pitchFamily="2" charset="-127"/>
        </a:defRPr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3566698246331584E-2"/>
          <c:y val="9.8894051001201411E-2"/>
          <c:w val="0.87404211827674272"/>
          <c:h val="0.7436365378340835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Sheet1!$F$12</c:f>
              <c:strCache>
                <c:ptCount val="1"/>
                <c:pt idx="0">
                  <c:v>매출</c:v>
                </c:pt>
              </c:strCache>
            </c:strRef>
          </c:tx>
          <c:spPr>
            <a:solidFill>
              <a:srgbClr val="203864"/>
            </a:solidFill>
            <a:ln>
              <a:noFill/>
            </a:ln>
            <a:effectLst/>
          </c:spPr>
          <c:invertIfNegative val="0"/>
          <c:cat>
            <c:strRef>
              <c:f>Sheet1!$E$13:$E$16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2025E</c:v>
                </c:pt>
              </c:strCache>
            </c:strRef>
          </c:cat>
          <c:val>
            <c:numRef>
              <c:f>Sheet1!$F$13:$F$16</c:f>
              <c:numCache>
                <c:formatCode>General</c:formatCode>
                <c:ptCount val="4"/>
                <c:pt idx="0">
                  <c:v>131.21</c:v>
                </c:pt>
                <c:pt idx="1">
                  <c:v>191.26</c:v>
                </c:pt>
                <c:pt idx="2">
                  <c:v>220.7</c:v>
                </c:pt>
                <c:pt idx="3">
                  <c:v>244.4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F6C-4211-9818-18F85F502CE0}"/>
            </c:ext>
          </c:extLst>
        </c:ser>
        <c:ser>
          <c:idx val="1"/>
          <c:order val="1"/>
          <c:tx>
            <c:strRef>
              <c:f>Sheet1!$G$12</c:f>
              <c:strCache>
                <c:ptCount val="1"/>
                <c:pt idx="0">
                  <c:v>수주잔고</c:v>
                </c:pt>
              </c:strCache>
            </c:strRef>
          </c:tx>
          <c:spPr>
            <a:solidFill>
              <a:srgbClr val="D0CECE"/>
            </a:solidFill>
            <a:ln>
              <a:noFill/>
            </a:ln>
            <a:effectLst/>
          </c:spPr>
          <c:invertIfNegative val="0"/>
          <c:cat>
            <c:strRef>
              <c:f>Sheet1!$E$13:$E$16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2025E</c:v>
                </c:pt>
              </c:strCache>
            </c:strRef>
          </c:cat>
          <c:val>
            <c:numRef>
              <c:f>Sheet1!$G$13:$G$16</c:f>
              <c:numCache>
                <c:formatCode>General</c:formatCode>
                <c:ptCount val="4"/>
                <c:pt idx="0">
                  <c:v>279.63</c:v>
                </c:pt>
                <c:pt idx="1">
                  <c:v>242.39</c:v>
                </c:pt>
                <c:pt idx="2">
                  <c:v>503.74</c:v>
                </c:pt>
                <c:pt idx="3">
                  <c:v>736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F6C-4211-9818-18F85F502C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13733472"/>
        <c:axId val="1613734912"/>
      </c:barChart>
      <c:catAx>
        <c:axId val="1613733472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extTo"/>
        <c:spPr>
          <a:noFill/>
          <a:ln w="31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endParaRPr lang="ko-KR"/>
          </a:p>
        </c:txPr>
        <c:crossAx val="1613734912"/>
        <c:crosses val="autoZero"/>
        <c:auto val="1"/>
        <c:lblAlgn val="ctr"/>
        <c:lblOffset val="100"/>
        <c:noMultiLvlLbl val="0"/>
      </c:catAx>
      <c:valAx>
        <c:axId val="1613734912"/>
        <c:scaling>
          <c:orientation val="minMax"/>
        </c:scaling>
        <c:delete val="0"/>
        <c:axPos val="l"/>
        <c:numFmt formatCode="General" sourceLinked="1"/>
        <c:majorTickMark val="in"/>
        <c:minorTickMark val="none"/>
        <c:tickLblPos val="nextTo"/>
        <c:spPr>
          <a:noFill/>
          <a:ln w="3175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endParaRPr lang="ko-KR"/>
          </a:p>
        </c:txPr>
        <c:crossAx val="1613733472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ysClr val="windowText" lastClr="0000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defRPr>
          </a:pPr>
          <a:endParaRPr lang="ko-K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매출액(십억 달러)</c:v>
                </c:pt>
              </c:strCache>
            </c:strRef>
          </c:tx>
          <c:spPr>
            <a:solidFill>
              <a:srgbClr val="203864"/>
            </a:solidFill>
            <a:ln>
              <a:noFill/>
            </a:ln>
            <a:effectLst/>
          </c:spPr>
          <c:invertIfNegative val="0"/>
          <c:dPt>
            <c:idx val="4"/>
            <c:invertIfNegative val="0"/>
            <c:bubble3D val="0"/>
            <c:spPr>
              <a:solidFill>
                <a:srgbClr val="2F559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68A-4A3D-B1CE-62B763E83923}"/>
              </c:ext>
            </c:extLst>
          </c:dPt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5</c:v>
                </c:pt>
                <c:pt idx="2">
                  <c:v>9</c:v>
                </c:pt>
                <c:pt idx="3">
                  <c:v>13.1</c:v>
                </c:pt>
                <c:pt idx="4">
                  <c:v>15.5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68A-4A3D-B1CE-62B763E839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79363391"/>
        <c:axId val="579364351"/>
      </c:barChart>
      <c:catAx>
        <c:axId val="579363391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extTo"/>
        <c:spPr>
          <a:noFill/>
          <a:ln w="31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endParaRPr lang="ko-KR"/>
          </a:p>
        </c:txPr>
        <c:crossAx val="579364351"/>
        <c:crosses val="autoZero"/>
        <c:auto val="1"/>
        <c:lblAlgn val="ctr"/>
        <c:lblOffset val="100"/>
        <c:noMultiLvlLbl val="0"/>
      </c:catAx>
      <c:valAx>
        <c:axId val="579364351"/>
        <c:scaling>
          <c:orientation val="minMax"/>
          <c:max val="16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in"/>
        <c:minorTickMark val="none"/>
        <c:tickLblPos val="nextTo"/>
        <c:spPr>
          <a:noFill/>
          <a:ln w="3175"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pPr>
            <a:endParaRPr lang="ko-KR"/>
          </a:p>
        </c:txPr>
        <c:crossAx val="579363391"/>
        <c:crosses val="autoZero"/>
        <c:crossBetween val="between"/>
        <c:majorUnit val="4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0.71683</cdr:x>
      <cdr:y>0.55642</cdr:y>
    </cdr:from>
    <cdr:to>
      <cdr:x>0.75039</cdr:x>
      <cdr:y>0.86093</cdr:y>
    </cdr:to>
    <cdr:sp macro="" textlink="">
      <cdr:nvSpPr>
        <cdr:cNvPr id="2" name="직사각형 1"/>
        <cdr:cNvSpPr/>
      </cdr:nvSpPr>
      <cdr:spPr bwMode="auto">
        <a:xfrm xmlns:a="http://schemas.openxmlformats.org/drawingml/2006/main">
          <a:off x="2372883" y="1145136"/>
          <a:ext cx="111095" cy="626692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19050">
          <a:solidFill>
            <a:srgbClr val="C00000"/>
          </a:solidFill>
          <a:headEnd/>
          <a:tailEnd/>
        </a:ln>
      </cdr:spPr>
      <cdr:style>
        <a:lnRef xmlns:a="http://schemas.openxmlformats.org/drawingml/2006/main" idx="2">
          <a:schemeClr val="dk1"/>
        </a:lnRef>
        <a:fillRef xmlns:a="http://schemas.openxmlformats.org/drawingml/2006/main" idx="1">
          <a:schemeClr val="lt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rot="0" vertOverflow="clip" vert="vert270" wrap="square" lIns="91440" tIns="45720" rIns="91440" bIns="45720" anchor="ctr" anchorCtr="0">
          <a:noAutofit/>
        </a:bodyPr>
        <a:lstStyle xmlns:a="http://schemas.openxmlformats.org/drawingml/2006/main"/>
        <a:p xmlns:a="http://schemas.openxmlformats.org/drawingml/2006/main">
          <a:endParaRPr lang="ko-KR" altLang="en-US" kern="1200"/>
        </a:p>
      </cdr:txBody>
    </cdr:sp>
  </cdr:relSizeAnchor>
  <cdr:relSizeAnchor xmlns:cdr="http://schemas.openxmlformats.org/drawingml/2006/chartDrawing">
    <cdr:from>
      <cdr:x>0.71444</cdr:x>
      <cdr:y>0.12243</cdr:y>
    </cdr:from>
    <cdr:to>
      <cdr:x>0.93312</cdr:x>
      <cdr:y>0.51305</cdr:y>
    </cdr:to>
    <cdr:cxnSp macro="">
      <cdr:nvCxnSpPr>
        <cdr:cNvPr id="3" name="직선 화살표 연결선 2">
          <a:extLst xmlns:a="http://schemas.openxmlformats.org/drawingml/2006/main">
            <a:ext uri="{FF2B5EF4-FFF2-40B4-BE49-F238E27FC236}">
              <a16:creationId xmlns:a16="http://schemas.microsoft.com/office/drawing/2014/main" id="{980AB4D8-6538-DDFB-D6A1-83A8864098F5}"/>
            </a:ext>
          </a:extLst>
        </cdr:cNvPr>
        <cdr:cNvCxnSpPr/>
      </cdr:nvCxnSpPr>
      <cdr:spPr>
        <a:xfrm xmlns:a="http://schemas.openxmlformats.org/drawingml/2006/main" flipV="1">
          <a:off x="2364973" y="251974"/>
          <a:ext cx="723900" cy="803910"/>
        </a:xfrm>
        <a:prstGeom xmlns:a="http://schemas.openxmlformats.org/drawingml/2006/main" prst="straightConnector1">
          <a:avLst/>
        </a:prstGeom>
        <a:ln xmlns:a="http://schemas.openxmlformats.org/drawingml/2006/main" w="19050">
          <a:solidFill>
            <a:srgbClr val="C00000"/>
          </a:solidFill>
          <a:tailEnd type="triangle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0.90219</cdr:x>
      <cdr:y>0.30712</cdr:y>
    </cdr:from>
    <cdr:to>
      <cdr:x>0.92347</cdr:x>
      <cdr:y>0.85221</cdr:y>
    </cdr:to>
    <cdr:sp macro="" textlink="">
      <cdr:nvSpPr>
        <cdr:cNvPr id="3" name="직사각형 2">
          <a:extLst xmlns:a="http://schemas.openxmlformats.org/drawingml/2006/main">
            <a:ext uri="{FF2B5EF4-FFF2-40B4-BE49-F238E27FC236}">
              <a16:creationId xmlns:a16="http://schemas.microsoft.com/office/drawing/2014/main" id="{09413F91-8E29-9005-CDF2-5631A29FAEA8}"/>
            </a:ext>
          </a:extLst>
        </cdr:cNvPr>
        <cdr:cNvSpPr/>
      </cdr:nvSpPr>
      <cdr:spPr>
        <a:xfrm xmlns:a="http://schemas.openxmlformats.org/drawingml/2006/main">
          <a:off x="3733070" y="753705"/>
          <a:ext cx="88053" cy="1337733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19050">
          <a:solidFill>
            <a:srgbClr val="C00000"/>
          </a:solidFill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ko-KR" altLang="en-US" kern="1200"/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0.82443</cdr:x>
      <cdr:y>0.68897</cdr:y>
    </cdr:from>
    <cdr:to>
      <cdr:x>0.88008</cdr:x>
      <cdr:y>0.7901</cdr:y>
    </cdr:to>
    <cdr:sp macro="" textlink="">
      <cdr:nvSpPr>
        <cdr:cNvPr id="2" name="타원 1"/>
        <cdr:cNvSpPr/>
      </cdr:nvSpPr>
      <cdr:spPr bwMode="auto">
        <a:xfrm xmlns:a="http://schemas.openxmlformats.org/drawingml/2006/main">
          <a:off x="2666763" y="1194357"/>
          <a:ext cx="180010" cy="175314"/>
        </a:xfrm>
        <a:prstGeom xmlns:a="http://schemas.openxmlformats.org/drawingml/2006/main" prst="ellipse">
          <a:avLst/>
        </a:prstGeom>
        <a:noFill xmlns:a="http://schemas.openxmlformats.org/drawingml/2006/main"/>
        <a:ln xmlns:a="http://schemas.openxmlformats.org/drawingml/2006/main" w="9525">
          <a:solidFill>
            <a:srgbClr val="C00000"/>
          </a:solidFill>
          <a:miter lim="800000"/>
          <a:headEnd/>
          <a:tailEnd/>
        </a:ln>
      </cdr:spPr>
      <cdr:txBody>
        <a:bodyPr xmlns:a="http://schemas.openxmlformats.org/drawingml/2006/main" rot="0" vertOverflow="clip" vert="vert270" wrap="square" lIns="91440" tIns="45720" rIns="91440" bIns="45720" anchor="ctr" anchorCtr="0">
          <a:noAutofit/>
        </a:bodyPr>
        <a:lstStyle xmlns:a="http://schemas.openxmlformats.org/drawingml/2006/main"/>
        <a:p xmlns:a="http://schemas.openxmlformats.org/drawingml/2006/main">
          <a:endParaRPr lang="ko-KR" altLang="en-US" kern="1200"/>
        </a:p>
      </cdr:txBody>
    </cdr:sp>
  </cdr:relSizeAnchor>
  <cdr:relSizeAnchor xmlns:cdr="http://schemas.openxmlformats.org/drawingml/2006/chartDrawing">
    <cdr:from>
      <cdr:x>0.70148</cdr:x>
      <cdr:y>0.42336</cdr:y>
    </cdr:from>
    <cdr:to>
      <cdr:x>0.82057</cdr:x>
      <cdr:y>0.68022</cdr:y>
    </cdr:to>
    <cdr:cxnSp macro="">
      <cdr:nvCxnSpPr>
        <cdr:cNvPr id="4" name="직선 화살표 연결선 3">
          <a:extLst xmlns:a="http://schemas.openxmlformats.org/drawingml/2006/main">
            <a:ext uri="{FF2B5EF4-FFF2-40B4-BE49-F238E27FC236}">
              <a16:creationId xmlns:a16="http://schemas.microsoft.com/office/drawing/2014/main" id="{13592283-4426-B118-1941-32E391222D56}"/>
            </a:ext>
          </a:extLst>
        </cdr:cNvPr>
        <cdr:cNvCxnSpPr/>
      </cdr:nvCxnSpPr>
      <cdr:spPr>
        <a:xfrm xmlns:a="http://schemas.openxmlformats.org/drawingml/2006/main">
          <a:off x="2269067" y="753534"/>
          <a:ext cx="385233" cy="457200"/>
        </a:xfrm>
        <a:prstGeom xmlns:a="http://schemas.openxmlformats.org/drawingml/2006/main" prst="straightConnector1">
          <a:avLst/>
        </a:prstGeom>
        <a:ln xmlns:a="http://schemas.openxmlformats.org/drawingml/2006/main">
          <a:solidFill>
            <a:srgbClr val="C00000"/>
          </a:solidFill>
          <a:tailEnd type="triangle"/>
        </a:ln>
      </cdr:spPr>
      <cdr:style>
        <a:lnRef xmlns:a="http://schemas.openxmlformats.org/drawingml/2006/main" idx="2">
          <a:schemeClr val="dk1"/>
        </a:lnRef>
        <a:fillRef xmlns:a="http://schemas.openxmlformats.org/drawingml/2006/main" idx="0">
          <a:schemeClr val="dk1"/>
        </a:fillRef>
        <a:effectRef xmlns:a="http://schemas.openxmlformats.org/drawingml/2006/main" idx="1">
          <a:schemeClr val="dk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0.44772</cdr:x>
      <cdr:y>0.27873</cdr:y>
    </cdr:from>
    <cdr:to>
      <cdr:x>0.86682</cdr:x>
      <cdr:y>0.4357</cdr:y>
    </cdr:to>
    <cdr:sp macro="" textlink="">
      <cdr:nvSpPr>
        <cdr:cNvPr id="9" name="Text Box 8"/>
        <cdr:cNvSpPr txBox="1"/>
      </cdr:nvSpPr>
      <cdr:spPr>
        <a:xfrm xmlns:a="http://schemas.openxmlformats.org/drawingml/2006/main">
          <a:off x="1448242" y="483191"/>
          <a:ext cx="1355666" cy="27211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altLang="ko-KR" sz="800" kern="1200">
              <a:solidFill>
                <a:srgbClr val="C00000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rPr>
            <a:t>2015</a:t>
          </a:r>
          <a:r>
            <a:rPr lang="ko-KR" altLang="en-US" sz="800" kern="1200">
              <a:solidFill>
                <a:srgbClr val="C00000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rPr>
            <a:t>년 재사용 로켓</a:t>
          </a:r>
          <a:r>
            <a:rPr lang="ko-KR" altLang="en-US" sz="800" kern="1200" baseline="0">
              <a:solidFill>
                <a:srgbClr val="C00000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rPr>
            <a:t> </a:t>
          </a:r>
          <a:r>
            <a:rPr lang="ko-KR" altLang="en-US" sz="800" kern="1200">
              <a:solidFill>
                <a:srgbClr val="C00000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rPr>
            <a:t>발사</a:t>
          </a:r>
        </a:p>
      </cdr:txBody>
    </cdr:sp>
  </cdr:relSizeAnchor>
  <cdr:relSizeAnchor xmlns:cdr="http://schemas.openxmlformats.org/drawingml/2006/chartDrawing">
    <cdr:from>
      <cdr:x>0.71718</cdr:x>
      <cdr:y>0.45266</cdr:y>
    </cdr:from>
    <cdr:to>
      <cdr:x>0.83627</cdr:x>
      <cdr:y>0.70952</cdr:y>
    </cdr:to>
    <cdr:cxnSp macro="">
      <cdr:nvCxnSpPr>
        <cdr:cNvPr id="3" name="직선 화살표 연결선 2">
          <a:extLst xmlns:a="http://schemas.openxmlformats.org/drawingml/2006/main">
            <a:ext uri="{FF2B5EF4-FFF2-40B4-BE49-F238E27FC236}">
              <a16:creationId xmlns:a16="http://schemas.microsoft.com/office/drawing/2014/main" id="{197052AA-2D8B-DF12-9158-4796B4A837D5}"/>
            </a:ext>
          </a:extLst>
        </cdr:cNvPr>
        <cdr:cNvCxnSpPr/>
      </cdr:nvCxnSpPr>
      <cdr:spPr>
        <a:xfrm xmlns:a="http://schemas.openxmlformats.org/drawingml/2006/main">
          <a:off x="2319870" y="784716"/>
          <a:ext cx="385220" cy="445279"/>
        </a:xfrm>
        <a:prstGeom xmlns:a="http://schemas.openxmlformats.org/drawingml/2006/main" prst="straightConnector1">
          <a:avLst/>
        </a:prstGeom>
        <a:ln xmlns:a="http://schemas.openxmlformats.org/drawingml/2006/main">
          <a:solidFill>
            <a:srgbClr val="C00000"/>
          </a:solidFill>
          <a:tailEnd type="triangle"/>
        </a:ln>
      </cdr:spPr>
      <cdr:style>
        <a:lnRef xmlns:a="http://schemas.openxmlformats.org/drawingml/2006/main" idx="2">
          <a:schemeClr val="dk1"/>
        </a:lnRef>
        <a:fillRef xmlns:a="http://schemas.openxmlformats.org/drawingml/2006/main" idx="0">
          <a:schemeClr val="dk1"/>
        </a:fillRef>
        <a:effectRef xmlns:a="http://schemas.openxmlformats.org/drawingml/2006/main" idx="1">
          <a:schemeClr val="dk1"/>
        </a:effectRef>
        <a:fontRef xmlns:a="http://schemas.openxmlformats.org/drawingml/2006/main" idx="minor">
          <a:schemeClr val="tx1"/>
        </a:fontRef>
      </cdr:style>
    </cdr:cxnSp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0.31214</cdr:x>
      <cdr:y>0.1734</cdr:y>
    </cdr:from>
    <cdr:to>
      <cdr:x>0.78006</cdr:x>
      <cdr:y>0.34006</cdr:y>
    </cdr:to>
    <cdr:sp macro="" textlink="">
      <cdr:nvSpPr>
        <cdr:cNvPr id="4" name="TextBox 3">
          <a:extLst xmlns:a="http://schemas.openxmlformats.org/drawingml/2006/main">
            <a:ext uri="{FF2B5EF4-FFF2-40B4-BE49-F238E27FC236}">
              <a16:creationId xmlns:a16="http://schemas.microsoft.com/office/drawing/2014/main" id="{C2668BD7-4A24-B1C2-FB81-3DF4B3ED315F}"/>
            </a:ext>
          </a:extLst>
        </cdr:cNvPr>
        <cdr:cNvSpPr txBox="1"/>
      </cdr:nvSpPr>
      <cdr:spPr>
        <a:xfrm xmlns:a="http://schemas.openxmlformats.org/drawingml/2006/main">
          <a:off x="713548" y="373920"/>
          <a:ext cx="1069677" cy="35939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altLang="ko-KR" sz="800" kern="1200" baseline="0">
              <a:solidFill>
                <a:srgbClr val="C00000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rPr>
            <a:t>CAGR +5.04%</a:t>
          </a:r>
          <a:endParaRPr lang="ko-KR" altLang="en-US" sz="800" kern="1200">
            <a:solidFill>
              <a:srgbClr val="C00000"/>
            </a:solidFill>
            <a:latin typeface="KoPubWorld돋움체 Bold" panose="00000800000000000000" pitchFamily="2" charset="-127"/>
            <a:ea typeface="KoPubWorld돋움체 Bold" panose="00000800000000000000" pitchFamily="2" charset="-127"/>
            <a:cs typeface="KoPubWorld돋움체 Bold" panose="00000800000000000000" pitchFamily="2" charset="-127"/>
          </a:endParaRPr>
        </a:p>
      </cdr:txBody>
    </cdr:sp>
  </cdr:relSizeAnchor>
  <cdr:relSizeAnchor xmlns:cdr="http://schemas.openxmlformats.org/drawingml/2006/chartDrawing">
    <cdr:from>
      <cdr:x>0.15375</cdr:x>
      <cdr:y>0.07353</cdr:y>
    </cdr:from>
    <cdr:to>
      <cdr:x>0.89942</cdr:x>
      <cdr:y>0.68061</cdr:y>
    </cdr:to>
    <cdr:cxnSp macro="">
      <cdr:nvCxnSpPr>
        <cdr:cNvPr id="2" name="직선 화살표 연결선 1">
          <a:extLst xmlns:a="http://schemas.openxmlformats.org/drawingml/2006/main">
            <a:ext uri="{FF2B5EF4-FFF2-40B4-BE49-F238E27FC236}">
              <a16:creationId xmlns:a16="http://schemas.microsoft.com/office/drawing/2014/main" id="{EE7AC1BC-5AF9-DBBB-2F42-D402548395D3}"/>
            </a:ext>
          </a:extLst>
        </cdr:cNvPr>
        <cdr:cNvCxnSpPr/>
      </cdr:nvCxnSpPr>
      <cdr:spPr>
        <a:xfrm xmlns:a="http://schemas.openxmlformats.org/drawingml/2006/main" flipV="1">
          <a:off x="351463" y="158566"/>
          <a:ext cx="1704616" cy="1309138"/>
        </a:xfrm>
        <a:prstGeom xmlns:a="http://schemas.openxmlformats.org/drawingml/2006/main" prst="straightConnector1">
          <a:avLst/>
        </a:prstGeom>
        <a:ln xmlns:a="http://schemas.openxmlformats.org/drawingml/2006/main">
          <a:solidFill>
            <a:srgbClr val="C00000"/>
          </a:solidFill>
          <a:tailEnd type="triangle"/>
        </a:ln>
      </cdr:spPr>
      <cdr:style>
        <a:lnRef xmlns:a="http://schemas.openxmlformats.org/drawingml/2006/main" idx="2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1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drawings/drawing5.xml><?xml version="1.0" encoding="utf-8"?>
<c:userShapes xmlns:c="http://schemas.openxmlformats.org/drawingml/2006/chart">
  <cdr:relSizeAnchor xmlns:cdr="http://schemas.openxmlformats.org/drawingml/2006/chartDrawing">
    <cdr:from>
      <cdr:x>0.19586</cdr:x>
      <cdr:y>0.16683</cdr:y>
    </cdr:from>
    <cdr:to>
      <cdr:x>0.91885</cdr:x>
      <cdr:y>0.63718</cdr:y>
    </cdr:to>
    <cdr:cxnSp macro="">
      <cdr:nvCxnSpPr>
        <cdr:cNvPr id="2" name="직선 화살표 연결선 1">
          <a:extLst xmlns:a="http://schemas.openxmlformats.org/drawingml/2006/main">
            <a:ext uri="{FF2B5EF4-FFF2-40B4-BE49-F238E27FC236}">
              <a16:creationId xmlns:a16="http://schemas.microsoft.com/office/drawing/2014/main" id="{F77CCC02-F69E-B2E8-5DA6-F460FB7C1FAD}"/>
            </a:ext>
          </a:extLst>
        </cdr:cNvPr>
        <cdr:cNvCxnSpPr/>
      </cdr:nvCxnSpPr>
      <cdr:spPr>
        <a:xfrm xmlns:a="http://schemas.openxmlformats.org/drawingml/2006/main" flipV="1">
          <a:off x="626333" y="309026"/>
          <a:ext cx="2312035" cy="871220"/>
        </a:xfrm>
        <a:prstGeom xmlns:a="http://schemas.openxmlformats.org/drawingml/2006/main" prst="straightConnector1">
          <a:avLst/>
        </a:prstGeom>
        <a:ln xmlns:a="http://schemas.openxmlformats.org/drawingml/2006/main">
          <a:solidFill>
            <a:srgbClr val="C00000"/>
          </a:solidFill>
          <a:tailEnd type="triangle"/>
        </a:ln>
      </cdr:spPr>
      <cdr:style>
        <a:lnRef xmlns:a="http://schemas.openxmlformats.org/drawingml/2006/main" idx="2">
          <a:schemeClr val="dk1"/>
        </a:lnRef>
        <a:fillRef xmlns:a="http://schemas.openxmlformats.org/drawingml/2006/main" idx="0">
          <a:schemeClr val="dk1"/>
        </a:fillRef>
        <a:effectRef xmlns:a="http://schemas.openxmlformats.org/drawingml/2006/main" idx="1">
          <a:schemeClr val="dk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0.34012</cdr:x>
      <cdr:y>0.22639</cdr:y>
    </cdr:from>
    <cdr:to>
      <cdr:x>0.72266</cdr:x>
      <cdr:y>0.41318</cdr:y>
    </cdr:to>
    <cdr:sp macro="" textlink="">
      <cdr:nvSpPr>
        <cdr:cNvPr id="3" name="TextBox 2">
          <a:extLst xmlns:a="http://schemas.openxmlformats.org/drawingml/2006/main">
            <a:ext uri="{FF2B5EF4-FFF2-40B4-BE49-F238E27FC236}">
              <a16:creationId xmlns:a16="http://schemas.microsoft.com/office/drawing/2014/main" id="{49A364F6-0409-43DC-4958-824C23F10BC6}"/>
            </a:ext>
          </a:extLst>
        </cdr:cNvPr>
        <cdr:cNvSpPr txBox="1"/>
      </cdr:nvSpPr>
      <cdr:spPr>
        <a:xfrm xmlns:a="http://schemas.openxmlformats.org/drawingml/2006/main">
          <a:off x="1087651" y="419348"/>
          <a:ext cx="1223319" cy="34599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altLang="ko-KR" kern="1200" dirty="0">
              <a:solidFill>
                <a:srgbClr val="C00000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rPr>
            <a:t>CAGR +17.93%</a:t>
          </a:r>
          <a:endParaRPr lang="ko-KR" altLang="en-US" sz="1100" kern="1200" dirty="0">
            <a:solidFill>
              <a:srgbClr val="C00000"/>
            </a:solidFill>
            <a:latin typeface="KoPubWorld돋움체 Bold" panose="00000800000000000000" pitchFamily="2" charset="-127"/>
            <a:ea typeface="KoPubWorld돋움체 Bold" panose="00000800000000000000" pitchFamily="2" charset="-127"/>
            <a:cs typeface="KoPubWorld돋움체 Bold" panose="00000800000000000000" pitchFamily="2" charset="-127"/>
          </a:endParaRP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FA5EE8-0BB3-4AD8-BB68-C90071DF390E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B4289A-25AF-46A6-B2A8-130A608BD0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6610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B4289A-25AF-46A6-B2A8-130A608BD0B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12783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79911-BF89-4822-8734-650AE54FF559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44A2-07D4-460D-A75C-B372AD9BD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4909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79911-BF89-4822-8734-650AE54FF559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44A2-07D4-460D-A75C-B372AD9BD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1398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79911-BF89-4822-8734-650AE54FF559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44A2-07D4-460D-A75C-B372AD9BD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0733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79911-BF89-4822-8734-650AE54FF559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44A2-07D4-460D-A75C-B372AD9BD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5201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79911-BF89-4822-8734-650AE54FF559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44A2-07D4-460D-A75C-B372AD9BD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935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79911-BF89-4822-8734-650AE54FF559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44A2-07D4-460D-A75C-B372AD9BD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8268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79911-BF89-4822-8734-650AE54FF559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44A2-07D4-460D-A75C-B372AD9BD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209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79911-BF89-4822-8734-650AE54FF559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44A2-07D4-460D-A75C-B372AD9BD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2048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79911-BF89-4822-8734-650AE54FF559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44A2-07D4-460D-A75C-B372AD9BD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1062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79911-BF89-4822-8734-650AE54FF559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44A2-07D4-460D-A75C-B372AD9BD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7009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79911-BF89-4822-8734-650AE54FF559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44A2-07D4-460D-A75C-B372AD9BD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0875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C79911-BF89-4822-8734-650AE54FF559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144A2-07D4-460D-A75C-B372AD9BD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143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file:///\\Users\User\Library\Group%20Containers\UBF8T346G9.ms\WebArchiveCopyPasteTempFiles\com.microsoft.Word\intellian-ow50sl.jpg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그룹 20"/>
          <p:cNvGrpSpPr/>
          <p:nvPr/>
        </p:nvGrpSpPr>
        <p:grpSpPr>
          <a:xfrm>
            <a:off x="5298801" y="2834839"/>
            <a:ext cx="4607199" cy="4023160"/>
            <a:chOff x="7588612" y="2834840"/>
            <a:chExt cx="4607198" cy="402316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5116" b="19268"/>
            <a:stretch/>
          </p:blipFill>
          <p:spPr>
            <a:xfrm>
              <a:off x="7588612" y="2834840"/>
              <a:ext cx="4607198" cy="4023160"/>
            </a:xfrm>
            <a:prstGeom prst="rect">
              <a:avLst/>
            </a:prstGeom>
          </p:spPr>
        </p:pic>
        <p:sp>
          <p:nvSpPr>
            <p:cNvPr id="23" name="직사각형 22"/>
            <p:cNvSpPr/>
            <p:nvPr/>
          </p:nvSpPr>
          <p:spPr>
            <a:xfrm>
              <a:off x="8332470" y="3154680"/>
              <a:ext cx="3859530" cy="3703320"/>
            </a:xfrm>
            <a:prstGeom prst="rect">
              <a:avLst/>
            </a:prstGeom>
            <a:solidFill>
              <a:schemeClr val="bg1"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5912" y="2459947"/>
            <a:ext cx="4680041" cy="1765849"/>
          </a:xfrm>
          <a:prstGeom prst="rect">
            <a:avLst/>
          </a:prstGeom>
        </p:spPr>
      </p:pic>
      <p:sp>
        <p:nvSpPr>
          <p:cNvPr id="17" name="자유형 16"/>
          <p:cNvSpPr/>
          <p:nvPr/>
        </p:nvSpPr>
        <p:spPr>
          <a:xfrm>
            <a:off x="0" y="-1"/>
            <a:ext cx="4857750" cy="6858000"/>
          </a:xfrm>
          <a:custGeom>
            <a:avLst/>
            <a:gdLst>
              <a:gd name="connsiteX0" fmla="*/ 0 w 6000750"/>
              <a:gd name="connsiteY0" fmla="*/ 0 h 6858000"/>
              <a:gd name="connsiteX1" fmla="*/ 3105150 w 6000750"/>
              <a:gd name="connsiteY1" fmla="*/ 0 h 6858000"/>
              <a:gd name="connsiteX2" fmla="*/ 3105150 w 6000750"/>
              <a:gd name="connsiteY2" fmla="*/ 1 h 6858000"/>
              <a:gd name="connsiteX3" fmla="*/ 6000750 w 6000750"/>
              <a:gd name="connsiteY3" fmla="*/ 3409951 h 6858000"/>
              <a:gd name="connsiteX4" fmla="*/ 3105150 w 6000750"/>
              <a:gd name="connsiteY4" fmla="*/ 6857999 h 6858000"/>
              <a:gd name="connsiteX5" fmla="*/ 3105150 w 6000750"/>
              <a:gd name="connsiteY5" fmla="*/ 6858000 h 6858000"/>
              <a:gd name="connsiteX6" fmla="*/ 0 w 600075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00750" h="6858000">
                <a:moveTo>
                  <a:pt x="0" y="0"/>
                </a:moveTo>
                <a:lnTo>
                  <a:pt x="3105150" y="0"/>
                </a:lnTo>
                <a:lnTo>
                  <a:pt x="3105150" y="1"/>
                </a:lnTo>
                <a:lnTo>
                  <a:pt x="6000750" y="3409951"/>
                </a:lnTo>
                <a:lnTo>
                  <a:pt x="3105150" y="6857999"/>
                </a:lnTo>
                <a:lnTo>
                  <a:pt x="3105150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0">
                <a:srgbClr val="1B2853">
                  <a:shade val="30000"/>
                  <a:satMod val="115000"/>
                </a:srgbClr>
              </a:gs>
              <a:gs pos="50000">
                <a:srgbClr val="1B2853">
                  <a:shade val="67500"/>
                  <a:satMod val="115000"/>
                </a:srgbClr>
              </a:gs>
              <a:gs pos="100000">
                <a:srgbClr val="1B2853">
                  <a:shade val="100000"/>
                  <a:satMod val="115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E0FFE9-D67C-E067-66AD-161DD3ECB3D8}"/>
              </a:ext>
            </a:extLst>
          </p:cNvPr>
          <p:cNvSpPr txBox="1"/>
          <p:nvPr/>
        </p:nvSpPr>
        <p:spPr>
          <a:xfrm>
            <a:off x="369257" y="2919928"/>
            <a:ext cx="57044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우주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44114C-4005-E9F4-20BF-BDF3CFF19655}"/>
              </a:ext>
            </a:extLst>
          </p:cNvPr>
          <p:cNvSpPr txBox="1"/>
          <p:nvPr/>
        </p:nvSpPr>
        <p:spPr>
          <a:xfrm>
            <a:off x="400047" y="3777581"/>
            <a:ext cx="45262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Research Team 2</a:t>
            </a:r>
            <a:endParaRPr lang="ko-KR" altLang="en-US" sz="20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17358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/>
          <p:cNvGrpSpPr/>
          <p:nvPr/>
        </p:nvGrpSpPr>
        <p:grpSpPr>
          <a:xfrm>
            <a:off x="5293358" y="2834839"/>
            <a:ext cx="4607199" cy="4023160"/>
            <a:chOff x="7588612" y="2834840"/>
            <a:chExt cx="4607198" cy="4023160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5116" b="19268"/>
            <a:stretch/>
          </p:blipFill>
          <p:spPr>
            <a:xfrm>
              <a:off x="7588612" y="2834840"/>
              <a:ext cx="4607198" cy="4023160"/>
            </a:xfrm>
            <a:prstGeom prst="rect">
              <a:avLst/>
            </a:prstGeom>
          </p:spPr>
        </p:pic>
        <p:sp>
          <p:nvSpPr>
            <p:cNvPr id="5" name="직사각형 4"/>
            <p:cNvSpPr/>
            <p:nvPr/>
          </p:nvSpPr>
          <p:spPr>
            <a:xfrm>
              <a:off x="8332470" y="3154680"/>
              <a:ext cx="3859530" cy="3703320"/>
            </a:xfrm>
            <a:prstGeom prst="rect">
              <a:avLst/>
            </a:prstGeom>
            <a:solidFill>
              <a:schemeClr val="bg1"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6" name="직각 삼각형 5"/>
          <p:cNvSpPr/>
          <p:nvPr/>
        </p:nvSpPr>
        <p:spPr>
          <a:xfrm rot="5400000">
            <a:off x="4253591" y="-4253592"/>
            <a:ext cx="1398817" cy="9906004"/>
          </a:xfrm>
          <a:prstGeom prst="rtTriangl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각 삼각형 6"/>
          <p:cNvSpPr/>
          <p:nvPr/>
        </p:nvSpPr>
        <p:spPr>
          <a:xfrm rot="5400000">
            <a:off x="-2862040" y="2862037"/>
            <a:ext cx="6858002" cy="1133927"/>
          </a:xfrm>
          <a:prstGeom prst="rtTriangle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AFBA23-2C65-86F6-D9CA-EF2752EFB135}"/>
              </a:ext>
            </a:extLst>
          </p:cNvPr>
          <p:cNvSpPr txBox="1"/>
          <p:nvPr/>
        </p:nvSpPr>
        <p:spPr>
          <a:xfrm>
            <a:off x="852763" y="1939850"/>
            <a:ext cx="54656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[</a:t>
            </a:r>
            <a:r>
              <a:rPr lang="ko-KR" altLang="en-US" sz="4000" dirty="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목차</a:t>
            </a:r>
            <a:r>
              <a:rPr lang="en-US" altLang="ko-KR" sz="4000" dirty="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51A840-2C3C-5AC1-1B35-26A7604BD5AD}"/>
              </a:ext>
            </a:extLst>
          </p:cNvPr>
          <p:cNvSpPr txBox="1"/>
          <p:nvPr/>
        </p:nvSpPr>
        <p:spPr>
          <a:xfrm>
            <a:off x="852763" y="2869329"/>
            <a:ext cx="7273952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Ⅰ. Intro</a:t>
            </a:r>
            <a:endParaRPr lang="ko-KR" altLang="en-US" sz="24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Ⅱ. Investment Point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Ⅲ. Check Point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IV. Top Picks</a:t>
            </a:r>
          </a:p>
        </p:txBody>
      </p:sp>
    </p:spTree>
    <p:extLst>
      <p:ext uri="{BB962C8B-B14F-4D97-AF65-F5344CB8AC3E}">
        <p14:creationId xmlns:p14="http://schemas.microsoft.com/office/powerpoint/2010/main" val="3169591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/>
          <p:cNvGrpSpPr/>
          <p:nvPr/>
        </p:nvGrpSpPr>
        <p:grpSpPr>
          <a:xfrm>
            <a:off x="5306572" y="2834840"/>
            <a:ext cx="4607199" cy="4023160"/>
            <a:chOff x="7588612" y="2834840"/>
            <a:chExt cx="4607198" cy="4023160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5116" b="19268"/>
            <a:stretch/>
          </p:blipFill>
          <p:spPr>
            <a:xfrm>
              <a:off x="7588612" y="2834840"/>
              <a:ext cx="4607198" cy="4023160"/>
            </a:xfrm>
            <a:prstGeom prst="rect">
              <a:avLst/>
            </a:prstGeom>
          </p:spPr>
        </p:pic>
        <p:sp>
          <p:nvSpPr>
            <p:cNvPr id="5" name="직사각형 4"/>
            <p:cNvSpPr/>
            <p:nvPr/>
          </p:nvSpPr>
          <p:spPr>
            <a:xfrm>
              <a:off x="8332470" y="3154680"/>
              <a:ext cx="3859530" cy="3703320"/>
            </a:xfrm>
            <a:prstGeom prst="rect">
              <a:avLst/>
            </a:prstGeom>
            <a:solidFill>
              <a:schemeClr val="bg1"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6" name="직각 삼각형 5"/>
          <p:cNvSpPr/>
          <p:nvPr/>
        </p:nvSpPr>
        <p:spPr>
          <a:xfrm rot="5400000">
            <a:off x="4203795" y="-4203793"/>
            <a:ext cx="1578078" cy="9985665"/>
          </a:xfrm>
          <a:prstGeom prst="rtTriangl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각 삼각형 6"/>
          <p:cNvSpPr/>
          <p:nvPr/>
        </p:nvSpPr>
        <p:spPr>
          <a:xfrm rot="5400000">
            <a:off x="-2862037" y="2916465"/>
            <a:ext cx="6858002" cy="1133927"/>
          </a:xfrm>
          <a:prstGeom prst="rtTriangle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AFBA23-2C65-86F6-D9CA-EF2752EFB135}"/>
              </a:ext>
            </a:extLst>
          </p:cNvPr>
          <p:cNvSpPr txBox="1"/>
          <p:nvPr/>
        </p:nvSpPr>
        <p:spPr>
          <a:xfrm>
            <a:off x="736379" y="2286874"/>
            <a:ext cx="54656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Ⅰ. Intro</a:t>
            </a:r>
          </a:p>
        </p:txBody>
      </p:sp>
    </p:spTree>
    <p:extLst>
      <p:ext uri="{BB962C8B-B14F-4D97-AF65-F5344CB8AC3E}">
        <p14:creationId xmlns:p14="http://schemas.microsoft.com/office/powerpoint/2010/main" val="235925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471F3-96BD-C69F-D759-87557CA8A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6BAC771-3E4A-38AB-46E6-B8C686EFD9D8}"/>
              </a:ext>
            </a:extLst>
          </p:cNvPr>
          <p:cNvSpPr/>
          <p:nvPr/>
        </p:nvSpPr>
        <p:spPr>
          <a:xfrm>
            <a:off x="0" y="6642556"/>
            <a:ext cx="9906000" cy="215444"/>
          </a:xfrm>
          <a:prstGeom prst="rect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4D2BB84-2A84-A4B8-C30D-DAA02B2B50A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4733" y="22864"/>
            <a:ext cx="1358264" cy="512493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173CD625-72EB-CD56-5E57-A7C6A128E043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 flipV="1">
            <a:off x="2052204" y="279111"/>
            <a:ext cx="6362529" cy="20009"/>
          </a:xfrm>
          <a:prstGeom prst="line">
            <a:avLst/>
          </a:prstGeom>
          <a:ln>
            <a:solidFill>
              <a:srgbClr val="1B28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6A55080-3A18-9809-BBBB-5580859355B6}"/>
              </a:ext>
            </a:extLst>
          </p:cNvPr>
          <p:cNvSpPr txBox="1"/>
          <p:nvPr/>
        </p:nvSpPr>
        <p:spPr>
          <a:xfrm>
            <a:off x="191088" y="160620"/>
            <a:ext cx="18611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년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학기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 세미나</a:t>
            </a:r>
            <a:endParaRPr lang="ko-KR" altLang="en-US" sz="1200" dirty="0">
              <a:solidFill>
                <a:srgbClr val="1B2853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B3AF8F-6CBD-D94A-83FB-AC176726A594}"/>
              </a:ext>
            </a:extLst>
          </p:cNvPr>
          <p:cNvSpPr txBox="1"/>
          <p:nvPr/>
        </p:nvSpPr>
        <p:spPr>
          <a:xfrm>
            <a:off x="399936" y="1519469"/>
            <a:ext cx="9001124" cy="1177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1)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소련 붕괴 및 냉전 종료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2)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우주 산업의 민간 기업 주도화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3)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중국의 우주 산업 전폭 지원 →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미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-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중 우주 패권 경쟁</a:t>
            </a:r>
            <a:endParaRPr lang="en-US" altLang="ko-KR" sz="1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미국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1)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아르테미스 프로그램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2)</a:t>
            </a:r>
            <a:r>
              <a:rPr lang="ko-KR" altLang="en-US" sz="1200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골든돔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프로젝트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등 대규모 정책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vs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중국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200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첸판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프로젝트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등 자체 위성 네트워크 구축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But,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중국의 경우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1)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정치적 특성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2)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경직된 민간 투자 환경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3)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우주 산업 관련 엄격한 규제 및 인허가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등으로 인해 미국에 비해 투자 기회 ↓ 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미국 내 기업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+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재사용 발사체 기술 수혜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+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우주 </a:t>
            </a:r>
            <a:r>
              <a:rPr lang="ko-KR" altLang="en-US" sz="1200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밸류체인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(Upstream + Downstream)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86D1DC-6D52-D26B-F2E1-F1A274038830}"/>
              </a:ext>
            </a:extLst>
          </p:cNvPr>
          <p:cNvSpPr txBox="1"/>
          <p:nvPr/>
        </p:nvSpPr>
        <p:spPr>
          <a:xfrm>
            <a:off x="742518" y="704891"/>
            <a:ext cx="3891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Ⅰ. Intro 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27DBB47-AABE-ECFE-C9B1-DC3C5569063D}"/>
              </a:ext>
            </a:extLst>
          </p:cNvPr>
          <p:cNvSpPr/>
          <p:nvPr/>
        </p:nvSpPr>
        <p:spPr>
          <a:xfrm>
            <a:off x="504393" y="743368"/>
            <a:ext cx="238125" cy="238125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03864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67F25DD-1F67-B8F3-1102-F971F9389244}"/>
              </a:ext>
            </a:extLst>
          </p:cNvPr>
          <p:cNvSpPr txBox="1"/>
          <p:nvPr/>
        </p:nvSpPr>
        <p:spPr>
          <a:xfrm>
            <a:off x="504392" y="1161148"/>
            <a:ext cx="90011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Would you go with me to </a:t>
            </a:r>
            <a:r>
              <a:rPr lang="ko-KR" altLang="en-US" sz="16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우주</a:t>
            </a:r>
            <a:r>
              <a:rPr lang="en-US" altLang="ko-KR" sz="16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?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C2833A8-C4E4-EC7F-9E52-A4EB8E2C119A}"/>
              </a:ext>
            </a:extLst>
          </p:cNvPr>
          <p:cNvSpPr txBox="1"/>
          <p:nvPr/>
        </p:nvSpPr>
        <p:spPr>
          <a:xfrm>
            <a:off x="399936" y="6252693"/>
            <a:ext cx="89485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60" dirty="0">
                <a:solidFill>
                  <a:srgbClr val="000000"/>
                </a:solidFill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Source</a:t>
            </a:r>
            <a:r>
              <a:rPr lang="en-US" altLang="ko-KR" sz="800" spc="-60" dirty="0">
                <a:solidFill>
                  <a:srgbClr val="000000"/>
                </a:solidFill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:</a:t>
            </a:r>
            <a:r>
              <a:rPr lang="en-US" altLang="ko-KR" sz="800" spc="-60" dirty="0">
                <a:solidFill>
                  <a:srgbClr val="000000"/>
                </a:solidFill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 LSEG</a:t>
            </a:r>
            <a:r>
              <a:rPr lang="en-US" altLang="ko-KR" sz="800" spc="-60" dirty="0">
                <a:solidFill>
                  <a:srgbClr val="000000"/>
                </a:solidFill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, RFS Team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lang="en-US" altLang="ko-KR" sz="800" dirty="0"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25</a:t>
            </a:r>
            <a:r>
              <a:rPr lang="ko-KR" altLang="en-US" sz="800" dirty="0"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년 </a:t>
            </a:r>
            <a:r>
              <a:rPr lang="en-US" altLang="ko-KR" sz="800" dirty="0"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1</a:t>
            </a:r>
            <a:r>
              <a:rPr lang="ko-KR" altLang="en-US" sz="800" dirty="0"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월 </a:t>
            </a:r>
            <a:r>
              <a:rPr lang="en-US" altLang="ko-KR" sz="800" dirty="0"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=</a:t>
            </a:r>
            <a:r>
              <a:rPr lang="ko-KR" altLang="en-US" sz="800" dirty="0"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 </a:t>
            </a:r>
            <a:r>
              <a:rPr lang="en-US" altLang="ko-KR" sz="800" dirty="0"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100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57B26E6-14C2-454D-EFDE-36775ED93819}"/>
              </a:ext>
            </a:extLst>
          </p:cNvPr>
          <p:cNvSpPr/>
          <p:nvPr/>
        </p:nvSpPr>
        <p:spPr>
          <a:xfrm>
            <a:off x="399936" y="2885439"/>
            <a:ext cx="8948528" cy="324563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우주 관련 주요 </a:t>
            </a:r>
            <a:r>
              <a:rPr lang="en-US" altLang="ko-KR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ETF</a:t>
            </a:r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들의 </a:t>
            </a:r>
            <a:r>
              <a:rPr lang="en-US" altLang="ko-KR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’25</a:t>
            </a:r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년 </a:t>
            </a:r>
            <a:r>
              <a:rPr lang="en-US" altLang="ko-KR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YTD </a:t>
            </a:r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수익률은 </a:t>
            </a:r>
            <a:r>
              <a:rPr lang="en-US" altLang="ko-KR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S&amp;P 500</a:t>
            </a:r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을 아웃 </a:t>
            </a:r>
            <a:r>
              <a:rPr lang="ko-KR" altLang="en-US" sz="1500" dirty="0" err="1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퍼폼</a:t>
            </a:r>
            <a:endParaRPr lang="ko-KR" altLang="en-US" sz="15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graphicFrame>
        <p:nvGraphicFramePr>
          <p:cNvPr id="2" name="차트 1">
            <a:extLst>
              <a:ext uri="{FF2B5EF4-FFF2-40B4-BE49-F238E27FC236}">
                <a16:creationId xmlns:a16="http://schemas.microsoft.com/office/drawing/2014/main" id="{711C9B37-C7B0-3764-CE1C-7728B8434122}"/>
              </a:ext>
            </a:extLst>
          </p:cNvPr>
          <p:cNvGraphicFramePr/>
          <p:nvPr/>
        </p:nvGraphicFramePr>
        <p:xfrm>
          <a:off x="332201" y="3377427"/>
          <a:ext cx="8948527" cy="28752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668187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/>
          <p:cNvGrpSpPr/>
          <p:nvPr/>
        </p:nvGrpSpPr>
        <p:grpSpPr>
          <a:xfrm>
            <a:off x="5298801" y="2834840"/>
            <a:ext cx="4607199" cy="4023160"/>
            <a:chOff x="7588612" y="2834840"/>
            <a:chExt cx="4607198" cy="4023160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5116" b="19268"/>
            <a:stretch/>
          </p:blipFill>
          <p:spPr>
            <a:xfrm>
              <a:off x="7588612" y="2834840"/>
              <a:ext cx="4607198" cy="4023160"/>
            </a:xfrm>
            <a:prstGeom prst="rect">
              <a:avLst/>
            </a:prstGeom>
          </p:spPr>
        </p:pic>
        <p:sp>
          <p:nvSpPr>
            <p:cNvPr id="5" name="직사각형 4"/>
            <p:cNvSpPr/>
            <p:nvPr/>
          </p:nvSpPr>
          <p:spPr>
            <a:xfrm>
              <a:off x="8332470" y="3154680"/>
              <a:ext cx="3859530" cy="3703320"/>
            </a:xfrm>
            <a:prstGeom prst="rect">
              <a:avLst/>
            </a:prstGeom>
            <a:solidFill>
              <a:schemeClr val="bg1"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6" name="직각 삼각형 5"/>
          <p:cNvSpPr/>
          <p:nvPr/>
        </p:nvSpPr>
        <p:spPr>
          <a:xfrm rot="5400000">
            <a:off x="4163963" y="-4164315"/>
            <a:ext cx="1578078" cy="9906000"/>
          </a:xfrm>
          <a:prstGeom prst="rtTriangl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각 삼각형 6"/>
          <p:cNvSpPr/>
          <p:nvPr/>
        </p:nvSpPr>
        <p:spPr>
          <a:xfrm rot="5400000">
            <a:off x="-2862037" y="2862037"/>
            <a:ext cx="6858002" cy="1133927"/>
          </a:xfrm>
          <a:prstGeom prst="rtTriangle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E480F9-D911-DFBA-18E3-B49FDC1DF3A6}"/>
              </a:ext>
            </a:extLst>
          </p:cNvPr>
          <p:cNvSpPr txBox="1"/>
          <p:nvPr/>
        </p:nvSpPr>
        <p:spPr>
          <a:xfrm>
            <a:off x="1068355" y="1898687"/>
            <a:ext cx="9517099" cy="1007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80000"/>
              </a:lnSpc>
              <a:spcAft>
                <a:spcPts val="800"/>
              </a:spcAft>
              <a:tabLst>
                <a:tab pos="1371566" algn="l"/>
              </a:tabLst>
            </a:pPr>
            <a:r>
              <a:rPr lang="ko-KR" altLang="ko-KR" sz="3200" b="1" kern="100" dirty="0" err="1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</a:t>
            </a:r>
            <a:r>
              <a:rPr lang="en-US" altLang="ko-KR" sz="3200" b="1" kern="100" spc="-6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Investment Point  </a:t>
            </a:r>
          </a:p>
          <a:p>
            <a:pPr latinLnBrk="0">
              <a:lnSpc>
                <a:spcPct val="80000"/>
              </a:lnSpc>
              <a:spcAft>
                <a:spcPts val="800"/>
              </a:spcAft>
              <a:tabLst>
                <a:tab pos="1371566" algn="l"/>
              </a:tabLst>
            </a:pPr>
            <a:endParaRPr lang="en-US" altLang="ko-KR" sz="3200" b="1" kern="100" spc="-60" dirty="0">
              <a:solidFill>
                <a:srgbClr val="002060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C2581A-431A-F7DC-F8DC-59B843371026}"/>
              </a:ext>
            </a:extLst>
          </p:cNvPr>
          <p:cNvSpPr txBox="1"/>
          <p:nvPr/>
        </p:nvSpPr>
        <p:spPr>
          <a:xfrm>
            <a:off x="1299486" y="2647656"/>
            <a:ext cx="6615427" cy="1304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1. </a:t>
            </a:r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발사체</a:t>
            </a: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 Upstream 1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2. </a:t>
            </a:r>
            <a:r>
              <a:rPr lang="ko-KR" altLang="en-US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위성체</a:t>
            </a: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 Upstream 2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3. </a:t>
            </a:r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정보 통신</a:t>
            </a: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&amp;</a:t>
            </a:r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처리</a:t>
            </a: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 Downstream</a:t>
            </a:r>
          </a:p>
        </p:txBody>
      </p:sp>
    </p:spTree>
    <p:extLst>
      <p:ext uri="{BB962C8B-B14F-4D97-AF65-F5344CB8AC3E}">
        <p14:creationId xmlns:p14="http://schemas.microsoft.com/office/powerpoint/2010/main" val="1143318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947DC-C3F7-AF59-DE85-BE1AF7B13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EDDF9CB-B294-2524-6C36-7726F0EF71F1}"/>
              </a:ext>
            </a:extLst>
          </p:cNvPr>
          <p:cNvSpPr/>
          <p:nvPr/>
        </p:nvSpPr>
        <p:spPr>
          <a:xfrm>
            <a:off x="0" y="6629399"/>
            <a:ext cx="9906000" cy="276999"/>
          </a:xfrm>
          <a:prstGeom prst="rect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A2885B6-E30A-85A3-A9D1-0CB0F863DD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4733" y="22864"/>
            <a:ext cx="1358264" cy="512493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7B7E14F-20D9-1F22-EB0F-81934814B73A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 flipV="1">
            <a:off x="2052204" y="279111"/>
            <a:ext cx="6362529" cy="20009"/>
          </a:xfrm>
          <a:prstGeom prst="line">
            <a:avLst/>
          </a:prstGeom>
          <a:ln>
            <a:solidFill>
              <a:srgbClr val="1B28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23857BA-6507-69A3-414C-8B60F2D6F8F2}"/>
              </a:ext>
            </a:extLst>
          </p:cNvPr>
          <p:cNvSpPr txBox="1"/>
          <p:nvPr/>
        </p:nvSpPr>
        <p:spPr>
          <a:xfrm>
            <a:off x="191088" y="160620"/>
            <a:ext cx="18611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1200" dirty="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년 </a:t>
            </a:r>
            <a:r>
              <a:rPr lang="en-US" altLang="ko-KR" sz="1200" dirty="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 dirty="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학기 </a:t>
            </a:r>
            <a:r>
              <a:rPr lang="en-US" altLang="ko-KR" sz="1200" dirty="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 dirty="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 세미나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2754524-416D-29BA-5868-04CD1AEF3080}"/>
              </a:ext>
            </a:extLst>
          </p:cNvPr>
          <p:cNvSpPr/>
          <p:nvPr/>
        </p:nvSpPr>
        <p:spPr>
          <a:xfrm>
            <a:off x="399935" y="3280496"/>
            <a:ext cx="4320000" cy="34925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’18</a:t>
            </a:r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년을 기점으로 급증한 글로벌 발사체 </a:t>
            </a:r>
            <a:r>
              <a:rPr lang="ko-KR" altLang="en-US" sz="1500" dirty="0" err="1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발사수</a:t>
            </a:r>
            <a:endParaRPr lang="ko-KR" altLang="en-US" sz="15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B27126E-1E13-3884-6C04-34434C3B6A40}"/>
              </a:ext>
            </a:extLst>
          </p:cNvPr>
          <p:cNvSpPr/>
          <p:nvPr/>
        </p:nvSpPr>
        <p:spPr>
          <a:xfrm>
            <a:off x="5081061" y="3283465"/>
            <a:ext cx="4320000" cy="34925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미국이 압도적으로 높은 </a:t>
            </a:r>
            <a:r>
              <a:rPr lang="en-US" altLang="ko-KR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’24</a:t>
            </a:r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년 발사체 발사 횟수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9EAAB2-E8D9-2BC6-581D-0A871C39BB34}"/>
              </a:ext>
            </a:extLst>
          </p:cNvPr>
          <p:cNvSpPr txBox="1"/>
          <p:nvPr/>
        </p:nvSpPr>
        <p:spPr>
          <a:xfrm>
            <a:off x="399936" y="1556056"/>
            <a:ext cx="9001125" cy="1177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’00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년 부터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’17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년까지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0.8%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의 연평균 증가세를 보이던 발사 횟수 →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’18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년을 기점으로 추세 증가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’24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년에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273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회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를 기록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미국은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’24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년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154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회 기록하며 전 세계 발사 횟수 의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56%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차지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이는 스페이스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X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의 </a:t>
            </a:r>
            <a:r>
              <a:rPr lang="ko-KR" altLang="en-US" sz="12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팰컨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9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의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단계 재사용 기술 성공에 기인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중국은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’17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년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18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회에서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’24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년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68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회로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발사 횟수 증가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유의미한 성장률을 보였지만 미국에 비해 훨씬 적음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과거 강자 러시아는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’16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년 부터 미국과 중국에 밀려 발사 횟수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3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위로 밀려남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7FE33E-DC28-9B61-5AD7-4F349CE60865}"/>
              </a:ext>
            </a:extLst>
          </p:cNvPr>
          <p:cNvSpPr txBox="1"/>
          <p:nvPr/>
        </p:nvSpPr>
        <p:spPr>
          <a:xfrm>
            <a:off x="742518" y="704891"/>
            <a:ext cx="5781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II. Investment Point 2. </a:t>
            </a:r>
            <a:r>
              <a:rPr lang="ko-KR" altLang="en-US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발사체</a:t>
            </a:r>
            <a:r>
              <a:rPr lang="en-US" altLang="ko-KR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: Upstream 1</a:t>
            </a:r>
          </a:p>
          <a:p>
            <a:endParaRPr lang="en-US" altLang="ko-KR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8499989-2383-F461-945A-DFE96F431BFB}"/>
              </a:ext>
            </a:extLst>
          </p:cNvPr>
          <p:cNvSpPr/>
          <p:nvPr/>
        </p:nvSpPr>
        <p:spPr>
          <a:xfrm>
            <a:off x="504393" y="743368"/>
            <a:ext cx="238125" cy="238125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03864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5958708-C1CD-6051-36C0-DCA916527799}"/>
              </a:ext>
            </a:extLst>
          </p:cNvPr>
          <p:cNvSpPr txBox="1"/>
          <p:nvPr/>
        </p:nvSpPr>
        <p:spPr>
          <a:xfrm>
            <a:off x="504392" y="1161148"/>
            <a:ext cx="90011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발사체 시장의 성장</a:t>
            </a:r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승자는 또 미국</a:t>
            </a:r>
            <a:endParaRPr lang="en-US" altLang="ko-KR" sz="1500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A774A9-9EF3-F24A-F68F-F85665189515}"/>
              </a:ext>
            </a:extLst>
          </p:cNvPr>
          <p:cNvSpPr txBox="1"/>
          <p:nvPr/>
        </p:nvSpPr>
        <p:spPr>
          <a:xfrm>
            <a:off x="5081061" y="6153109"/>
            <a:ext cx="43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Source: Forecast International, RFS</a:t>
            </a:r>
            <a:r>
              <a:rPr lang="ko-KR" altLang="en-US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Team 2                                                            </a:t>
            </a:r>
            <a:r>
              <a:rPr lang="ko-KR" altLang="en-US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단위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</a:t>
            </a:r>
            <a:r>
              <a:rPr lang="ko-KR" altLang="en-US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회</a:t>
            </a:r>
            <a:endParaRPr lang="en-US" altLang="ko-KR" sz="8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653387-FFCB-B513-423A-3F72514DC452}"/>
              </a:ext>
            </a:extLst>
          </p:cNvPr>
          <p:cNvSpPr txBox="1"/>
          <p:nvPr/>
        </p:nvSpPr>
        <p:spPr>
          <a:xfrm>
            <a:off x="399935" y="6177718"/>
            <a:ext cx="43129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Source: Statista, RFS Team 2                                                                                 </a:t>
            </a:r>
            <a:r>
              <a:rPr lang="ko-KR" altLang="en-US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단위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</a:t>
            </a:r>
            <a:r>
              <a:rPr lang="ko-KR" altLang="en-US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회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                                                            </a:t>
            </a:r>
          </a:p>
        </p:txBody>
      </p:sp>
      <p:graphicFrame>
        <p:nvGraphicFramePr>
          <p:cNvPr id="12" name="차트 11">
            <a:extLst>
              <a:ext uri="{FF2B5EF4-FFF2-40B4-BE49-F238E27FC236}">
                <a16:creationId xmlns:a16="http://schemas.microsoft.com/office/drawing/2014/main" id="{9D237433-6DEE-D7E5-13E2-82194D496559}"/>
              </a:ext>
            </a:extLst>
          </p:cNvPr>
          <p:cNvGraphicFramePr/>
          <p:nvPr/>
        </p:nvGraphicFramePr>
        <p:xfrm>
          <a:off x="623455" y="3768578"/>
          <a:ext cx="3975233" cy="23896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5" name="차트 14">
            <a:extLst>
              <a:ext uri="{FF2B5EF4-FFF2-40B4-BE49-F238E27FC236}">
                <a16:creationId xmlns:a16="http://schemas.microsoft.com/office/drawing/2014/main" id="{D8BBAB14-62EB-FEE7-C0EC-3C13B5EFFFEF}"/>
              </a:ext>
            </a:extLst>
          </p:cNvPr>
          <p:cNvGraphicFramePr/>
          <p:nvPr/>
        </p:nvGraphicFramePr>
        <p:xfrm>
          <a:off x="5243611" y="3641220"/>
          <a:ext cx="4038934" cy="23896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8" name="그림 17">
            <a:extLst>
              <a:ext uri="{FF2B5EF4-FFF2-40B4-BE49-F238E27FC236}">
                <a16:creationId xmlns:a16="http://schemas.microsoft.com/office/drawing/2014/main" id="{9547AD45-DD06-28AC-C1CB-C8CDAF5131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9998" y="3995849"/>
            <a:ext cx="1511113" cy="48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570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C6A0B-EF7E-D503-444D-FFF3E92BD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162FE6B-61B8-E90A-BC34-C8105CE3857C}"/>
              </a:ext>
            </a:extLst>
          </p:cNvPr>
          <p:cNvSpPr/>
          <p:nvPr/>
        </p:nvSpPr>
        <p:spPr>
          <a:xfrm>
            <a:off x="40640" y="6659878"/>
            <a:ext cx="9906000" cy="276999"/>
          </a:xfrm>
          <a:prstGeom prst="rect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B2BAF6B-16B3-114C-10D1-2C6B41CC14C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4733" y="22864"/>
            <a:ext cx="1358264" cy="512493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BB2C137-418C-F17C-70EF-B38CF972D5C2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 flipV="1">
            <a:off x="2052204" y="279111"/>
            <a:ext cx="6362529" cy="20009"/>
          </a:xfrm>
          <a:prstGeom prst="line">
            <a:avLst/>
          </a:prstGeom>
          <a:ln>
            <a:solidFill>
              <a:srgbClr val="1B28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47DA211-4A1A-96FE-F134-9E9EA411FB59}"/>
              </a:ext>
            </a:extLst>
          </p:cNvPr>
          <p:cNvSpPr txBox="1"/>
          <p:nvPr/>
        </p:nvSpPr>
        <p:spPr>
          <a:xfrm>
            <a:off x="191088" y="160620"/>
            <a:ext cx="18611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년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학기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 세미나</a:t>
            </a:r>
            <a:endParaRPr lang="ko-KR" altLang="en-US" sz="1200" dirty="0">
              <a:solidFill>
                <a:srgbClr val="1B2853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8AF629C-C78C-5EFC-9F48-0B9EFB72CF2F}"/>
              </a:ext>
            </a:extLst>
          </p:cNvPr>
          <p:cNvSpPr/>
          <p:nvPr/>
        </p:nvSpPr>
        <p:spPr>
          <a:xfrm>
            <a:off x="399935" y="3280496"/>
            <a:ext cx="4320000" cy="34925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 err="1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팰컨</a:t>
            </a:r>
            <a:r>
              <a:rPr lang="en-US" altLang="ko-KR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9 </a:t>
            </a:r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발사 횟수와 점유율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2A6128B-44AB-CD4F-4C05-31A63DD6478B}"/>
              </a:ext>
            </a:extLst>
          </p:cNvPr>
          <p:cNvSpPr/>
          <p:nvPr/>
        </p:nvSpPr>
        <p:spPr>
          <a:xfrm>
            <a:off x="5081061" y="3283465"/>
            <a:ext cx="4320000" cy="34925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주요 발사체 중 </a:t>
            </a:r>
            <a:r>
              <a:rPr lang="ko-KR" altLang="en-US" sz="1500" dirty="0" err="1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팰컨</a:t>
            </a:r>
            <a:r>
              <a:rPr lang="en-US" altLang="ko-KR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9</a:t>
            </a:r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의 비중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32DE72-C8C4-C607-3919-038DA77DC7F3}"/>
              </a:ext>
            </a:extLst>
          </p:cNvPr>
          <p:cNvSpPr txBox="1"/>
          <p:nvPr/>
        </p:nvSpPr>
        <p:spPr>
          <a:xfrm>
            <a:off x="399936" y="1556056"/>
            <a:ext cx="9001125" cy="2008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발사체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단 부스터 재사용 → 발사 비용 절감 →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발사 빈도 확대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+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사업 지속성 강화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재사용 시 페이로드 용량 약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16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톤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kg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당 발사 비용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940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달러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수준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4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회의 유료 발사만 진행해도 약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6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회의 스타링크 위성을 무상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으로 발사 가능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’25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년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9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월 기준 글로벌 발사 횟수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233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회 중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125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회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(52%)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를 기록 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팰컨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9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은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발사체 시장에서 개발 중인 모든 차세대 발사체의 표준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으로 자리 잡음</a:t>
            </a:r>
            <a:endParaRPr lang="en-US" altLang="ko-KR" sz="400" dirty="0">
              <a:latin typeface="KoPubWorldDotum Bold" panose="00000800000000000000" pitchFamily="2" charset="-127"/>
              <a:ea typeface="KoPubWorldDotum Bold" panose="00000800000000000000" pitchFamily="2" charset="-127"/>
              <a:cs typeface="KoPubWorldDotum Bold" panose="000008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57F32B8-8639-9663-1354-F33454FEDF48}"/>
              </a:ext>
            </a:extLst>
          </p:cNvPr>
          <p:cNvSpPr txBox="1"/>
          <p:nvPr/>
        </p:nvSpPr>
        <p:spPr>
          <a:xfrm>
            <a:off x="742518" y="704891"/>
            <a:ext cx="5781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II. Investment Point 2. </a:t>
            </a:r>
            <a:r>
              <a:rPr lang="ko-KR" altLang="en-US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발사체</a:t>
            </a:r>
            <a:r>
              <a:rPr lang="en-US" altLang="ko-KR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: Upstream 1</a:t>
            </a:r>
          </a:p>
          <a:p>
            <a:endParaRPr lang="en-US" altLang="ko-KR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DA47D91-ABFF-EF48-87A2-FF1D563E06ED}"/>
              </a:ext>
            </a:extLst>
          </p:cNvPr>
          <p:cNvSpPr/>
          <p:nvPr/>
        </p:nvSpPr>
        <p:spPr>
          <a:xfrm>
            <a:off x="504393" y="743368"/>
            <a:ext cx="238125" cy="238125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03864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4DD9F3C-A7BF-5A0C-A670-34A5825BFF01}"/>
              </a:ext>
            </a:extLst>
          </p:cNvPr>
          <p:cNvSpPr txBox="1"/>
          <p:nvPr/>
        </p:nvSpPr>
        <p:spPr>
          <a:xfrm>
            <a:off x="504392" y="1161148"/>
            <a:ext cx="90011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1. First Mover, </a:t>
            </a:r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스페이스</a:t>
            </a:r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X</a:t>
            </a:r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의 </a:t>
            </a:r>
            <a:r>
              <a:rPr lang="ko-KR" altLang="en-US" sz="1500" dirty="0" err="1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팰컨</a:t>
            </a:r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8BDA6C-E1BA-6661-DCB1-9891A28B82DC}"/>
              </a:ext>
            </a:extLst>
          </p:cNvPr>
          <p:cNvSpPr txBox="1"/>
          <p:nvPr/>
        </p:nvSpPr>
        <p:spPr>
          <a:xfrm>
            <a:off x="5081061" y="6153109"/>
            <a:ext cx="43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Source: Forecast International, RFS</a:t>
            </a:r>
            <a:r>
              <a:rPr lang="ko-KR" altLang="en-US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Team </a:t>
            </a:r>
            <a:r>
              <a:rPr lang="en-US" altLang="ko-KR" sz="80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2                                                            </a:t>
            </a:r>
            <a:r>
              <a:rPr lang="ko-KR" altLang="en-US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단위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%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2E3C96-5165-0291-5AE4-ED7980E7EBBB}"/>
              </a:ext>
            </a:extLst>
          </p:cNvPr>
          <p:cNvSpPr txBox="1"/>
          <p:nvPr/>
        </p:nvSpPr>
        <p:spPr>
          <a:xfrm>
            <a:off x="399935" y="6182957"/>
            <a:ext cx="43129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Source: Forecast International, RFS Team 2 *’25</a:t>
            </a:r>
            <a:r>
              <a:rPr lang="ko-KR" altLang="en-US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년은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ko-KR" altLang="en-US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당해 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9</a:t>
            </a:r>
            <a:r>
              <a:rPr lang="ko-KR" altLang="en-US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월까지의 횟수만 집계   단위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</a:t>
            </a:r>
            <a:r>
              <a:rPr lang="ko-KR" altLang="en-US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회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%                                                                </a:t>
            </a:r>
          </a:p>
        </p:txBody>
      </p:sp>
      <p:graphicFrame>
        <p:nvGraphicFramePr>
          <p:cNvPr id="7" name="차트 6">
            <a:extLst>
              <a:ext uri="{FF2B5EF4-FFF2-40B4-BE49-F238E27FC236}">
                <a16:creationId xmlns:a16="http://schemas.microsoft.com/office/drawing/2014/main" id="{47CC06E8-3D20-FFB7-21FE-65331A35BC6A}"/>
              </a:ext>
            </a:extLst>
          </p:cNvPr>
          <p:cNvGraphicFramePr/>
          <p:nvPr/>
        </p:nvGraphicFramePr>
        <p:xfrm>
          <a:off x="504392" y="3779719"/>
          <a:ext cx="4137783" cy="22656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차트 11">
            <a:extLst>
              <a:ext uri="{FF2B5EF4-FFF2-40B4-BE49-F238E27FC236}">
                <a16:creationId xmlns:a16="http://schemas.microsoft.com/office/drawing/2014/main" id="{9F70426A-DBA2-3A38-688E-A959D40EEEA1}"/>
              </a:ext>
            </a:extLst>
          </p:cNvPr>
          <p:cNvGraphicFramePr/>
          <p:nvPr/>
        </p:nvGraphicFramePr>
        <p:xfrm>
          <a:off x="5081061" y="3672099"/>
          <a:ext cx="4137783" cy="24541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C5955FB3-5D47-8183-BB4F-AC78DF926A0B}"/>
              </a:ext>
            </a:extLst>
          </p:cNvPr>
          <p:cNvCxnSpPr>
            <a:cxnSpLocks/>
          </p:cNvCxnSpPr>
          <p:nvPr/>
        </p:nvCxnSpPr>
        <p:spPr>
          <a:xfrm flipV="1">
            <a:off x="7279640" y="4350088"/>
            <a:ext cx="1615440" cy="76200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42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D5BAE-27C3-CB2E-0020-EB9C2B1BC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E2A0DAD-2FE6-722F-9B0D-8DDA0E090ECF}"/>
              </a:ext>
            </a:extLst>
          </p:cNvPr>
          <p:cNvSpPr/>
          <p:nvPr/>
        </p:nvSpPr>
        <p:spPr>
          <a:xfrm>
            <a:off x="0" y="6629399"/>
            <a:ext cx="9906000" cy="276999"/>
          </a:xfrm>
          <a:prstGeom prst="rect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0ADE57B-9C39-E122-300D-62071C8D799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4733" y="22864"/>
            <a:ext cx="1358264" cy="512493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580842F-1251-3530-7C3E-E5557C74E407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 flipV="1">
            <a:off x="2052204" y="279111"/>
            <a:ext cx="6362529" cy="20009"/>
          </a:xfrm>
          <a:prstGeom prst="line">
            <a:avLst/>
          </a:prstGeom>
          <a:ln>
            <a:solidFill>
              <a:srgbClr val="1B28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5633FA8-8E5D-266E-DA10-30B362E0FC21}"/>
              </a:ext>
            </a:extLst>
          </p:cNvPr>
          <p:cNvSpPr txBox="1"/>
          <p:nvPr/>
        </p:nvSpPr>
        <p:spPr>
          <a:xfrm>
            <a:off x="191088" y="160620"/>
            <a:ext cx="18611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년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학기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 세미나</a:t>
            </a:r>
            <a:endParaRPr lang="ko-KR" altLang="en-US" sz="1200" dirty="0">
              <a:solidFill>
                <a:srgbClr val="1B2853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7651FA6-17CC-0AF8-AC2A-FEDE8AB34B3E}"/>
              </a:ext>
            </a:extLst>
          </p:cNvPr>
          <p:cNvSpPr/>
          <p:nvPr/>
        </p:nvSpPr>
        <p:spPr>
          <a:xfrm>
            <a:off x="399934" y="3280496"/>
            <a:ext cx="8948529" cy="319983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발사체 중량과 가격 측면에서 스페이스</a:t>
            </a:r>
            <a:r>
              <a:rPr lang="en-US" altLang="ko-KR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X</a:t>
            </a:r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의 실질적 </a:t>
            </a:r>
            <a:r>
              <a:rPr lang="en-US" altLang="ko-KR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Follower</a:t>
            </a:r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는</a:t>
            </a:r>
            <a:r>
              <a:rPr lang="en-US" altLang="ko-KR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블루 오리진과 </a:t>
            </a:r>
            <a:r>
              <a:rPr lang="ko-KR" altLang="en-US" sz="1500" dirty="0" err="1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로켓랩</a:t>
            </a:r>
            <a:endParaRPr lang="ko-KR" altLang="en-US" sz="15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B9354A9-FBD3-0B50-3D3E-49A81860C429}"/>
              </a:ext>
            </a:extLst>
          </p:cNvPr>
          <p:cNvSpPr txBox="1"/>
          <p:nvPr/>
        </p:nvSpPr>
        <p:spPr>
          <a:xfrm>
            <a:off x="742518" y="704891"/>
            <a:ext cx="5781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II. Investment Point 2. </a:t>
            </a:r>
            <a:r>
              <a:rPr lang="ko-KR" altLang="en-US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발사체</a:t>
            </a:r>
            <a:r>
              <a:rPr lang="en-US" altLang="ko-KR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: Upstream 1</a:t>
            </a:r>
          </a:p>
          <a:p>
            <a:endParaRPr lang="en-US" altLang="ko-KR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915B8AD-9876-A040-85A1-F0BD691BDC48}"/>
              </a:ext>
            </a:extLst>
          </p:cNvPr>
          <p:cNvSpPr/>
          <p:nvPr/>
        </p:nvSpPr>
        <p:spPr>
          <a:xfrm>
            <a:off x="504393" y="743368"/>
            <a:ext cx="238125" cy="238125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03864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0D56EC3-7AD6-3A9F-CEB9-E6498FE9B968}"/>
              </a:ext>
            </a:extLst>
          </p:cNvPr>
          <p:cNvSpPr txBox="1"/>
          <p:nvPr/>
        </p:nvSpPr>
        <p:spPr>
          <a:xfrm>
            <a:off x="504392" y="1161148"/>
            <a:ext cx="90011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2. Second Follower, Who?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D3C6CB-F6A5-A051-5E88-3A8685726B42}"/>
              </a:ext>
            </a:extLst>
          </p:cNvPr>
          <p:cNvSpPr txBox="1"/>
          <p:nvPr/>
        </p:nvSpPr>
        <p:spPr>
          <a:xfrm>
            <a:off x="399934" y="5923782"/>
            <a:ext cx="43129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Source: Forecast International, RFS Team 2                                                                </a:t>
            </a:r>
          </a:p>
        </p:txBody>
      </p:sp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3C0E0C3C-1EFD-28DC-8272-9D9A463E9BFA}"/>
              </a:ext>
            </a:extLst>
          </p:cNvPr>
          <p:cNvGraphicFramePr>
            <a:graphicFrameLocks noGrp="1"/>
          </p:cNvGraphicFramePr>
          <p:nvPr/>
        </p:nvGraphicFramePr>
        <p:xfrm>
          <a:off x="457716" y="3704025"/>
          <a:ext cx="8832964" cy="2116211"/>
        </p:xfrm>
        <a:graphic>
          <a:graphicData uri="http://schemas.openxmlformats.org/drawingml/2006/table">
            <a:tbl>
              <a:tblPr firstRow="1" firstCol="1" bandRow="1"/>
              <a:tblGrid>
                <a:gridCol w="1132131">
                  <a:extLst>
                    <a:ext uri="{9D8B030D-6E8A-4147-A177-3AD203B41FA5}">
                      <a16:colId xmlns:a16="http://schemas.microsoft.com/office/drawing/2014/main" val="2324469490"/>
                    </a:ext>
                  </a:extLst>
                </a:gridCol>
                <a:gridCol w="961559">
                  <a:extLst>
                    <a:ext uri="{9D8B030D-6E8A-4147-A177-3AD203B41FA5}">
                      <a16:colId xmlns:a16="http://schemas.microsoft.com/office/drawing/2014/main" val="2300713183"/>
                    </a:ext>
                  </a:extLst>
                </a:gridCol>
                <a:gridCol w="962395">
                  <a:extLst>
                    <a:ext uri="{9D8B030D-6E8A-4147-A177-3AD203B41FA5}">
                      <a16:colId xmlns:a16="http://schemas.microsoft.com/office/drawing/2014/main" val="1540996294"/>
                    </a:ext>
                  </a:extLst>
                </a:gridCol>
                <a:gridCol w="965740">
                  <a:extLst>
                    <a:ext uri="{9D8B030D-6E8A-4147-A177-3AD203B41FA5}">
                      <a16:colId xmlns:a16="http://schemas.microsoft.com/office/drawing/2014/main" val="1926484672"/>
                    </a:ext>
                  </a:extLst>
                </a:gridCol>
                <a:gridCol w="962395">
                  <a:extLst>
                    <a:ext uri="{9D8B030D-6E8A-4147-A177-3AD203B41FA5}">
                      <a16:colId xmlns:a16="http://schemas.microsoft.com/office/drawing/2014/main" val="4049454223"/>
                    </a:ext>
                  </a:extLst>
                </a:gridCol>
                <a:gridCol w="961559">
                  <a:extLst>
                    <a:ext uri="{9D8B030D-6E8A-4147-A177-3AD203B41FA5}">
                      <a16:colId xmlns:a16="http://schemas.microsoft.com/office/drawing/2014/main" val="2217195745"/>
                    </a:ext>
                  </a:extLst>
                </a:gridCol>
                <a:gridCol w="962395">
                  <a:extLst>
                    <a:ext uri="{9D8B030D-6E8A-4147-A177-3AD203B41FA5}">
                      <a16:colId xmlns:a16="http://schemas.microsoft.com/office/drawing/2014/main" val="1065867328"/>
                    </a:ext>
                  </a:extLst>
                </a:gridCol>
                <a:gridCol w="962395">
                  <a:extLst>
                    <a:ext uri="{9D8B030D-6E8A-4147-A177-3AD203B41FA5}">
                      <a16:colId xmlns:a16="http://schemas.microsoft.com/office/drawing/2014/main" val="674213640"/>
                    </a:ext>
                  </a:extLst>
                </a:gridCol>
                <a:gridCol w="962395">
                  <a:extLst>
                    <a:ext uri="{9D8B030D-6E8A-4147-A177-3AD203B41FA5}">
                      <a16:colId xmlns:a16="http://schemas.microsoft.com/office/drawing/2014/main" val="2722923191"/>
                    </a:ext>
                  </a:extLst>
                </a:gridCol>
              </a:tblGrid>
              <a:tr h="328554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00" kern="0" spc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발사체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00" kern="0" spc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제조사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00" kern="0" spc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국가 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00" kern="0" spc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발사체 중량</a:t>
                      </a:r>
                      <a:r>
                        <a:rPr lang="en-US" sz="700" kern="0" spc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(</a:t>
                      </a:r>
                      <a:r>
                        <a:rPr lang="ko-KR" sz="700" kern="0" spc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톤</a:t>
                      </a:r>
                      <a:r>
                        <a:rPr lang="en-US" sz="700" kern="0" spc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)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00" kern="0" spc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가격</a:t>
                      </a:r>
                      <a:r>
                        <a:rPr lang="en-US" sz="700" kern="0" spc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(Mn $)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 spc="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Kg</a:t>
                      </a:r>
                      <a:r>
                        <a:rPr lang="ko-KR" sz="700" kern="0" spc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당 가격</a:t>
                      </a:r>
                      <a:r>
                        <a:rPr lang="en-US" sz="700" kern="0" spc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($)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00" kern="0" spc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발사 횟수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00" kern="0" spc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발사 실패 횟수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00" kern="0" spc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비고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8779204"/>
                  </a:ext>
                </a:extLst>
              </a:tr>
              <a:tr h="338769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900" kern="0" spc="0" dirty="0" err="1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팰컨</a:t>
                      </a:r>
                      <a:r>
                        <a:rPr lang="en-US" sz="9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9</a:t>
                      </a:r>
                      <a:endParaRPr lang="ko-KR" sz="11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9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스페이스</a:t>
                      </a: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X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9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미국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22.8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70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3,070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539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9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현재 추정가격</a:t>
                      </a:r>
                      <a:endParaRPr lang="ko-KR" sz="11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685883"/>
                  </a:ext>
                </a:extLst>
              </a:tr>
              <a:tr h="362222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9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뉴글렌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9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블루 오리진</a:t>
                      </a:r>
                      <a:endParaRPr lang="ko-KR" sz="11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9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미국</a:t>
                      </a:r>
                      <a:endParaRPr lang="ko-KR" sz="11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40.8</a:t>
                      </a:r>
                      <a:endParaRPr lang="ko-KR" sz="11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70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1,715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0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9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업계 추정가격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6413422"/>
                  </a:ext>
                </a:extLst>
              </a:tr>
              <a:tr h="362222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9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뉴트론</a:t>
                      </a:r>
                      <a:endParaRPr lang="ko-KR" sz="11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9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로켓랩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9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미국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13.0</a:t>
                      </a:r>
                      <a:endParaRPr lang="ko-KR" sz="11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55</a:t>
                      </a:r>
                      <a:endParaRPr lang="ko-KR" sz="11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4,231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0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0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9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사측 목표가격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6663403"/>
                  </a:ext>
                </a:extLst>
              </a:tr>
              <a:tr h="362222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9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아리안</a:t>
                      </a: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 6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9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아리안 그룹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9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유럽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21.7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80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3,695</a:t>
                      </a:r>
                      <a:endParaRPr lang="ko-KR" sz="11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</a:t>
                      </a:r>
                      <a:endParaRPr lang="ko-KR" sz="11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0</a:t>
                      </a:r>
                      <a:endParaRPr lang="ko-KR" sz="11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9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업계 추정가격</a:t>
                      </a:r>
                      <a:endParaRPr lang="ko-KR" sz="11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6268619"/>
                  </a:ext>
                </a:extLst>
              </a:tr>
              <a:tr h="362222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900" kern="0" spc="0" dirty="0" err="1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벌칸</a:t>
                      </a:r>
                      <a:endParaRPr lang="ko-KR" sz="11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ULA</a:t>
                      </a:r>
                      <a:endParaRPr lang="ko-KR" sz="11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9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미국</a:t>
                      </a:r>
                      <a:endParaRPr lang="ko-KR" sz="11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27.0</a:t>
                      </a:r>
                      <a:endParaRPr lang="ko-KR" sz="11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100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3,704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</a:t>
                      </a:r>
                      <a:endParaRPr lang="ko-KR" sz="11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0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9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사측 목표가격</a:t>
                      </a:r>
                      <a:endParaRPr lang="ko-KR" sz="11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0899333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A24F48BF-D529-D3F5-A943-3E2FCA3BC76E}"/>
              </a:ext>
            </a:extLst>
          </p:cNvPr>
          <p:cNvSpPr txBox="1"/>
          <p:nvPr/>
        </p:nvSpPr>
        <p:spPr>
          <a:xfrm>
            <a:off x="446293" y="1417618"/>
            <a:ext cx="9001125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스페이스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X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가 영위하지 않는 니치 마켓을 공략하는 플레이어들 등장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7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 </a:t>
            </a:r>
            <a:r>
              <a:rPr lang="ko-KR" altLang="en-US" sz="15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① </a:t>
            </a:r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대형 발사체 시장의 </a:t>
            </a:r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Fast Follower, </a:t>
            </a:r>
            <a:r>
              <a:rPr lang="ko-KR" altLang="en-US" sz="1500" dirty="0" err="1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블루오리진의</a:t>
            </a:r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ko-KR" altLang="en-US" sz="1500" dirty="0" err="1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뉴글렌</a:t>
            </a:r>
            <a:endParaRPr lang="en-US" altLang="ko-KR" sz="1200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아마존의 창업자이자 현 이사회 의장인 제프 </a:t>
            </a:r>
            <a:r>
              <a:rPr lang="ko-KR" altLang="en-US" sz="12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베이조스가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투자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팰컨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9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대비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약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80%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높은 운반 능력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+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발사 단가 약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7,000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만 달러 →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2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팰컨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9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대비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kg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당 비용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44%↓</a:t>
            </a: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하지만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’25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년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9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월 기준 스페이스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X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의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525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회의 누적 발사 횟수에 비하면 발사 횟수 표본이 절대적으로 모자란 상황 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2570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5F81E-8936-2A96-69EA-0CE0B28FC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1DA7AEF-5967-F820-A9EF-B07106C42931}"/>
              </a:ext>
            </a:extLst>
          </p:cNvPr>
          <p:cNvSpPr/>
          <p:nvPr/>
        </p:nvSpPr>
        <p:spPr>
          <a:xfrm>
            <a:off x="0" y="6629399"/>
            <a:ext cx="9906000" cy="276999"/>
          </a:xfrm>
          <a:prstGeom prst="rect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0FDDFAF-A3BB-A69A-3D8F-207F67FA14D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4733" y="22864"/>
            <a:ext cx="1358264" cy="512493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159FD0E-C207-794B-9406-1E2BEDAA1FC3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 flipV="1">
            <a:off x="2052204" y="279111"/>
            <a:ext cx="6362529" cy="20009"/>
          </a:xfrm>
          <a:prstGeom prst="line">
            <a:avLst/>
          </a:prstGeom>
          <a:ln>
            <a:solidFill>
              <a:srgbClr val="1B28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FC28ED3-869A-5390-17C5-14716F1CFF1C}"/>
              </a:ext>
            </a:extLst>
          </p:cNvPr>
          <p:cNvSpPr txBox="1"/>
          <p:nvPr/>
        </p:nvSpPr>
        <p:spPr>
          <a:xfrm>
            <a:off x="191088" y="160620"/>
            <a:ext cx="18611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년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학기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 세미나</a:t>
            </a:r>
            <a:endParaRPr lang="ko-KR" altLang="en-US" sz="1200" dirty="0">
              <a:solidFill>
                <a:srgbClr val="1B2853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7AFA97-373F-008E-9EF6-C6D93E758FD9}"/>
              </a:ext>
            </a:extLst>
          </p:cNvPr>
          <p:cNvSpPr txBox="1"/>
          <p:nvPr/>
        </p:nvSpPr>
        <p:spPr>
          <a:xfrm>
            <a:off x="742518" y="704891"/>
            <a:ext cx="5781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II. Investment Point 2. </a:t>
            </a:r>
            <a:r>
              <a:rPr lang="ko-KR" altLang="en-US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발사체</a:t>
            </a:r>
            <a:r>
              <a:rPr lang="en-US" altLang="ko-KR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: Upstream 1</a:t>
            </a:r>
          </a:p>
          <a:p>
            <a:endParaRPr lang="en-US" altLang="ko-KR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D612E04-D767-CB39-0E74-5955F597A1F8}"/>
              </a:ext>
            </a:extLst>
          </p:cNvPr>
          <p:cNvSpPr/>
          <p:nvPr/>
        </p:nvSpPr>
        <p:spPr>
          <a:xfrm>
            <a:off x="504393" y="743368"/>
            <a:ext cx="238125" cy="238125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03864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55738F2-5121-123B-0E48-77718D317BDE}"/>
              </a:ext>
            </a:extLst>
          </p:cNvPr>
          <p:cNvSpPr txBox="1"/>
          <p:nvPr/>
        </p:nvSpPr>
        <p:spPr>
          <a:xfrm>
            <a:off x="504392" y="1161148"/>
            <a:ext cx="90011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② </a:t>
            </a:r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소형 발사체 시장의 강자</a:t>
            </a:r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1500" dirty="0" err="1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로켓랩의</a:t>
            </a:r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중형 발사체 시장 진출</a:t>
            </a:r>
            <a:endParaRPr lang="en-US" altLang="ko-KR" sz="1500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E9768C-C3F6-3CDD-306B-1D5886503B96}"/>
              </a:ext>
            </a:extLst>
          </p:cNvPr>
          <p:cNvSpPr txBox="1"/>
          <p:nvPr/>
        </p:nvSpPr>
        <p:spPr>
          <a:xfrm>
            <a:off x="367413" y="6034202"/>
            <a:ext cx="177467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Source: Blue Origin, RFS Team 2                                                              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4E2A37-0DFF-20E3-E45E-DD72418949A7}"/>
              </a:ext>
            </a:extLst>
          </p:cNvPr>
          <p:cNvSpPr txBox="1"/>
          <p:nvPr/>
        </p:nvSpPr>
        <p:spPr>
          <a:xfrm>
            <a:off x="446293" y="1417618"/>
            <a:ext cx="9001125" cy="1177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당사의 기존 주력 소형 발사체인 일렉트론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’25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년 누적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60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회 발사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성공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56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회</a:t>
            </a:r>
            <a:endParaRPr lang="en-US" altLang="ko-KR" sz="1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팰컨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9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대비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43%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낮은 운반 능력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+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발사 단가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5,000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만 달러 → </a:t>
            </a:r>
            <a:r>
              <a:rPr lang="ko-KR" altLang="en-US" sz="12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팰컨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9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대비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kg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당 비용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21%</a:t>
            </a: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’25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년 하반기 첫 발사를 계획 중인 만큼 단기간 내에 스페이스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X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를 따라잡는 것은 사실상 불가능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8BCC041-AF59-868A-3780-73B77AE6F813}"/>
              </a:ext>
            </a:extLst>
          </p:cNvPr>
          <p:cNvSpPr/>
          <p:nvPr/>
        </p:nvSpPr>
        <p:spPr>
          <a:xfrm>
            <a:off x="446293" y="2973413"/>
            <a:ext cx="2081007" cy="33136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블루 오리진의 </a:t>
            </a:r>
            <a:r>
              <a:rPr lang="ko-KR" altLang="en-US" sz="1500" dirty="0" err="1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뉴글렌</a:t>
            </a:r>
            <a:endParaRPr lang="ko-KR" altLang="en-US" sz="15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6924872-5421-C2D7-C6A2-5A04F936DB81}"/>
              </a:ext>
            </a:extLst>
          </p:cNvPr>
          <p:cNvSpPr/>
          <p:nvPr/>
        </p:nvSpPr>
        <p:spPr>
          <a:xfrm>
            <a:off x="5004954" y="2961668"/>
            <a:ext cx="4320000" cy="34925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 err="1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로켓랩의</a:t>
            </a:r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주요 프로젝트</a:t>
            </a: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C8433402-08D5-6CB1-F094-22B52D77CFED}"/>
              </a:ext>
            </a:extLst>
          </p:cNvPr>
          <p:cNvGraphicFramePr>
            <a:graphicFrameLocks noGrp="1"/>
          </p:cNvGraphicFramePr>
          <p:nvPr/>
        </p:nvGraphicFramePr>
        <p:xfrm>
          <a:off x="5004954" y="3422650"/>
          <a:ext cx="4319999" cy="2332990"/>
        </p:xfrm>
        <a:graphic>
          <a:graphicData uri="http://schemas.openxmlformats.org/drawingml/2006/table">
            <a:tbl>
              <a:tblPr firstRow="1" firstCol="1" bandRow="1"/>
              <a:tblGrid>
                <a:gridCol w="700705">
                  <a:extLst>
                    <a:ext uri="{9D8B030D-6E8A-4147-A177-3AD203B41FA5}">
                      <a16:colId xmlns:a16="http://schemas.microsoft.com/office/drawing/2014/main" val="208847021"/>
                    </a:ext>
                  </a:extLst>
                </a:gridCol>
                <a:gridCol w="577151">
                  <a:extLst>
                    <a:ext uri="{9D8B030D-6E8A-4147-A177-3AD203B41FA5}">
                      <a16:colId xmlns:a16="http://schemas.microsoft.com/office/drawing/2014/main" val="844272577"/>
                    </a:ext>
                  </a:extLst>
                </a:gridCol>
                <a:gridCol w="804384">
                  <a:extLst>
                    <a:ext uri="{9D8B030D-6E8A-4147-A177-3AD203B41FA5}">
                      <a16:colId xmlns:a16="http://schemas.microsoft.com/office/drawing/2014/main" val="3058902850"/>
                    </a:ext>
                  </a:extLst>
                </a:gridCol>
                <a:gridCol w="2237759">
                  <a:extLst>
                    <a:ext uri="{9D8B030D-6E8A-4147-A177-3AD203B41FA5}">
                      <a16:colId xmlns:a16="http://schemas.microsoft.com/office/drawing/2014/main" val="3628155890"/>
                    </a:ext>
                  </a:extLst>
                </a:gridCol>
              </a:tblGrid>
              <a:tr h="216726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00" kern="0" spc="0" dirty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프로젝트명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00" kern="0" spc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고객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00" kern="0" spc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계약금액</a:t>
                      </a:r>
                      <a:r>
                        <a:rPr lang="en-US" sz="700" kern="0" spc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(Mn $)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00" kern="0" spc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비고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4406561"/>
                  </a:ext>
                </a:extLst>
              </a:tr>
              <a:tr h="420703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 spc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ESCAPADE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NASA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-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SIMPLEx (</a:t>
                      </a:r>
                      <a:r>
                        <a:rPr lang="ko-KR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화성 탐사</a:t>
                      </a:r>
                      <a:r>
                        <a:rPr lang="en-US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) </a:t>
                      </a:r>
                      <a:r>
                        <a:rPr lang="ko-KR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프로그램</a:t>
                      </a:r>
                      <a:r>
                        <a:rPr lang="en-US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, </a:t>
                      </a:r>
                      <a:r>
                        <a:rPr lang="ko-KR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위성</a:t>
                      </a:r>
                      <a:r>
                        <a:rPr lang="en-US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 2</a:t>
                      </a:r>
                      <a:r>
                        <a:rPr lang="ko-KR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개 공급</a:t>
                      </a:r>
                      <a:r>
                        <a:rPr lang="en-US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,</a:t>
                      </a:r>
                      <a:br>
                        <a:rPr lang="en-US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</a:br>
                      <a:r>
                        <a:rPr lang="en-US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2024</a:t>
                      </a:r>
                      <a:r>
                        <a:rPr lang="ko-KR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년 말 발사 예정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197796"/>
                  </a:ext>
                </a:extLst>
              </a:tr>
              <a:tr h="216726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 spc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LOXSAT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ETA Space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-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궤도에 연료 창고 건설</a:t>
                      </a:r>
                      <a:r>
                        <a:rPr lang="en-US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. Photon</a:t>
                      </a:r>
                      <a:r>
                        <a:rPr lang="ko-KR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을 이용해서 테스트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3885885"/>
                  </a:ext>
                </a:extLst>
              </a:tr>
              <a:tr h="420703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 spc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SDA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미국 국방부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515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국방부</a:t>
                      </a:r>
                      <a:r>
                        <a:rPr lang="en-US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 LEO </a:t>
                      </a:r>
                      <a:r>
                        <a:rPr lang="ko-KR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통신</a:t>
                      </a:r>
                      <a:r>
                        <a:rPr lang="en-US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 PWSA </a:t>
                      </a:r>
                      <a:r>
                        <a:rPr lang="ko-KR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프로그램</a:t>
                      </a:r>
                      <a:r>
                        <a:rPr lang="en-US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,</a:t>
                      </a:r>
                      <a:br>
                        <a:rPr lang="en-US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</a:br>
                      <a:r>
                        <a:rPr lang="en-US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18</a:t>
                      </a:r>
                      <a:r>
                        <a:rPr lang="ko-KR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개 위성 설계부터 운영까지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1279661"/>
                  </a:ext>
                </a:extLst>
              </a:tr>
              <a:tr h="420703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 spc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QLOBALSTAR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Globalstar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1.43(</a:t>
                      </a:r>
                      <a:r>
                        <a:rPr lang="ko-KR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부계약 기준</a:t>
                      </a:r>
                      <a:r>
                        <a:rPr lang="en-US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)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통신위성</a:t>
                      </a:r>
                      <a:r>
                        <a:rPr lang="en-US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 17</a:t>
                      </a:r>
                      <a:r>
                        <a:rPr lang="ko-KR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개 공급</a:t>
                      </a:r>
                      <a:r>
                        <a:rPr lang="en-US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, </a:t>
                      </a:r>
                      <a:r>
                        <a:rPr lang="ko-KR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관리 플랫폼</a:t>
                      </a:r>
                      <a:r>
                        <a:rPr lang="en-US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 SOCC </a:t>
                      </a:r>
                      <a:r>
                        <a:rPr lang="ko-KR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개발 중</a:t>
                      </a:r>
                      <a:r>
                        <a:rPr lang="en-US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,</a:t>
                      </a:r>
                      <a:br>
                        <a:rPr lang="en-US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</a:br>
                      <a:r>
                        <a:rPr lang="en-US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2025</a:t>
                      </a:r>
                      <a:r>
                        <a:rPr lang="ko-KR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년 말 발사 예상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690345"/>
                  </a:ext>
                </a:extLst>
              </a:tr>
              <a:tr h="216726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 spc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VIASAT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Viasat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-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NASA CSP </a:t>
                      </a:r>
                      <a:r>
                        <a:rPr lang="ko-KR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프로그램 관련</a:t>
                      </a:r>
                      <a:r>
                        <a:rPr lang="en-US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. </a:t>
                      </a:r>
                      <a:r>
                        <a:rPr lang="ko-KR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위성 생산 및 운영 지원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793437"/>
                  </a:ext>
                </a:extLst>
              </a:tr>
              <a:tr h="420703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 spc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VCTUS HAZE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미국 우주군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32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문제 발생 시 즉각 발사 대응을 위한 시스템 개발</a:t>
                      </a:r>
                      <a:r>
                        <a:rPr lang="en-US" sz="7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,</a:t>
                      </a:r>
                      <a:br>
                        <a:rPr lang="en-US" sz="7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</a:br>
                      <a:r>
                        <a:rPr lang="en-US" sz="7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2025</a:t>
                      </a:r>
                      <a:r>
                        <a:rPr lang="ko-KR" sz="7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년 목표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3574655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AC7C891D-738E-DEAA-E3C7-A291FDEB4B01}"/>
              </a:ext>
            </a:extLst>
          </p:cNvPr>
          <p:cNvSpPr txBox="1"/>
          <p:nvPr/>
        </p:nvSpPr>
        <p:spPr>
          <a:xfrm>
            <a:off x="4955000" y="5998330"/>
            <a:ext cx="43129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Source: Rocket Lab, </a:t>
            </a:r>
            <a:r>
              <a:rPr lang="ko-KR" altLang="en-US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언론종합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RFS Team 2                                                                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B67EEFC7-BE8F-98BA-B005-CF8088E18D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853" y="3370528"/>
            <a:ext cx="878398" cy="2326324"/>
          </a:xfrm>
          <a:prstGeom prst="rect">
            <a:avLst/>
          </a:prstGeom>
        </p:spPr>
      </p:pic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DB6D7EB7-8A4C-19B2-6BFA-7DE3444F8B79}"/>
              </a:ext>
            </a:extLst>
          </p:cNvPr>
          <p:cNvGraphicFramePr>
            <a:graphicFrameLocks noGrp="1"/>
          </p:cNvGraphicFramePr>
          <p:nvPr/>
        </p:nvGraphicFramePr>
        <p:xfrm>
          <a:off x="1254750" y="3431115"/>
          <a:ext cx="1272550" cy="2151590"/>
        </p:xfrm>
        <a:graphic>
          <a:graphicData uri="http://schemas.openxmlformats.org/drawingml/2006/table">
            <a:tbl>
              <a:tblPr firstRow="1" firstCol="1" bandRow="1"/>
              <a:tblGrid>
                <a:gridCol w="636275">
                  <a:extLst>
                    <a:ext uri="{9D8B030D-6E8A-4147-A177-3AD203B41FA5}">
                      <a16:colId xmlns:a16="http://schemas.microsoft.com/office/drawing/2014/main" val="1272770447"/>
                    </a:ext>
                  </a:extLst>
                </a:gridCol>
                <a:gridCol w="636275">
                  <a:extLst>
                    <a:ext uri="{9D8B030D-6E8A-4147-A177-3AD203B41FA5}">
                      <a16:colId xmlns:a16="http://schemas.microsoft.com/office/drawing/2014/main" val="3088333385"/>
                    </a:ext>
                  </a:extLst>
                </a:gridCol>
              </a:tblGrid>
              <a:tr h="307370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00" kern="0" spc="0" dirty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항목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00" kern="0" spc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스펙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540064"/>
                  </a:ext>
                </a:extLst>
              </a:tr>
              <a:tr h="307370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높이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98m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2546238"/>
                  </a:ext>
                </a:extLst>
              </a:tr>
              <a:tr h="307370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직경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7m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3145356"/>
                  </a:ext>
                </a:extLst>
              </a:tr>
              <a:tr h="307370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페어링 직경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7m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7190164"/>
                  </a:ext>
                </a:extLst>
              </a:tr>
              <a:tr h="307370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 spc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LEO </a:t>
                      </a:r>
                      <a:r>
                        <a:rPr lang="ko-KR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탑재량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45,000kg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205238"/>
                  </a:ext>
                </a:extLst>
              </a:tr>
              <a:tr h="307370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이륙 질량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480,000kg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3494604"/>
                  </a:ext>
                </a:extLst>
              </a:tr>
              <a:tr h="307370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주 추진제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액화 천연가스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7736284"/>
                  </a:ext>
                </a:extLst>
              </a:tr>
            </a:tbl>
          </a:graphicData>
        </a:graphic>
      </p:graphicFrame>
      <p:sp>
        <p:nvSpPr>
          <p:cNvPr id="29" name="직사각형 28">
            <a:extLst>
              <a:ext uri="{FF2B5EF4-FFF2-40B4-BE49-F238E27FC236}">
                <a16:creationId xmlns:a16="http://schemas.microsoft.com/office/drawing/2014/main" id="{48EAB580-9561-9F20-F0DE-16A90473FFDE}"/>
              </a:ext>
            </a:extLst>
          </p:cNvPr>
          <p:cNvSpPr/>
          <p:nvPr/>
        </p:nvSpPr>
        <p:spPr>
          <a:xfrm>
            <a:off x="2725623" y="2973413"/>
            <a:ext cx="2081007" cy="33136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 err="1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로켓랩의</a:t>
            </a:r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뉴트론</a:t>
            </a:r>
          </a:p>
        </p:txBody>
      </p:sp>
      <p:pic>
        <p:nvPicPr>
          <p:cNvPr id="30" name="그림 29" descr="텍스트, 가전용품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4E401CD-3840-112D-C5CD-FA25E5354DA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941" b="7919"/>
          <a:stretch>
            <a:fillRect/>
          </a:stretch>
        </p:blipFill>
        <p:spPr bwMode="auto">
          <a:xfrm>
            <a:off x="2598624" y="3359150"/>
            <a:ext cx="878398" cy="236069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E028A73F-E6B4-A9EC-2041-AC1C46EFC2DF}"/>
              </a:ext>
            </a:extLst>
          </p:cNvPr>
          <p:cNvGraphicFramePr>
            <a:graphicFrameLocks noGrp="1"/>
          </p:cNvGraphicFramePr>
          <p:nvPr/>
        </p:nvGraphicFramePr>
        <p:xfrm>
          <a:off x="3441700" y="3429000"/>
          <a:ext cx="1364930" cy="2097760"/>
        </p:xfrm>
        <a:graphic>
          <a:graphicData uri="http://schemas.openxmlformats.org/drawingml/2006/table">
            <a:tbl>
              <a:tblPr firstRow="1" firstCol="1" bandRow="1"/>
              <a:tblGrid>
                <a:gridCol w="682465">
                  <a:extLst>
                    <a:ext uri="{9D8B030D-6E8A-4147-A177-3AD203B41FA5}">
                      <a16:colId xmlns:a16="http://schemas.microsoft.com/office/drawing/2014/main" val="1225130232"/>
                    </a:ext>
                  </a:extLst>
                </a:gridCol>
                <a:gridCol w="682465">
                  <a:extLst>
                    <a:ext uri="{9D8B030D-6E8A-4147-A177-3AD203B41FA5}">
                      <a16:colId xmlns:a16="http://schemas.microsoft.com/office/drawing/2014/main" val="4121152137"/>
                    </a:ext>
                  </a:extLst>
                </a:gridCol>
              </a:tblGrid>
              <a:tr h="299680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00" kern="0" spc="0" dirty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항목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00" kern="0" spc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스펙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968088"/>
                  </a:ext>
                </a:extLst>
              </a:tr>
              <a:tr h="299680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높이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4.3m /141ft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6447758"/>
                  </a:ext>
                </a:extLst>
              </a:tr>
              <a:tr h="299680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직경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7m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8025741"/>
                  </a:ext>
                </a:extLst>
              </a:tr>
              <a:tr h="299680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페어링 직경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5m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2317889"/>
                  </a:ext>
                </a:extLst>
              </a:tr>
              <a:tr h="299680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 spc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LEO </a:t>
                      </a:r>
                      <a:r>
                        <a:rPr lang="ko-KR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탑재량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13,000kg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86462"/>
                  </a:ext>
                </a:extLst>
              </a:tr>
              <a:tr h="299680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이륙 질량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480,000kg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6942247"/>
                  </a:ext>
                </a:extLst>
              </a:tr>
              <a:tr h="299680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주 추진제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액화산소</a:t>
                      </a:r>
                      <a:r>
                        <a:rPr lang="en-US" sz="7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/</a:t>
                      </a:r>
                      <a:r>
                        <a:rPr lang="ko-KR" sz="7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메탄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0772192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290B3000-AFFE-ACC5-4C87-40DF613C8B57}"/>
              </a:ext>
            </a:extLst>
          </p:cNvPr>
          <p:cNvSpPr txBox="1"/>
          <p:nvPr/>
        </p:nvSpPr>
        <p:spPr>
          <a:xfrm>
            <a:off x="2589685" y="6021786"/>
            <a:ext cx="177467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Source: Rocket Lab, RFS Team 2                                                                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0D26EE0-9398-1E9C-2D72-70A3C0DC9F3D}"/>
              </a:ext>
            </a:extLst>
          </p:cNvPr>
          <p:cNvSpPr txBox="1"/>
          <p:nvPr/>
        </p:nvSpPr>
        <p:spPr>
          <a:xfrm>
            <a:off x="504392" y="2305359"/>
            <a:ext cx="900112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③ 유럽의 아리안</a:t>
            </a:r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6, </a:t>
            </a:r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미국의 </a:t>
            </a:r>
            <a:r>
              <a:rPr lang="ko-KR" altLang="en-US" sz="1500" dirty="0" err="1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벌컨</a:t>
            </a:r>
            <a:endParaRPr lang="en-US" altLang="ko-KR" sz="1500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endParaRPr lang="en-US" altLang="ko-KR" sz="1500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0942575-56EF-5635-20ED-76505F1A9F28}"/>
              </a:ext>
            </a:extLst>
          </p:cNvPr>
          <p:cNvSpPr txBox="1"/>
          <p:nvPr/>
        </p:nvSpPr>
        <p:spPr>
          <a:xfrm>
            <a:off x="454438" y="2538280"/>
            <a:ext cx="9001125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유럽의 아리안 그룹의 아리안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6,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미국의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ULA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의 </a:t>
            </a:r>
            <a:r>
              <a:rPr lang="ko-KR" altLang="en-US" sz="12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벌컨은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각 정부의 정책형 발사체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55515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471F3-96BD-C69F-D759-87557CA8A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6BAC771-3E4A-38AB-46E6-B8C686EFD9D8}"/>
              </a:ext>
            </a:extLst>
          </p:cNvPr>
          <p:cNvSpPr/>
          <p:nvPr/>
        </p:nvSpPr>
        <p:spPr>
          <a:xfrm>
            <a:off x="0" y="6642556"/>
            <a:ext cx="9906000" cy="215444"/>
          </a:xfrm>
          <a:prstGeom prst="rect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4D2BB84-2A84-A4B8-C30D-DAA02B2B50A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4733" y="22864"/>
            <a:ext cx="1358264" cy="512493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173CD625-72EB-CD56-5E57-A7C6A128E043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 flipV="1">
            <a:off x="2052204" y="279111"/>
            <a:ext cx="6362529" cy="20009"/>
          </a:xfrm>
          <a:prstGeom prst="line">
            <a:avLst/>
          </a:prstGeom>
          <a:ln>
            <a:solidFill>
              <a:srgbClr val="1B28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6A55080-3A18-9809-BBBB-5580859355B6}"/>
              </a:ext>
            </a:extLst>
          </p:cNvPr>
          <p:cNvSpPr txBox="1"/>
          <p:nvPr/>
        </p:nvSpPr>
        <p:spPr>
          <a:xfrm>
            <a:off x="191088" y="160620"/>
            <a:ext cx="18611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년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학기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 세미나</a:t>
            </a:r>
            <a:endParaRPr lang="ko-KR" altLang="en-US" sz="1200" dirty="0">
              <a:solidFill>
                <a:srgbClr val="1B2853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D85510-86C6-CC86-B649-69BB01F96838}"/>
              </a:ext>
            </a:extLst>
          </p:cNvPr>
          <p:cNvSpPr txBox="1"/>
          <p:nvPr/>
        </p:nvSpPr>
        <p:spPr>
          <a:xfrm>
            <a:off x="399936" y="6253130"/>
            <a:ext cx="288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60" dirty="0">
                <a:solidFill>
                  <a:srgbClr val="000000"/>
                </a:solidFill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S</a:t>
            </a:r>
            <a:r>
              <a:rPr lang="en-US" altLang="ko-KR" sz="800" spc="-60" dirty="0">
                <a:solidFill>
                  <a:srgbClr val="000000"/>
                </a:solidFill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ource: </a:t>
            </a:r>
            <a:r>
              <a:rPr lang="en-US" altLang="ko-KR" sz="800" spc="-60" dirty="0">
                <a:solidFill>
                  <a:srgbClr val="000000"/>
                </a:solidFill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Forecast International, Payload Research </a:t>
            </a:r>
            <a:r>
              <a:rPr lang="en-US" altLang="ko-KR" sz="800" spc="-60" dirty="0">
                <a:solidFill>
                  <a:srgbClr val="000000"/>
                </a:solidFill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, RFS Team 2</a:t>
            </a:r>
            <a:r>
              <a:rPr lang="ko-KR" altLang="ko-KR" sz="800" dirty="0"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 </a:t>
            </a:r>
            <a:r>
              <a:rPr lang="ko-KR" altLang="en-US" sz="800" dirty="0"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                       </a:t>
            </a:r>
            <a:endParaRPr lang="en-US" altLang="ko-KR" sz="800" dirty="0">
              <a:latin typeface="KoPubWorldDotum Light" pitchFamily="2" charset="-127"/>
              <a:ea typeface="KoPubWorldDotum Light" pitchFamily="2" charset="-127"/>
              <a:cs typeface="KoPubWorldDotum Light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86D1DC-6D52-D26B-F2E1-F1A274038830}"/>
              </a:ext>
            </a:extLst>
          </p:cNvPr>
          <p:cNvSpPr txBox="1"/>
          <p:nvPr/>
        </p:nvSpPr>
        <p:spPr>
          <a:xfrm>
            <a:off x="742517" y="704891"/>
            <a:ext cx="59228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II. Investment Point 2. </a:t>
            </a:r>
            <a:r>
              <a:rPr lang="ko-KR" altLang="en-US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발사체</a:t>
            </a:r>
            <a:r>
              <a:rPr lang="en-US" altLang="ko-KR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: Upstream 1</a:t>
            </a:r>
          </a:p>
          <a:p>
            <a:endParaRPr lang="en-US" altLang="ko-KR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27DBB47-AABE-ECFE-C9B1-DC3C5569063D}"/>
              </a:ext>
            </a:extLst>
          </p:cNvPr>
          <p:cNvSpPr/>
          <p:nvPr/>
        </p:nvSpPr>
        <p:spPr>
          <a:xfrm>
            <a:off x="504393" y="743368"/>
            <a:ext cx="238125" cy="238125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03864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67F25DD-1F67-B8F3-1102-F971F9389244}"/>
              </a:ext>
            </a:extLst>
          </p:cNvPr>
          <p:cNvSpPr txBox="1"/>
          <p:nvPr/>
        </p:nvSpPr>
        <p:spPr>
          <a:xfrm>
            <a:off x="504392" y="1161148"/>
            <a:ext cx="90011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3. </a:t>
            </a:r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스페이스</a:t>
            </a:r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X</a:t>
            </a:r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의 </a:t>
            </a:r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Next Level, </a:t>
            </a:r>
            <a:r>
              <a:rPr lang="ko-KR" altLang="en-US" sz="1500" dirty="0" err="1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스타십</a:t>
            </a:r>
            <a:endParaRPr lang="en-US" altLang="ko-KR" sz="1500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72B59F-F653-909B-9AF7-3519B80F67F1}"/>
              </a:ext>
            </a:extLst>
          </p:cNvPr>
          <p:cNvSpPr txBox="1"/>
          <p:nvPr/>
        </p:nvSpPr>
        <p:spPr>
          <a:xfrm>
            <a:off x="399936" y="1556056"/>
            <a:ext cx="8883763" cy="1177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기존의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단 재사용을 넘어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단과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단을 모두 회수 및 재사용 하는 완전 재사용 발사체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→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발사 비용 구조를 근본적으로 재편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LEO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기준 페이로드 재사용 시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100~150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톤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일회용시 최대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250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톤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→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ko-KR" altLang="en-US" sz="1200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팰컨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9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대비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4~10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배에 달하는 운반 능력</a:t>
            </a:r>
            <a:endParaRPr lang="en-US" altLang="ko-KR" sz="1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머스크는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발사 비용이 약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1,000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만 달러 수준까지 하락할 것으로 전망 →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kg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당 발사 비용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13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달러 수준으로 </a:t>
            </a:r>
            <a:r>
              <a:rPr lang="ko-KR" altLang="en-US" sz="1200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팰컨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9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의 약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10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분의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수준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’27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년부터 상업적 발사 서비스 본격화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’30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년대 후반 경 스타십은 </a:t>
            </a:r>
            <a:r>
              <a:rPr lang="ko-KR" altLang="en-US" sz="1200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팰컨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9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을 완전 대체 할 것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으로 전망 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F7220AF2-3356-2D6F-E254-923277BCEA01}"/>
              </a:ext>
            </a:extLst>
          </p:cNvPr>
          <p:cNvGraphicFramePr>
            <a:graphicFrameLocks noGrp="1"/>
          </p:cNvGraphicFramePr>
          <p:nvPr/>
        </p:nvGraphicFramePr>
        <p:xfrm>
          <a:off x="504392" y="3319073"/>
          <a:ext cx="8922598" cy="2795558"/>
        </p:xfrm>
        <a:graphic>
          <a:graphicData uri="http://schemas.openxmlformats.org/drawingml/2006/table">
            <a:tbl>
              <a:tblPr firstRow="1" firstCol="1" bandRow="1"/>
              <a:tblGrid>
                <a:gridCol w="964583">
                  <a:extLst>
                    <a:ext uri="{9D8B030D-6E8A-4147-A177-3AD203B41FA5}">
                      <a16:colId xmlns:a16="http://schemas.microsoft.com/office/drawing/2014/main" val="2312283487"/>
                    </a:ext>
                  </a:extLst>
                </a:gridCol>
                <a:gridCol w="1511032">
                  <a:extLst>
                    <a:ext uri="{9D8B030D-6E8A-4147-A177-3AD203B41FA5}">
                      <a16:colId xmlns:a16="http://schemas.microsoft.com/office/drawing/2014/main" val="3465668473"/>
                    </a:ext>
                  </a:extLst>
                </a:gridCol>
                <a:gridCol w="3924392">
                  <a:extLst>
                    <a:ext uri="{9D8B030D-6E8A-4147-A177-3AD203B41FA5}">
                      <a16:colId xmlns:a16="http://schemas.microsoft.com/office/drawing/2014/main" val="1044805516"/>
                    </a:ext>
                  </a:extLst>
                </a:gridCol>
                <a:gridCol w="2522591">
                  <a:extLst>
                    <a:ext uri="{9D8B030D-6E8A-4147-A177-3AD203B41FA5}">
                      <a16:colId xmlns:a16="http://schemas.microsoft.com/office/drawing/2014/main" val="2234314802"/>
                    </a:ext>
                  </a:extLst>
                </a:gridCol>
              </a:tblGrid>
              <a:tr h="141654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800" kern="100" spc="-6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날짜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800" kern="100" spc="-6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회차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800" kern="100" spc="-6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결과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800" kern="100" spc="-6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비고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948264"/>
                  </a:ext>
                </a:extLst>
              </a:tr>
              <a:tr h="241264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 spc="-6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2023-04-20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Integrated Flight Test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800" kern="100" spc="-6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궤도비행 실패</a:t>
                      </a:r>
                      <a:r>
                        <a:rPr lang="en-US" sz="800" kern="100" spc="-6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, MAX-Q </a:t>
                      </a:r>
                      <a:r>
                        <a:rPr lang="ko-KR" sz="800" kern="100" spc="-6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단계 성공</a:t>
                      </a:r>
                      <a:r>
                        <a:rPr lang="en-US" sz="800" kern="100" spc="-6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, </a:t>
                      </a:r>
                      <a:r>
                        <a:rPr lang="ko-KR" sz="800" kern="100" spc="-6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단 분리 실패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800" kern="100" spc="-6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최초 발사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313685"/>
                  </a:ext>
                </a:extLst>
              </a:tr>
              <a:tr h="241264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 spc="-6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2023-11-18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Integrated Flight Test2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800" kern="100" spc="-6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단 분리 성공</a:t>
                      </a:r>
                      <a:r>
                        <a:rPr lang="en-US" sz="800" kern="100" spc="-6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, </a:t>
                      </a:r>
                      <a:r>
                        <a:rPr lang="ko-KR" sz="800" kern="100" spc="-6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슈퍼 </a:t>
                      </a:r>
                      <a:r>
                        <a:rPr lang="ko-KR" sz="800" kern="100" spc="-60" dirty="0" err="1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헤비</a:t>
                      </a:r>
                      <a:r>
                        <a:rPr lang="ko-KR" sz="800" kern="100" spc="-6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 및 </a:t>
                      </a:r>
                      <a:r>
                        <a:rPr lang="ko-KR" sz="800" kern="100" spc="-60" dirty="0" err="1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스타십</a:t>
                      </a:r>
                      <a:r>
                        <a:rPr lang="ko-KR" sz="800" kern="100" spc="-6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 공중 폭발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8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최초 단분리</a:t>
                      </a:r>
                      <a:r>
                        <a:rPr lang="en-US" sz="8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, </a:t>
                      </a:r>
                      <a:r>
                        <a:rPr lang="ko-KR" sz="8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핫 스테이지 실증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7012049"/>
                  </a:ext>
                </a:extLst>
              </a:tr>
              <a:tr h="241264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 spc="-6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2024-03-14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Integrated Flight Test3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8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스타십 궤도비행 성공</a:t>
                      </a:r>
                      <a:r>
                        <a:rPr lang="en-US" sz="8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, </a:t>
                      </a:r>
                      <a:r>
                        <a:rPr lang="ko-KR" sz="8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재진입 중 파괴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8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최초 궤도비행</a:t>
                      </a:r>
                      <a:r>
                        <a:rPr lang="en-US" sz="8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, </a:t>
                      </a:r>
                      <a:r>
                        <a:rPr lang="ko-KR" sz="8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최초 재돌입 단계 진입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7903979"/>
                  </a:ext>
                </a:extLst>
              </a:tr>
              <a:tr h="241264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 spc="-6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2024-06-06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Integrated Flight Test4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8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슈퍼 헤비 연착륙 성공</a:t>
                      </a:r>
                      <a:r>
                        <a:rPr lang="en-US" sz="8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, </a:t>
                      </a:r>
                      <a:r>
                        <a:rPr lang="ko-KR" sz="8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스타십 재진입 및 연착륙 성공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800" kern="100" spc="-6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최초의 계획된 발사 전 과정 성공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4841283"/>
                  </a:ext>
                </a:extLst>
              </a:tr>
              <a:tr h="241264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 spc="-6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2024-10-13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Integrated Flight Test5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800" kern="100" spc="-6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슈퍼 </a:t>
                      </a:r>
                      <a:r>
                        <a:rPr lang="ko-KR" sz="800" kern="100" spc="-60" dirty="0" err="1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헤비</a:t>
                      </a:r>
                      <a:r>
                        <a:rPr lang="ko-KR" sz="800" kern="100" spc="-6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 회수 성공</a:t>
                      </a:r>
                      <a:r>
                        <a:rPr lang="en-US" sz="800" kern="100" spc="-6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, </a:t>
                      </a:r>
                      <a:r>
                        <a:rPr lang="ko-KR" sz="800" kern="100" spc="-60" dirty="0" err="1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스타십</a:t>
                      </a:r>
                      <a:r>
                        <a:rPr lang="ko-KR" sz="800" kern="100" spc="-6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 연착륙 성공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8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슈퍼 헤비 타워 캐치 첫 시도에서 성공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0201168"/>
                  </a:ext>
                </a:extLst>
              </a:tr>
              <a:tr h="241264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 spc="-6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2024-11-20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Integrated Flight Test6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8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슈퍼 헤비 연착륙 성공</a:t>
                      </a:r>
                      <a:r>
                        <a:rPr lang="en-US" sz="8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, </a:t>
                      </a:r>
                      <a:r>
                        <a:rPr lang="ko-KR" sz="8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스타십 연착륙 성공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-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7752199"/>
                  </a:ext>
                </a:extLst>
              </a:tr>
              <a:tr h="241264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 spc="-6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2025-01-17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Integrated Flight Test7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8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슈퍼 헤비 회수 성공</a:t>
                      </a:r>
                      <a:r>
                        <a:rPr lang="en-US" sz="8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, </a:t>
                      </a:r>
                      <a:r>
                        <a:rPr lang="ko-KR" sz="8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스타십 궤도 진입 실패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800" kern="100" spc="-6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최초의 </a:t>
                      </a:r>
                      <a:r>
                        <a:rPr lang="ko-KR" sz="800" kern="100" spc="-60" dirty="0" err="1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스타십</a:t>
                      </a:r>
                      <a:r>
                        <a:rPr lang="en-US" sz="800" kern="100" spc="-6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 V2 </a:t>
                      </a:r>
                      <a:r>
                        <a:rPr lang="ko-KR" sz="800" kern="100" spc="-6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발사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5959328"/>
                  </a:ext>
                </a:extLst>
              </a:tr>
              <a:tr h="241264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 spc="-6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2025-03-07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Integrated Flight Test8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8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슈퍼 헤비 회수 성공</a:t>
                      </a:r>
                      <a:r>
                        <a:rPr lang="en-US" sz="8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, </a:t>
                      </a:r>
                      <a:r>
                        <a:rPr lang="ko-KR" sz="8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스타십 궤도 진입 실패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-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3019198"/>
                  </a:ext>
                </a:extLst>
              </a:tr>
              <a:tr h="241264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 spc="-6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2025-05-28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Integrated Flight Test9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8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슈퍼 헤비 착수 실패</a:t>
                      </a:r>
                      <a:r>
                        <a:rPr lang="en-US" sz="8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, </a:t>
                      </a:r>
                      <a:r>
                        <a:rPr lang="ko-KR" sz="8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위성모사체 사출 실패</a:t>
                      </a:r>
                      <a:r>
                        <a:rPr lang="en-US" sz="8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, </a:t>
                      </a:r>
                      <a:r>
                        <a:rPr lang="ko-KR" sz="8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스타십 착륙 실패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8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최초의 슈퍼 헤비 재사용 성공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4636957"/>
                  </a:ext>
                </a:extLst>
              </a:tr>
              <a:tr h="241264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 spc="-6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2025-08-27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 spc="-6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Integrated Flight Test10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8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스타링크 위성 모사체</a:t>
                      </a:r>
                      <a:r>
                        <a:rPr lang="en-US" sz="8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 8</a:t>
                      </a:r>
                      <a:r>
                        <a:rPr lang="ko-KR" sz="8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기 사출 성공</a:t>
                      </a:r>
                      <a:r>
                        <a:rPr lang="en-US" sz="8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, </a:t>
                      </a:r>
                      <a:r>
                        <a:rPr lang="ko-KR" sz="8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슈퍼 헤비 착수 성공</a:t>
                      </a:r>
                      <a:r>
                        <a:rPr lang="en-US" sz="8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, </a:t>
                      </a:r>
                      <a:r>
                        <a:rPr lang="ko-KR" sz="800" kern="100" spc="-6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스타십 착수 성공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800" kern="100" spc="-6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화물 전개를 포함하여 최초로 미션 전 과정 성공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058185"/>
                  </a:ext>
                </a:extLst>
              </a:tr>
              <a:tr h="241264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 spc="-6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2025-10-13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kern="100" spc="-6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Integrated Flight Test11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800" kern="100" spc="-6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스타링크 위성 </a:t>
                      </a:r>
                      <a:r>
                        <a:rPr lang="ko-KR" sz="800" kern="100" spc="-60" dirty="0" err="1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모사체</a:t>
                      </a:r>
                      <a:r>
                        <a:rPr lang="en-US" sz="800" kern="100" spc="-6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 8</a:t>
                      </a:r>
                      <a:r>
                        <a:rPr lang="ko-KR" sz="800" kern="100" spc="-6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기 사출 성공</a:t>
                      </a:r>
                      <a:r>
                        <a:rPr lang="en-US" sz="800" kern="100" spc="-6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, </a:t>
                      </a:r>
                      <a:r>
                        <a:rPr lang="ko-KR" sz="800" kern="100" spc="-6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슈퍼 </a:t>
                      </a:r>
                      <a:r>
                        <a:rPr lang="ko-KR" sz="800" kern="100" spc="-60" dirty="0" err="1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헤비</a:t>
                      </a:r>
                      <a:r>
                        <a:rPr lang="ko-KR" sz="800" kern="100" spc="-6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 착수 성공</a:t>
                      </a:r>
                      <a:r>
                        <a:rPr lang="en-US" sz="800" kern="100" spc="-6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, </a:t>
                      </a:r>
                      <a:r>
                        <a:rPr lang="ko-KR" sz="800" kern="100" spc="-60" dirty="0" err="1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스타십</a:t>
                      </a:r>
                      <a:r>
                        <a:rPr lang="ko-KR" sz="800" kern="100" spc="-6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 착수 성공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800" kern="100" spc="-6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최초의 정지비행 성공 후 수직 착수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FAA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6542024"/>
                  </a:ext>
                </a:extLst>
              </a:tr>
            </a:tbl>
          </a:graphicData>
        </a:graphic>
      </p:graphicFrame>
      <p:sp>
        <p:nvSpPr>
          <p:cNvPr id="24" name="직사각형 23">
            <a:extLst>
              <a:ext uri="{FF2B5EF4-FFF2-40B4-BE49-F238E27FC236}">
                <a16:creationId xmlns:a16="http://schemas.microsoft.com/office/drawing/2014/main" id="{339A33AA-F81E-699E-1535-AB86ADE465FD}"/>
              </a:ext>
            </a:extLst>
          </p:cNvPr>
          <p:cNvSpPr/>
          <p:nvPr/>
        </p:nvSpPr>
        <p:spPr>
          <a:xfrm>
            <a:off x="478461" y="2860591"/>
            <a:ext cx="8948529" cy="319983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지속적으로 진행되고 있는 </a:t>
            </a:r>
            <a:r>
              <a:rPr lang="ko-KR" altLang="en-US" sz="1500" dirty="0" err="1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스타십</a:t>
            </a:r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시험 발사 </a:t>
            </a:r>
            <a:r>
              <a:rPr lang="ko-KR" altLang="en-US" sz="1500" dirty="0" err="1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회차</a:t>
            </a:r>
            <a:endParaRPr lang="ko-KR" altLang="en-US" sz="15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66903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471F3-96BD-C69F-D759-87557CA8A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6BAC771-3E4A-38AB-46E6-B8C686EFD9D8}"/>
              </a:ext>
            </a:extLst>
          </p:cNvPr>
          <p:cNvSpPr/>
          <p:nvPr/>
        </p:nvSpPr>
        <p:spPr>
          <a:xfrm>
            <a:off x="191088" y="6677797"/>
            <a:ext cx="9906000" cy="228601"/>
          </a:xfrm>
          <a:prstGeom prst="rect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4D2BB84-2A84-A4B8-C30D-DAA02B2B50A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4733" y="22864"/>
            <a:ext cx="1358264" cy="512493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173CD625-72EB-CD56-5E57-A7C6A128E043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 flipV="1">
            <a:off x="2052204" y="279111"/>
            <a:ext cx="6362529" cy="20009"/>
          </a:xfrm>
          <a:prstGeom prst="line">
            <a:avLst/>
          </a:prstGeom>
          <a:ln>
            <a:solidFill>
              <a:srgbClr val="1B28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6A55080-3A18-9809-BBBB-5580859355B6}"/>
              </a:ext>
            </a:extLst>
          </p:cNvPr>
          <p:cNvSpPr txBox="1"/>
          <p:nvPr/>
        </p:nvSpPr>
        <p:spPr>
          <a:xfrm>
            <a:off x="191088" y="160620"/>
            <a:ext cx="18611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년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학기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 세미나</a:t>
            </a:r>
            <a:endParaRPr lang="ko-KR" altLang="en-US" sz="1200" dirty="0">
              <a:solidFill>
                <a:srgbClr val="1B2853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3CA4B2-E199-AC35-104B-EDC77CEE65FA}"/>
              </a:ext>
            </a:extLst>
          </p:cNvPr>
          <p:cNvSpPr txBox="1"/>
          <p:nvPr/>
        </p:nvSpPr>
        <p:spPr>
          <a:xfrm>
            <a:off x="5004954" y="6311473"/>
            <a:ext cx="413778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Source: United States Space Force, RFS</a:t>
            </a:r>
            <a:r>
              <a:rPr lang="ko-KR" altLang="en-US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Team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D85510-86C6-CC86-B649-69BB01F96838}"/>
              </a:ext>
            </a:extLst>
          </p:cNvPr>
          <p:cNvSpPr txBox="1"/>
          <p:nvPr/>
        </p:nvSpPr>
        <p:spPr>
          <a:xfrm>
            <a:off x="399935" y="6316220"/>
            <a:ext cx="43129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Source: Statista, RFS Team 2                                                                                 </a:t>
            </a:r>
            <a:r>
              <a:rPr lang="ko-KR" altLang="en-US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단위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</a:t>
            </a:r>
            <a:r>
              <a:rPr lang="ko-KR" altLang="en-US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개</a:t>
            </a:r>
            <a:endParaRPr lang="en-US" altLang="ko-KR" sz="8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  <a:p>
            <a:endParaRPr lang="en-US" altLang="ko-KR" sz="8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9274673-7414-6E75-DF30-0E97F0425EE7}"/>
              </a:ext>
            </a:extLst>
          </p:cNvPr>
          <p:cNvSpPr/>
          <p:nvPr/>
        </p:nvSpPr>
        <p:spPr>
          <a:xfrm>
            <a:off x="405855" y="2943043"/>
            <a:ext cx="4320000" cy="34925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인공 위성 개수 증가 추이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C0C6A5F-AFD5-C206-5F24-8F32CF225A9E}"/>
              </a:ext>
            </a:extLst>
          </p:cNvPr>
          <p:cNvSpPr/>
          <p:nvPr/>
        </p:nvSpPr>
        <p:spPr>
          <a:xfrm>
            <a:off x="5081061" y="2933274"/>
            <a:ext cx="4320000" cy="34925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궤도 별 고도 범위와 주요 용도 설명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B3AF8F-6CBD-D94A-83FB-AC176726A594}"/>
              </a:ext>
            </a:extLst>
          </p:cNvPr>
          <p:cNvSpPr txBox="1"/>
          <p:nvPr/>
        </p:nvSpPr>
        <p:spPr>
          <a:xfrm>
            <a:off x="399936" y="1486891"/>
            <a:ext cx="9001125" cy="1177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1)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기존 위성 통신망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2)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광 케이블 통신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모두 한계를 직면한 상황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LEO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위성망을 통해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지연 시간을 기존 대비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95%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낮추고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광케이블이 도달하지 못 하는 지역에도 서비스 제공 가능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러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-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우 전쟁을 계기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로 관측위성의 전략적 가치가 확인 됨에 따라 급증한 관측위성의 수요 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86D1DC-6D52-D26B-F2E1-F1A274038830}"/>
              </a:ext>
            </a:extLst>
          </p:cNvPr>
          <p:cNvSpPr txBox="1"/>
          <p:nvPr/>
        </p:nvSpPr>
        <p:spPr>
          <a:xfrm>
            <a:off x="742518" y="704891"/>
            <a:ext cx="6102782" cy="604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II. Investment Point 2. </a:t>
            </a:r>
            <a:r>
              <a:rPr lang="ko-KR" altLang="en-US" dirty="0" err="1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위성체</a:t>
            </a:r>
            <a:r>
              <a:rPr lang="en-US" altLang="ko-KR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: Upstream 2</a:t>
            </a:r>
          </a:p>
          <a:p>
            <a:pPr>
              <a:lnSpc>
                <a:spcPct val="80000"/>
              </a:lnSpc>
              <a:spcAft>
                <a:spcPts val="800"/>
              </a:spcAft>
              <a:tabLst>
                <a:tab pos="1371566" algn="l"/>
              </a:tabLst>
            </a:pPr>
            <a:endParaRPr lang="en-US" altLang="ko-KR" b="1" kern="100" spc="-60" dirty="0">
              <a:solidFill>
                <a:srgbClr val="002060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27DBB47-AABE-ECFE-C9B1-DC3C5569063D}"/>
              </a:ext>
            </a:extLst>
          </p:cNvPr>
          <p:cNvSpPr/>
          <p:nvPr/>
        </p:nvSpPr>
        <p:spPr>
          <a:xfrm>
            <a:off x="504393" y="743368"/>
            <a:ext cx="238125" cy="238125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03864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67F25DD-1F67-B8F3-1102-F971F9389244}"/>
              </a:ext>
            </a:extLst>
          </p:cNvPr>
          <p:cNvSpPr txBox="1"/>
          <p:nvPr/>
        </p:nvSpPr>
        <p:spPr>
          <a:xfrm>
            <a:off x="504392" y="1161148"/>
            <a:ext cx="90011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위성 산업이 커지는 명백한 이유</a:t>
            </a:r>
            <a:endParaRPr lang="en-US" altLang="ko-KR" sz="1500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graphicFrame>
        <p:nvGraphicFramePr>
          <p:cNvPr id="28" name="차트 27">
            <a:extLst>
              <a:ext uri="{FF2B5EF4-FFF2-40B4-BE49-F238E27FC236}">
                <a16:creationId xmlns:a16="http://schemas.microsoft.com/office/drawing/2014/main" id="{563DAD80-E70A-1666-C8F6-6D9800A71B19}"/>
              </a:ext>
            </a:extLst>
          </p:cNvPr>
          <p:cNvGraphicFramePr/>
          <p:nvPr/>
        </p:nvGraphicFramePr>
        <p:xfrm>
          <a:off x="399732" y="3142998"/>
          <a:ext cx="4313107" cy="30754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" name="차트 1">
            <a:extLst>
              <a:ext uri="{FF2B5EF4-FFF2-40B4-BE49-F238E27FC236}">
                <a16:creationId xmlns:a16="http://schemas.microsoft.com/office/drawing/2014/main" id="{40DCA938-A478-12C7-907E-C4050800766A}"/>
              </a:ext>
            </a:extLst>
          </p:cNvPr>
          <p:cNvGraphicFramePr/>
          <p:nvPr/>
        </p:nvGraphicFramePr>
        <p:xfrm>
          <a:off x="461633" y="3436408"/>
          <a:ext cx="4312903" cy="27820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587CDB5D-0783-E52E-29F2-1ADFBFD3F946}"/>
              </a:ext>
            </a:extLst>
          </p:cNvPr>
          <p:cNvGraphicFramePr>
            <a:graphicFrameLocks noGrp="1"/>
          </p:cNvGraphicFramePr>
          <p:nvPr/>
        </p:nvGraphicFramePr>
        <p:xfrm>
          <a:off x="5081062" y="3436408"/>
          <a:ext cx="4320000" cy="2415752"/>
        </p:xfrm>
        <a:graphic>
          <a:graphicData uri="http://schemas.openxmlformats.org/drawingml/2006/table">
            <a:tbl>
              <a:tblPr firstRow="1" firstCol="1" bandRow="1"/>
              <a:tblGrid>
                <a:gridCol w="1440000">
                  <a:extLst>
                    <a:ext uri="{9D8B030D-6E8A-4147-A177-3AD203B41FA5}">
                      <a16:colId xmlns:a16="http://schemas.microsoft.com/office/drawing/2014/main" val="3692942835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55480849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1158890617"/>
                    </a:ext>
                  </a:extLst>
                </a:gridCol>
              </a:tblGrid>
              <a:tr h="353272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00" kern="0" spc="0" dirty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구분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00" kern="0" spc="0" dirty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고도 범위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00" kern="0" spc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주요 용도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397638"/>
                  </a:ext>
                </a:extLst>
              </a:tr>
              <a:tr h="412496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 spc="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LEO (</a:t>
                      </a:r>
                      <a:r>
                        <a:rPr lang="ko-KR" sz="7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저궤도</a:t>
                      </a:r>
                      <a:r>
                        <a:rPr lang="en-US" sz="7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)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200~2,000 km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지구관측</a:t>
                      </a:r>
                      <a:r>
                        <a:rPr lang="en-US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, </a:t>
                      </a:r>
                      <a:r>
                        <a:rPr lang="ko-KR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통신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2090267"/>
                  </a:ext>
                </a:extLst>
              </a:tr>
              <a:tr h="412496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 spc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MEO (</a:t>
                      </a:r>
                      <a:r>
                        <a:rPr lang="ko-KR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중궤도</a:t>
                      </a:r>
                      <a:r>
                        <a:rPr lang="en-US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)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2,000~35,800 km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 spc="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GPS </a:t>
                      </a:r>
                      <a:r>
                        <a:rPr lang="ko-KR" sz="7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위성 중심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4449585"/>
                  </a:ext>
                </a:extLst>
              </a:tr>
              <a:tr h="412496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 spc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GEO (</a:t>
                      </a:r>
                      <a:r>
                        <a:rPr lang="ko-KR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정지궤도</a:t>
                      </a:r>
                      <a:r>
                        <a:rPr lang="en-US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)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35,800 km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통신</a:t>
                      </a:r>
                      <a:r>
                        <a:rPr lang="en-US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, </a:t>
                      </a:r>
                      <a:r>
                        <a:rPr lang="ko-KR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방송</a:t>
                      </a:r>
                      <a:r>
                        <a:rPr lang="en-US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, </a:t>
                      </a:r>
                      <a:r>
                        <a:rPr lang="ko-KR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관측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8689331"/>
                  </a:ext>
                </a:extLst>
              </a:tr>
              <a:tr h="412496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 spc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HEO (</a:t>
                      </a:r>
                      <a:r>
                        <a:rPr lang="ko-KR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고타원궤도</a:t>
                      </a:r>
                      <a:r>
                        <a:rPr lang="en-US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)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최대</a:t>
                      </a:r>
                      <a:r>
                        <a:rPr lang="en-US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 40,000 km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특정 지역 관측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3103023"/>
                  </a:ext>
                </a:extLst>
              </a:tr>
              <a:tr h="412496"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 spc="0" dirty="0">
                          <a:solidFill>
                            <a:srgbClr val="0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SSO (</a:t>
                      </a:r>
                      <a:r>
                        <a:rPr lang="ko-KR" sz="7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태양동기궤도</a:t>
                      </a:r>
                      <a:r>
                        <a:rPr lang="en-US" sz="7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)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7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300~1,300 km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7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관측</a:t>
                      </a:r>
                      <a:r>
                        <a:rPr lang="en-US" sz="7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, </a:t>
                      </a:r>
                      <a:r>
                        <a:rPr lang="ko-KR" sz="7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환경 모니터링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41779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5205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97FDF-F57F-08C6-EF63-C11399DC7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A34B39C-2ED2-7221-6743-E7B370826B50}"/>
              </a:ext>
            </a:extLst>
          </p:cNvPr>
          <p:cNvSpPr/>
          <p:nvPr/>
        </p:nvSpPr>
        <p:spPr>
          <a:xfrm>
            <a:off x="0" y="6629399"/>
            <a:ext cx="9906000" cy="276999"/>
          </a:xfrm>
          <a:prstGeom prst="rect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AEE96BB-41A9-0FB6-E6A2-78B5CE8CFCB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4733" y="22864"/>
            <a:ext cx="1358264" cy="512493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FCD376C-AD69-E1C1-01E9-95786A09DA63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 flipV="1">
            <a:off x="2052204" y="279111"/>
            <a:ext cx="6362529" cy="20009"/>
          </a:xfrm>
          <a:prstGeom prst="line">
            <a:avLst/>
          </a:prstGeom>
          <a:ln>
            <a:solidFill>
              <a:srgbClr val="1B28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5641F5E-1A75-E4CE-B8AE-FA5465E2ADF3}"/>
              </a:ext>
            </a:extLst>
          </p:cNvPr>
          <p:cNvSpPr txBox="1"/>
          <p:nvPr/>
        </p:nvSpPr>
        <p:spPr>
          <a:xfrm>
            <a:off x="191088" y="160620"/>
            <a:ext cx="18611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년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학기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 세미나</a:t>
            </a:r>
            <a:endParaRPr lang="ko-KR" altLang="en-US" sz="1200" dirty="0">
              <a:solidFill>
                <a:srgbClr val="1B2853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A98C125-D172-F205-1D3A-88D94BDFE6C2}"/>
              </a:ext>
            </a:extLst>
          </p:cNvPr>
          <p:cNvSpPr/>
          <p:nvPr/>
        </p:nvSpPr>
        <p:spPr>
          <a:xfrm>
            <a:off x="405856" y="2791169"/>
            <a:ext cx="2988508" cy="34925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스타링크 구독자 수와 매출 추이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E92F05E-A271-4DEE-A92E-6F5CA0917D04}"/>
              </a:ext>
            </a:extLst>
          </p:cNvPr>
          <p:cNvSpPr/>
          <p:nvPr/>
        </p:nvSpPr>
        <p:spPr>
          <a:xfrm>
            <a:off x="3695700" y="2791169"/>
            <a:ext cx="5710106" cy="34925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외부 고객이 </a:t>
            </a:r>
            <a:r>
              <a:rPr lang="en-US" altLang="ko-KR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5,000</a:t>
            </a:r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만 달러로 </a:t>
            </a:r>
            <a:r>
              <a:rPr lang="en-US" altLang="ko-KR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4</a:t>
            </a:r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번 발사</a:t>
            </a:r>
            <a:r>
              <a:rPr lang="en-US" altLang="ko-KR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,10</a:t>
            </a:r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회 전체 발사 비용 회수 가능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991DD4-E13A-6717-F66C-668DC6FA9E4B}"/>
              </a:ext>
            </a:extLst>
          </p:cNvPr>
          <p:cNvSpPr txBox="1"/>
          <p:nvPr/>
        </p:nvSpPr>
        <p:spPr>
          <a:xfrm>
            <a:off x="399936" y="1475425"/>
            <a:ext cx="9206459" cy="2008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스타링크 가입자의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30%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이상이 북미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나머지는 </a:t>
            </a:r>
            <a:r>
              <a:rPr lang="ko-KR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유럽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·</a:t>
            </a:r>
            <a:r>
              <a:rPr lang="ko-KR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대양주에서 발생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’25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년 </a:t>
            </a:r>
            <a:r>
              <a:rPr lang="ko-KR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북미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</a:t>
            </a:r>
            <a:r>
              <a:rPr lang="ko-KR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유럽 약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1</a:t>
            </a:r>
            <a:r>
              <a:rPr lang="ko-KR" altLang="ko-KR" sz="1200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억명</a:t>
            </a:r>
            <a:r>
              <a:rPr lang="ko-KR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잠재 수요</a:t>
            </a:r>
            <a:r>
              <a:rPr lang="ko-KR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층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+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인터넷 보급률이 낮은 신흥국 진출을 통한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Q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증가가 확실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팰컨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9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기준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단 부스터를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10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회 재사용할 경우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상업 발사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4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회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만으로 전체 발사 비용이 회수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매년 약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17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억달러의 비용을 부담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+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동일 기간 예상 매출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66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억 달러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= </a:t>
            </a:r>
            <a:r>
              <a:rPr lang="ko-KR" altLang="en-US" sz="1200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매출총이익률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75%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의 높은 수익성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90FA8B9-8622-D004-B100-C295F717A98D}"/>
              </a:ext>
            </a:extLst>
          </p:cNvPr>
          <p:cNvSpPr txBox="1"/>
          <p:nvPr/>
        </p:nvSpPr>
        <p:spPr>
          <a:xfrm>
            <a:off x="742517" y="704891"/>
            <a:ext cx="6293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II. Investment Point 2. </a:t>
            </a:r>
            <a:r>
              <a:rPr lang="ko-KR" altLang="en-US" dirty="0" err="1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위성체</a:t>
            </a:r>
            <a:r>
              <a:rPr lang="en-US" altLang="ko-KR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: Upstream 2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78D7241-A8EE-E8EB-C3B5-2A25FAC9D3D0}"/>
              </a:ext>
            </a:extLst>
          </p:cNvPr>
          <p:cNvSpPr/>
          <p:nvPr/>
        </p:nvSpPr>
        <p:spPr>
          <a:xfrm>
            <a:off x="504393" y="743368"/>
            <a:ext cx="238125" cy="238125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03864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C698872-187C-E0DF-F583-E9C4FA772374}"/>
              </a:ext>
            </a:extLst>
          </p:cNvPr>
          <p:cNvSpPr txBox="1"/>
          <p:nvPr/>
        </p:nvSpPr>
        <p:spPr>
          <a:xfrm>
            <a:off x="504392" y="1161148"/>
            <a:ext cx="90011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통신위성</a:t>
            </a:r>
            <a:endParaRPr lang="en-US" altLang="ko-KR" sz="1500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graphicFrame>
        <p:nvGraphicFramePr>
          <p:cNvPr id="28" name="차트 27">
            <a:extLst>
              <a:ext uri="{FF2B5EF4-FFF2-40B4-BE49-F238E27FC236}">
                <a16:creationId xmlns:a16="http://schemas.microsoft.com/office/drawing/2014/main" id="{3C79E03F-C517-2400-1DD3-0891308BC37D}"/>
              </a:ext>
            </a:extLst>
          </p:cNvPr>
          <p:cNvGraphicFramePr/>
          <p:nvPr/>
        </p:nvGraphicFramePr>
        <p:xfrm>
          <a:off x="399733" y="3142998"/>
          <a:ext cx="2988508" cy="30754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C9B3185-13EB-0F4E-DE49-3809CA7329EA}"/>
              </a:ext>
            </a:extLst>
          </p:cNvPr>
          <p:cNvSpPr txBox="1"/>
          <p:nvPr/>
        </p:nvSpPr>
        <p:spPr>
          <a:xfrm>
            <a:off x="3558877" y="6316305"/>
            <a:ext cx="5534988" cy="2154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Source: RFS</a:t>
            </a:r>
            <a:r>
              <a:rPr lang="ko-KR" altLang="en-US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Team 2 </a:t>
            </a:r>
            <a:r>
              <a:rPr lang="ko-KR" altLang="en-US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추정</a:t>
            </a:r>
            <a:endParaRPr lang="en-US" altLang="ko-KR" sz="8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E0649A-0238-D335-0323-50B255B61F45}"/>
              </a:ext>
            </a:extLst>
          </p:cNvPr>
          <p:cNvSpPr txBox="1"/>
          <p:nvPr/>
        </p:nvSpPr>
        <p:spPr>
          <a:xfrm>
            <a:off x="399936" y="6316219"/>
            <a:ext cx="29883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Source: Electro IQ, Forrester, RFS Team 2    </a:t>
            </a:r>
            <a:r>
              <a:rPr lang="ko-KR" altLang="en-US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단위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</a:t>
            </a:r>
            <a:r>
              <a:rPr lang="ko-KR" altLang="en-US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만 명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Mn $</a:t>
            </a:r>
          </a:p>
          <a:p>
            <a:endParaRPr lang="en-US" altLang="ko-KR" sz="800" dirty="0">
              <a:latin typeface="KoPubWorld돋움체 Light" panose="00000300000000000000" pitchFamily="2" charset="-127"/>
              <a:ea typeface="KoPubWorld돋움체 Light" panose="00000300000000000000" pitchFamily="2" charset="-127"/>
              <a:cs typeface="KoPubWorld돋움체 Light" panose="00000300000000000000" pitchFamily="2" charset="-127"/>
            </a:endParaRPr>
          </a:p>
        </p:txBody>
      </p:sp>
      <p:graphicFrame>
        <p:nvGraphicFramePr>
          <p:cNvPr id="7" name="차트 6">
            <a:extLst>
              <a:ext uri="{FF2B5EF4-FFF2-40B4-BE49-F238E27FC236}">
                <a16:creationId xmlns:a16="http://schemas.microsoft.com/office/drawing/2014/main" id="{3CFE5642-3B02-C3D5-5268-FE83A6F2CA68}"/>
              </a:ext>
            </a:extLst>
          </p:cNvPr>
          <p:cNvGraphicFramePr/>
          <p:nvPr/>
        </p:nvGraphicFramePr>
        <p:xfrm>
          <a:off x="405856" y="3167594"/>
          <a:ext cx="2982385" cy="30508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2FD37DCB-45F8-06C3-C68D-A9712396951B}"/>
              </a:ext>
            </a:extLst>
          </p:cNvPr>
          <p:cNvGraphicFramePr>
            <a:graphicFrameLocks noGrp="1"/>
          </p:cNvGraphicFramePr>
          <p:nvPr/>
        </p:nvGraphicFramePr>
        <p:xfrm>
          <a:off x="3695699" y="3228033"/>
          <a:ext cx="5710106" cy="2874384"/>
        </p:xfrm>
        <a:graphic>
          <a:graphicData uri="http://schemas.openxmlformats.org/drawingml/2006/table">
            <a:tbl>
              <a:tblPr firstRow="1" firstCol="1" bandRow="1"/>
              <a:tblGrid>
                <a:gridCol w="645648">
                  <a:extLst>
                    <a:ext uri="{9D8B030D-6E8A-4147-A177-3AD203B41FA5}">
                      <a16:colId xmlns:a16="http://schemas.microsoft.com/office/drawing/2014/main" val="3369191412"/>
                    </a:ext>
                  </a:extLst>
                </a:gridCol>
                <a:gridCol w="646474">
                  <a:extLst>
                    <a:ext uri="{9D8B030D-6E8A-4147-A177-3AD203B41FA5}">
                      <a16:colId xmlns:a16="http://schemas.microsoft.com/office/drawing/2014/main" val="2066010736"/>
                    </a:ext>
                  </a:extLst>
                </a:gridCol>
                <a:gridCol w="646474">
                  <a:extLst>
                    <a:ext uri="{9D8B030D-6E8A-4147-A177-3AD203B41FA5}">
                      <a16:colId xmlns:a16="http://schemas.microsoft.com/office/drawing/2014/main" val="463407808"/>
                    </a:ext>
                  </a:extLst>
                </a:gridCol>
                <a:gridCol w="677023">
                  <a:extLst>
                    <a:ext uri="{9D8B030D-6E8A-4147-A177-3AD203B41FA5}">
                      <a16:colId xmlns:a16="http://schemas.microsoft.com/office/drawing/2014/main" val="3158555453"/>
                    </a:ext>
                  </a:extLst>
                </a:gridCol>
                <a:gridCol w="740596">
                  <a:extLst>
                    <a:ext uri="{9D8B030D-6E8A-4147-A177-3AD203B41FA5}">
                      <a16:colId xmlns:a16="http://schemas.microsoft.com/office/drawing/2014/main" val="3881261132"/>
                    </a:ext>
                  </a:extLst>
                </a:gridCol>
                <a:gridCol w="771971">
                  <a:extLst>
                    <a:ext uri="{9D8B030D-6E8A-4147-A177-3AD203B41FA5}">
                      <a16:colId xmlns:a16="http://schemas.microsoft.com/office/drawing/2014/main" val="1967306682"/>
                    </a:ext>
                  </a:extLst>
                </a:gridCol>
                <a:gridCol w="870222">
                  <a:extLst>
                    <a:ext uri="{9D8B030D-6E8A-4147-A177-3AD203B41FA5}">
                      <a16:colId xmlns:a16="http://schemas.microsoft.com/office/drawing/2014/main" val="2522598810"/>
                    </a:ext>
                  </a:extLst>
                </a:gridCol>
                <a:gridCol w="711698">
                  <a:extLst>
                    <a:ext uri="{9D8B030D-6E8A-4147-A177-3AD203B41FA5}">
                      <a16:colId xmlns:a16="http://schemas.microsoft.com/office/drawing/2014/main" val="1575002709"/>
                    </a:ext>
                  </a:extLst>
                </a:gridCol>
              </a:tblGrid>
              <a:tr h="268069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900" kern="100" spc="-60" dirty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발사 횟수</a:t>
                      </a:r>
                      <a:endParaRPr lang="ko-KR" sz="11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1</a:t>
                      </a:r>
                      <a:r>
                        <a:rPr lang="ko-KR" sz="900" kern="100" spc="-6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단 제작비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2</a:t>
                      </a:r>
                      <a:r>
                        <a:rPr lang="ko-KR" sz="900" kern="100" spc="-6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단 제작비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900" kern="100" spc="-6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페어링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FFFFFF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1</a:t>
                      </a:r>
                      <a:r>
                        <a:rPr lang="ko-KR" sz="900" kern="100" spc="-6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단 정비비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900" kern="100" spc="-60" dirty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연료비 및 기타</a:t>
                      </a:r>
                      <a:endParaRPr lang="ko-KR" sz="11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900" kern="100" spc="-6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발사 비용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900" kern="100" spc="-6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발사 가격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605447"/>
                  </a:ext>
                </a:extLst>
              </a:tr>
              <a:tr h="241546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30</a:t>
                      </a:r>
                      <a:endParaRPr lang="ko-KR" sz="11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10</a:t>
                      </a:r>
                      <a:endParaRPr lang="ko-KR" sz="11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5.5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0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50.5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62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0771627"/>
                  </a:ext>
                </a:extLst>
              </a:tr>
              <a:tr h="241546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0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10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0</a:t>
                      </a:r>
                      <a:endParaRPr lang="ko-KR" sz="11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0.25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15.25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50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965606"/>
                  </a:ext>
                </a:extLst>
              </a:tr>
              <a:tr h="241546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3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0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10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5.5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0.25</a:t>
                      </a:r>
                      <a:endParaRPr lang="ko-KR" sz="11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20.75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50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8090786"/>
                  </a:ext>
                </a:extLst>
              </a:tr>
              <a:tr h="241546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4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0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10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0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0.25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</a:t>
                      </a:r>
                      <a:endParaRPr lang="ko-KR" sz="11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15.25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50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064434"/>
                  </a:ext>
                </a:extLst>
              </a:tr>
              <a:tr h="241546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0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10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5.5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0.25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20.75</a:t>
                      </a:r>
                      <a:endParaRPr lang="ko-KR" sz="11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50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1213455"/>
                  </a:ext>
                </a:extLst>
              </a:tr>
              <a:tr h="241546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6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0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10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0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0.25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15.75</a:t>
                      </a:r>
                      <a:endParaRPr lang="ko-KR" sz="11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50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4337602"/>
                  </a:ext>
                </a:extLst>
              </a:tr>
              <a:tr h="241546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7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0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10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5.5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0.25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20.75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50</a:t>
                      </a:r>
                      <a:endParaRPr lang="ko-KR" sz="11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1547969"/>
                  </a:ext>
                </a:extLst>
              </a:tr>
              <a:tr h="241546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8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0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10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0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0.25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15.25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50</a:t>
                      </a:r>
                      <a:endParaRPr lang="ko-KR" sz="11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0068721"/>
                  </a:ext>
                </a:extLst>
              </a:tr>
              <a:tr h="241546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9</a:t>
                      </a:r>
                      <a:endParaRPr lang="ko-KR" sz="11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0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10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5.5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0.25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20.75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50</a:t>
                      </a:r>
                      <a:endParaRPr lang="ko-KR" sz="11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1928678"/>
                  </a:ext>
                </a:extLst>
              </a:tr>
              <a:tr h="241546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10</a:t>
                      </a:r>
                      <a:endParaRPr lang="ko-KR" sz="11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0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10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0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0.25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15.75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 dirty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50</a:t>
                      </a:r>
                      <a:endParaRPr lang="ko-KR" sz="11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4318436"/>
                  </a:ext>
                </a:extLst>
              </a:tr>
              <a:tr h="190855">
                <a:tc gridSpan="6"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900" kern="100" spc="-6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합계</a:t>
                      </a:r>
                      <a:endParaRPr lang="ko-KR" sz="11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>
                          <a:solidFill>
                            <a:srgbClr val="C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209.75</a:t>
                      </a:r>
                      <a:endParaRPr lang="ko-KR" sz="11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kern="100" spc="-60" dirty="0">
                          <a:solidFill>
                            <a:srgbClr val="C00000"/>
                          </a:solidFill>
                          <a:effectLst/>
                          <a:latin typeface="KoPubWorld돋움체 Bold" panose="00000800000000000000" pitchFamily="2" charset="-127"/>
                          <a:ea typeface="KoPubWorld돋움체 Light" panose="00000300000000000000" pitchFamily="2" charset="-127"/>
                        </a:rPr>
                        <a:t>-</a:t>
                      </a:r>
                      <a:endParaRPr lang="ko-KR" sz="11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7583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59626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156E7-D851-B82A-36BD-586FBC8EF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5DB7A31-54EB-D6BE-59B0-A18F918A0892}"/>
              </a:ext>
            </a:extLst>
          </p:cNvPr>
          <p:cNvSpPr/>
          <p:nvPr/>
        </p:nvSpPr>
        <p:spPr>
          <a:xfrm>
            <a:off x="0" y="6642556"/>
            <a:ext cx="9906000" cy="215444"/>
          </a:xfrm>
          <a:prstGeom prst="rect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5B92B95-814B-2F16-5DEC-50F493FF0E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4733" y="22864"/>
            <a:ext cx="1358264" cy="512493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18F59FDD-C046-1D49-D4D4-4D6659AD6376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 flipV="1">
            <a:off x="2052204" y="279111"/>
            <a:ext cx="6362529" cy="20009"/>
          </a:xfrm>
          <a:prstGeom prst="line">
            <a:avLst/>
          </a:prstGeom>
          <a:ln>
            <a:solidFill>
              <a:srgbClr val="1B28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D193352-3C29-F146-916D-27DDCD304335}"/>
              </a:ext>
            </a:extLst>
          </p:cNvPr>
          <p:cNvSpPr txBox="1"/>
          <p:nvPr/>
        </p:nvSpPr>
        <p:spPr>
          <a:xfrm>
            <a:off x="191088" y="160620"/>
            <a:ext cx="18611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년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학기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 세미나</a:t>
            </a:r>
            <a:endParaRPr lang="ko-KR" altLang="en-US" sz="1200" dirty="0">
              <a:solidFill>
                <a:srgbClr val="1B2853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9D600B-43FA-C391-FE7C-94986046745C}"/>
              </a:ext>
            </a:extLst>
          </p:cNvPr>
          <p:cNvSpPr txBox="1"/>
          <p:nvPr/>
        </p:nvSpPr>
        <p:spPr>
          <a:xfrm>
            <a:off x="308743" y="6266657"/>
            <a:ext cx="288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60" dirty="0">
                <a:solidFill>
                  <a:srgbClr val="000000"/>
                </a:solidFill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Source: </a:t>
            </a:r>
            <a:r>
              <a:rPr lang="en-US" altLang="ko-KR" sz="800" spc="-60" dirty="0">
                <a:solidFill>
                  <a:srgbClr val="000000"/>
                </a:solidFill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ESA</a:t>
            </a:r>
            <a:r>
              <a:rPr lang="en-US" altLang="ko-KR" sz="800" spc="-60" dirty="0">
                <a:solidFill>
                  <a:srgbClr val="000000"/>
                </a:solidFill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, RFS Team</a:t>
            </a:r>
            <a:r>
              <a:rPr lang="en-US" altLang="ko-KR" sz="800" spc="-60" dirty="0">
                <a:solidFill>
                  <a:srgbClr val="000000"/>
                </a:solidFill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 2</a:t>
            </a:r>
            <a:endParaRPr lang="en-US" altLang="ko-KR" sz="800" dirty="0">
              <a:latin typeface="KoPubWorldDotum Light" pitchFamily="2" charset="-127"/>
              <a:ea typeface="KoPubWorldDotum Light" pitchFamily="2" charset="-127"/>
              <a:cs typeface="KoPubWorldDotum Light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369CBC6-FE31-65F3-701B-74E3480E4F37}"/>
              </a:ext>
            </a:extLst>
          </p:cNvPr>
          <p:cNvSpPr/>
          <p:nvPr/>
        </p:nvSpPr>
        <p:spPr>
          <a:xfrm>
            <a:off x="356375" y="2880698"/>
            <a:ext cx="2880000" cy="349200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’25</a:t>
            </a:r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년 유럽우주국 예산 편성 비중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37AD51B-1170-5C47-9024-4598781598FF}"/>
              </a:ext>
            </a:extLst>
          </p:cNvPr>
          <p:cNvSpPr/>
          <p:nvPr/>
        </p:nvSpPr>
        <p:spPr>
          <a:xfrm>
            <a:off x="3521163" y="2878534"/>
            <a:ext cx="2880000" cy="34925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나사의 지구 관측 분석 예산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691C3C6-97B3-0D5D-B822-1196BE9E7155}"/>
              </a:ext>
            </a:extLst>
          </p:cNvPr>
          <p:cNvSpPr txBox="1"/>
          <p:nvPr/>
        </p:nvSpPr>
        <p:spPr>
          <a:xfrm>
            <a:off x="742517" y="704891"/>
            <a:ext cx="5922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II. Investment Point 2. </a:t>
            </a:r>
            <a:r>
              <a:rPr lang="ko-KR" altLang="en-US" dirty="0" err="1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위성체</a:t>
            </a:r>
            <a:r>
              <a:rPr lang="en-US" altLang="ko-KR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: Upstream 2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D28F6C0-2689-46A1-F515-E387A1E7E949}"/>
              </a:ext>
            </a:extLst>
          </p:cNvPr>
          <p:cNvSpPr/>
          <p:nvPr/>
        </p:nvSpPr>
        <p:spPr>
          <a:xfrm>
            <a:off x="504393" y="743368"/>
            <a:ext cx="238125" cy="238125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03864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B68E3DA-BA13-BD59-D856-D9D3233D9A12}"/>
              </a:ext>
            </a:extLst>
          </p:cNvPr>
          <p:cNvSpPr txBox="1"/>
          <p:nvPr/>
        </p:nvSpPr>
        <p:spPr>
          <a:xfrm>
            <a:off x="504392" y="1161148"/>
            <a:ext cx="90011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관측위성</a:t>
            </a:r>
            <a:endParaRPr lang="en-US" altLang="ko-KR" sz="1500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4A6DA7-4E1F-6657-30D4-FEBEE95BA630}"/>
              </a:ext>
            </a:extLst>
          </p:cNvPr>
          <p:cNvSpPr txBox="1"/>
          <p:nvPr/>
        </p:nvSpPr>
        <p:spPr>
          <a:xfrm>
            <a:off x="3510889" y="6267288"/>
            <a:ext cx="288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60" dirty="0">
                <a:solidFill>
                  <a:srgbClr val="000000"/>
                </a:solidFill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Source</a:t>
            </a:r>
            <a:r>
              <a:rPr lang="en-US" altLang="ko-KR" sz="800" spc="-60" dirty="0">
                <a:solidFill>
                  <a:srgbClr val="000000"/>
                </a:solidFill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:</a:t>
            </a:r>
            <a:r>
              <a:rPr lang="ko-KR" altLang="en-US" sz="800" spc="-60" dirty="0">
                <a:solidFill>
                  <a:srgbClr val="000000"/>
                </a:solidFill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 </a:t>
            </a:r>
            <a:r>
              <a:rPr lang="en-US" altLang="ko-KR" sz="800" spc="-60" dirty="0">
                <a:solidFill>
                  <a:srgbClr val="000000"/>
                </a:solidFill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NASA, RFS Team 2</a:t>
            </a:r>
            <a:r>
              <a:rPr lang="ko-KR" altLang="ko-KR" sz="800" dirty="0"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 </a:t>
            </a:r>
            <a:r>
              <a:rPr lang="ko-KR" altLang="en-US" sz="800" dirty="0"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             </a:t>
            </a:r>
            <a:r>
              <a:rPr lang="en-US" altLang="ko-KR" sz="800" dirty="0"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 </a:t>
            </a:r>
            <a:r>
              <a:rPr lang="ko-KR" altLang="en-US" sz="800" dirty="0"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                </a:t>
            </a:r>
            <a:r>
              <a:rPr lang="en-US" altLang="ko-KR" sz="800" dirty="0"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(</a:t>
            </a:r>
            <a:r>
              <a:rPr lang="ko-KR" altLang="en-US" sz="800" dirty="0"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단위</a:t>
            </a:r>
            <a:r>
              <a:rPr lang="en-US" altLang="ko-KR" sz="800" dirty="0"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:</a:t>
            </a:r>
            <a:r>
              <a:rPr lang="ko-KR" altLang="en-US" sz="800" dirty="0"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 </a:t>
            </a:r>
            <a:r>
              <a:rPr lang="en-US" altLang="ko-KR" sz="800" dirty="0"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100Mn $)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5B91203-6C99-33CB-15B1-082EDD1DDF2D}"/>
              </a:ext>
            </a:extLst>
          </p:cNvPr>
          <p:cNvSpPr/>
          <p:nvPr/>
        </p:nvSpPr>
        <p:spPr>
          <a:xfrm>
            <a:off x="6665403" y="2863806"/>
            <a:ext cx="2880000" cy="34925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관측위성 시장 규모 전망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C3C8F1-4D0D-3D2A-79BE-D9BCC3DCD0A4}"/>
              </a:ext>
            </a:extLst>
          </p:cNvPr>
          <p:cNvSpPr txBox="1"/>
          <p:nvPr/>
        </p:nvSpPr>
        <p:spPr>
          <a:xfrm>
            <a:off x="6665403" y="6266657"/>
            <a:ext cx="288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spc="-60" dirty="0">
                <a:solidFill>
                  <a:srgbClr val="000000"/>
                </a:solidFill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Source</a:t>
            </a:r>
            <a:r>
              <a:rPr lang="en-US" altLang="ko-KR" sz="800" spc="-60" dirty="0">
                <a:solidFill>
                  <a:srgbClr val="000000"/>
                </a:solidFill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: IMARC</a:t>
            </a:r>
            <a:r>
              <a:rPr lang="ko-KR" altLang="en-US" sz="800" spc="-60" dirty="0">
                <a:solidFill>
                  <a:srgbClr val="000000"/>
                </a:solidFill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 </a:t>
            </a:r>
            <a:r>
              <a:rPr lang="en-US" altLang="ko-KR" sz="800" spc="-60" dirty="0">
                <a:solidFill>
                  <a:srgbClr val="000000"/>
                </a:solidFill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Group, RFS Team 2                                       (</a:t>
            </a:r>
            <a:r>
              <a:rPr lang="ko-KR" altLang="en-US" sz="800" spc="-60" dirty="0">
                <a:solidFill>
                  <a:srgbClr val="000000"/>
                </a:solidFill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단위</a:t>
            </a:r>
            <a:r>
              <a:rPr lang="en-US" altLang="ko-KR" sz="800" spc="-60" dirty="0">
                <a:solidFill>
                  <a:srgbClr val="000000"/>
                </a:solidFill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: Bn $)</a:t>
            </a:r>
            <a:r>
              <a:rPr lang="ko-KR" altLang="ko-KR" sz="800" dirty="0"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 </a:t>
            </a:r>
            <a:r>
              <a:rPr lang="ko-KR" altLang="en-US" sz="800" dirty="0">
                <a:effectLst/>
                <a:latin typeface="KoPubWorldDotum Light" pitchFamily="2" charset="-127"/>
                <a:ea typeface="KoPubWorldDotum Light" pitchFamily="2" charset="-127"/>
                <a:cs typeface="KoPubWorldDotum Light" pitchFamily="2" charset="-127"/>
              </a:rPr>
              <a:t>                         </a:t>
            </a:r>
            <a:endParaRPr lang="en-US" altLang="ko-KR" sz="800" dirty="0">
              <a:latin typeface="KoPubWorldDotum Light" pitchFamily="2" charset="-127"/>
              <a:ea typeface="KoPubWorldDotum Light" pitchFamily="2" charset="-127"/>
              <a:cs typeface="KoPubWorldDotum Light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6D816F-853A-DE92-BB39-01EDE05E509E}"/>
              </a:ext>
            </a:extLst>
          </p:cNvPr>
          <p:cNvSpPr txBox="1"/>
          <p:nvPr/>
        </p:nvSpPr>
        <p:spPr>
          <a:xfrm>
            <a:off x="399936" y="1556056"/>
            <a:ext cx="9001125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지정학적 리스크 확대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→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글로벌 관측위성 시장은 </a:t>
            </a:r>
            <a:r>
              <a:rPr lang="ko-KR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군사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·</a:t>
            </a:r>
            <a:r>
              <a:rPr lang="ko-KR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안보 중심의 수요 확대 국면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미국 국가정찰국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유럽 우주국 등이 관측 위성을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‘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국가 안보 인프라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‘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로 인식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정책 예산의 지속적 투입에 따라 구조적 성장 가속화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전망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군수요 확대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+</a:t>
            </a:r>
            <a:r>
              <a:rPr lang="ko-KR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임대 기반의 민간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</a:t>
            </a:r>
            <a:r>
              <a:rPr lang="ko-KR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기관 수요 확장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→ </a:t>
            </a:r>
            <a:r>
              <a:rPr lang="ko-KR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이중 모멘텀을 통해 성장할 것으로 전망</a:t>
            </a:r>
          </a:p>
        </p:txBody>
      </p:sp>
      <p:graphicFrame>
        <p:nvGraphicFramePr>
          <p:cNvPr id="7" name="차트 6">
            <a:extLst>
              <a:ext uri="{FF2B5EF4-FFF2-40B4-BE49-F238E27FC236}">
                <a16:creationId xmlns:a16="http://schemas.microsoft.com/office/drawing/2014/main" id="{C394EC85-6836-8013-3F17-3C7820BADD73}"/>
              </a:ext>
            </a:extLst>
          </p:cNvPr>
          <p:cNvGraphicFramePr/>
          <p:nvPr/>
        </p:nvGraphicFramePr>
        <p:xfrm>
          <a:off x="308743" y="3377344"/>
          <a:ext cx="3002348" cy="25421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차트 13">
            <a:extLst>
              <a:ext uri="{FF2B5EF4-FFF2-40B4-BE49-F238E27FC236}">
                <a16:creationId xmlns:a16="http://schemas.microsoft.com/office/drawing/2014/main" id="{9C01CACA-0B8E-AC65-AE4C-38357ED02531}"/>
              </a:ext>
            </a:extLst>
          </p:cNvPr>
          <p:cNvGraphicFramePr/>
          <p:nvPr/>
        </p:nvGraphicFramePr>
        <p:xfrm>
          <a:off x="3446192" y="3456319"/>
          <a:ext cx="2908611" cy="26784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8" name="차트 17">
            <a:extLst>
              <a:ext uri="{FF2B5EF4-FFF2-40B4-BE49-F238E27FC236}">
                <a16:creationId xmlns:a16="http://schemas.microsoft.com/office/drawing/2014/main" id="{9EB64069-1D33-DF0B-259A-63B292563CD0}"/>
              </a:ext>
            </a:extLst>
          </p:cNvPr>
          <p:cNvGraphicFramePr/>
          <p:nvPr/>
        </p:nvGraphicFramePr>
        <p:xfrm>
          <a:off x="6665401" y="3439452"/>
          <a:ext cx="2879999" cy="2666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2559268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7580D-3E69-1215-145F-22A5A6DD4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7179EE7-CD38-DCBB-9424-C51AE50FDDF8}"/>
              </a:ext>
            </a:extLst>
          </p:cNvPr>
          <p:cNvSpPr/>
          <p:nvPr/>
        </p:nvSpPr>
        <p:spPr>
          <a:xfrm>
            <a:off x="0" y="6596586"/>
            <a:ext cx="9906000" cy="276999"/>
          </a:xfrm>
          <a:prstGeom prst="rect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99ECBE1-3852-AEC5-8435-5D5DFEE67C6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4733" y="22864"/>
            <a:ext cx="1358264" cy="512493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4C32DA9-97B2-9524-36C1-903DC21BAE64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 flipV="1">
            <a:off x="2052204" y="279111"/>
            <a:ext cx="6362529" cy="20009"/>
          </a:xfrm>
          <a:prstGeom prst="line">
            <a:avLst/>
          </a:prstGeom>
          <a:ln>
            <a:solidFill>
              <a:srgbClr val="1B28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EE6E158-D0A2-6115-1286-6942EF50D5F5}"/>
              </a:ext>
            </a:extLst>
          </p:cNvPr>
          <p:cNvSpPr txBox="1"/>
          <p:nvPr/>
        </p:nvSpPr>
        <p:spPr>
          <a:xfrm>
            <a:off x="191088" y="160620"/>
            <a:ext cx="18611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년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학기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 세미나</a:t>
            </a:r>
            <a:endParaRPr lang="ko-KR" altLang="en-US" sz="1200" dirty="0">
              <a:solidFill>
                <a:srgbClr val="1B2853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5EA5D01-5A77-C66D-9A57-2CBFB3E18F3C}"/>
              </a:ext>
            </a:extLst>
          </p:cNvPr>
          <p:cNvSpPr/>
          <p:nvPr/>
        </p:nvSpPr>
        <p:spPr>
          <a:xfrm>
            <a:off x="405856" y="2791169"/>
            <a:ext cx="4320000" cy="34925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 err="1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파라볼릭</a:t>
            </a:r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안테나와 전자식 평판 안테나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AAEF5FA-7F7B-B637-64E1-498279678E5D}"/>
              </a:ext>
            </a:extLst>
          </p:cNvPr>
          <p:cNvSpPr/>
          <p:nvPr/>
        </p:nvSpPr>
        <p:spPr>
          <a:xfrm>
            <a:off x="5085806" y="2791169"/>
            <a:ext cx="4320000" cy="34925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위상 배열 안테나와 </a:t>
            </a:r>
            <a:r>
              <a:rPr lang="ko-KR" altLang="en-US" sz="1500" dirty="0" err="1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파라볼릭</a:t>
            </a:r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안테나 비교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E53E9FD-04B6-C378-C1B7-5A85488F50E5}"/>
              </a:ext>
            </a:extLst>
          </p:cNvPr>
          <p:cNvSpPr txBox="1"/>
          <p:nvPr/>
        </p:nvSpPr>
        <p:spPr>
          <a:xfrm>
            <a:off x="742518" y="704891"/>
            <a:ext cx="5781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II. Investment Point 3. </a:t>
            </a:r>
            <a:r>
              <a:rPr lang="ko-KR" altLang="en-US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통신</a:t>
            </a:r>
            <a:r>
              <a:rPr lang="en-US" altLang="ko-KR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&amp;</a:t>
            </a:r>
            <a:r>
              <a:rPr lang="ko-KR" altLang="en-US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데이터</a:t>
            </a:r>
            <a:r>
              <a:rPr lang="en-US" altLang="ko-KR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: Downstream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EF591CD-0701-EF5E-2677-ED3A139B22FE}"/>
              </a:ext>
            </a:extLst>
          </p:cNvPr>
          <p:cNvSpPr/>
          <p:nvPr/>
        </p:nvSpPr>
        <p:spPr>
          <a:xfrm>
            <a:off x="504393" y="743368"/>
            <a:ext cx="238125" cy="238125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03864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86BC451-93A9-DDDD-7DB1-AD5622025C6A}"/>
              </a:ext>
            </a:extLst>
          </p:cNvPr>
          <p:cNvSpPr txBox="1"/>
          <p:nvPr/>
        </p:nvSpPr>
        <p:spPr>
          <a:xfrm>
            <a:off x="504392" y="1161148"/>
            <a:ext cx="90011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지상 안테나 시장의 신흥 강자 </a:t>
            </a:r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‘</a:t>
            </a:r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전자식 평판 안테나</a:t>
            </a:r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’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FB1181-FA7C-C2CE-B674-09584CFA32D8}"/>
              </a:ext>
            </a:extLst>
          </p:cNvPr>
          <p:cNvSpPr txBox="1"/>
          <p:nvPr/>
        </p:nvSpPr>
        <p:spPr>
          <a:xfrm>
            <a:off x="5085806" y="6316220"/>
            <a:ext cx="43129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Source: </a:t>
            </a:r>
            <a:r>
              <a:rPr lang="ko-KR" altLang="en-US" sz="800" dirty="0" err="1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인텔리안테크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RFS</a:t>
            </a:r>
            <a:r>
              <a:rPr lang="ko-KR" altLang="en-US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Team 2                                                                                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963A01-2185-D055-4892-01FF444AA666}"/>
              </a:ext>
            </a:extLst>
          </p:cNvPr>
          <p:cNvSpPr txBox="1"/>
          <p:nvPr/>
        </p:nvSpPr>
        <p:spPr>
          <a:xfrm>
            <a:off x="407032" y="6316220"/>
            <a:ext cx="43129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Source: RFS Team 2                                                                                 </a:t>
            </a: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3258B35D-1688-18B6-F8B0-AA2702B05C93}"/>
              </a:ext>
            </a:extLst>
          </p:cNvPr>
          <p:cNvGraphicFramePr>
            <a:graphicFrameLocks noGrp="1"/>
          </p:cNvGraphicFramePr>
          <p:nvPr/>
        </p:nvGraphicFramePr>
        <p:xfrm>
          <a:off x="407032" y="3205343"/>
          <a:ext cx="4312901" cy="3110880"/>
        </p:xfrm>
        <a:graphic>
          <a:graphicData uri="http://schemas.openxmlformats.org/drawingml/2006/table">
            <a:tbl>
              <a:tblPr firstRow="1" firstCol="1" bandRow="1"/>
              <a:tblGrid>
                <a:gridCol w="881557">
                  <a:extLst>
                    <a:ext uri="{9D8B030D-6E8A-4147-A177-3AD203B41FA5}">
                      <a16:colId xmlns:a16="http://schemas.microsoft.com/office/drawing/2014/main" val="208409566"/>
                    </a:ext>
                  </a:extLst>
                </a:gridCol>
                <a:gridCol w="1715672">
                  <a:extLst>
                    <a:ext uri="{9D8B030D-6E8A-4147-A177-3AD203B41FA5}">
                      <a16:colId xmlns:a16="http://schemas.microsoft.com/office/drawing/2014/main" val="262605286"/>
                    </a:ext>
                  </a:extLst>
                </a:gridCol>
                <a:gridCol w="1715672">
                  <a:extLst>
                    <a:ext uri="{9D8B030D-6E8A-4147-A177-3AD203B41FA5}">
                      <a16:colId xmlns:a16="http://schemas.microsoft.com/office/drawing/2014/main" val="3473944499"/>
                    </a:ext>
                  </a:extLst>
                </a:gridCol>
              </a:tblGrid>
              <a:tr h="299674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구분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 dirty="0" err="1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파라볼릭</a:t>
                      </a:r>
                      <a:r>
                        <a:rPr lang="ko-KR" sz="1000" kern="0" spc="0" dirty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 안테나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 dirty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전자식 평판 안테나</a:t>
                      </a:r>
                      <a:r>
                        <a:rPr lang="en-US" sz="1000" kern="0" spc="0" dirty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(ESA)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895199"/>
                  </a:ext>
                </a:extLst>
              </a:tr>
              <a:tr h="348382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구조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기계식 회전 구조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전자식 빔 조향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283491"/>
                  </a:ext>
                </a:extLst>
              </a:tr>
              <a:tr h="720914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사진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endParaRPr lang="ko-KR" sz="10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buNone/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600893"/>
                  </a:ext>
                </a:extLst>
              </a:tr>
              <a:tr h="348382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중량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상대적으로 무거움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경량화 가능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004962"/>
                  </a:ext>
                </a:extLst>
              </a:tr>
              <a:tr h="348382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유지보수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기계적 부품 마모 있음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유지보수 부담 적음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6170206"/>
                  </a:ext>
                </a:extLst>
              </a:tr>
              <a:tr h="348382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위성 추적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기계식 방향 조정 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전자식 빠른 추적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3219994"/>
                  </a:ext>
                </a:extLst>
              </a:tr>
              <a:tr h="348382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다중 빔 기능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단일 위성과 연결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여러 위성과 동시 연결 가능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7214263"/>
                  </a:ext>
                </a:extLst>
              </a:tr>
              <a:tr h="348382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활용 분야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해상</a:t>
                      </a: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, </a:t>
                      </a:r>
                      <a:r>
                        <a:rPr lang="ko-KR" sz="10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고정형 기지국 중심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자율주행</a:t>
                      </a: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, </a:t>
                      </a:r>
                      <a:r>
                        <a:rPr lang="ko-KR" sz="10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항공</a:t>
                      </a: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, </a:t>
                      </a:r>
                      <a:r>
                        <a:rPr lang="ko-KR" sz="10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군용</a:t>
                      </a: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, </a:t>
                      </a:r>
                      <a:r>
                        <a:rPr lang="ko-KR" sz="10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이동통신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7902344"/>
                  </a:ext>
                </a:extLst>
              </a:tr>
            </a:tbl>
          </a:graphicData>
        </a:graphic>
      </p:graphicFrame>
      <p:pic>
        <p:nvPicPr>
          <p:cNvPr id="1036" name="Picture 12">
            <a:extLst>
              <a:ext uri="{FF2B5EF4-FFF2-40B4-BE49-F238E27FC236}">
                <a16:creationId xmlns:a16="http://schemas.microsoft.com/office/drawing/2014/main" id="{B9225DD9-1C19-94D0-BF8C-F700538DDB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4156" y="3904879"/>
            <a:ext cx="1038521" cy="714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E8233A95-951D-CF72-EDC8-25085367A3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0677" y="3828976"/>
            <a:ext cx="1304657" cy="7014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94AC05E-CF38-7759-5B72-A9CA988203F7}"/>
              </a:ext>
            </a:extLst>
          </p:cNvPr>
          <p:cNvSpPr txBox="1"/>
          <p:nvPr/>
        </p:nvSpPr>
        <p:spPr>
          <a:xfrm>
            <a:off x="399936" y="1475425"/>
            <a:ext cx="9001125" cy="1177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발사체와 </a:t>
            </a:r>
            <a:r>
              <a:rPr lang="ko-KR" altLang="en-US" sz="12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위성체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증가 → 데이터 수신 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지상 안테나 시장 성장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전망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전자식 평판 안테나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저궤도 위성 실시간 추적 기능과 차량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·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선박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·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항공기 등 이동형 플랫폼에 적합성 보유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가격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600~1,500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달러 수준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기존 </a:t>
            </a:r>
            <a:r>
              <a:rPr lang="ko-KR" altLang="en-US" sz="12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파라볼릭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안테나 대비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4.9~8.8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만 달러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절감 가능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단말 판매 외에 용량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렌탈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운용 등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반복 매출 모델 가능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하여 사업성 증가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민간 뿐 아닌 방산 재난 대응 시장에서도 안정적인 수요 기대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8" name="자유형 57">
            <a:extLst>
              <a:ext uri="{FF2B5EF4-FFF2-40B4-BE49-F238E27FC236}">
                <a16:creationId xmlns:a16="http://schemas.microsoft.com/office/drawing/2014/main" id="{9DA5B623-1296-CB58-7513-D1766D663C05}"/>
              </a:ext>
            </a:extLst>
          </p:cNvPr>
          <p:cNvSpPr/>
          <p:nvPr/>
        </p:nvSpPr>
        <p:spPr bwMode="auto">
          <a:xfrm>
            <a:off x="6499785" y="4031582"/>
            <a:ext cx="1419225" cy="1202690"/>
          </a:xfrm>
          <a:custGeom>
            <a:avLst/>
            <a:gdLst>
              <a:gd name="connsiteX0" fmla="*/ 216569 w 1419726"/>
              <a:gd name="connsiteY0" fmla="*/ 108284 h 1203158"/>
              <a:gd name="connsiteX1" fmla="*/ 0 w 1419726"/>
              <a:gd name="connsiteY1" fmla="*/ 655721 h 1203158"/>
              <a:gd name="connsiteX2" fmla="*/ 216569 w 1419726"/>
              <a:gd name="connsiteY2" fmla="*/ 1203158 h 1203158"/>
              <a:gd name="connsiteX3" fmla="*/ 770021 w 1419726"/>
              <a:gd name="connsiteY3" fmla="*/ 1167063 h 1203158"/>
              <a:gd name="connsiteX4" fmla="*/ 1130969 w 1419726"/>
              <a:gd name="connsiteY4" fmla="*/ 1022684 h 1203158"/>
              <a:gd name="connsiteX5" fmla="*/ 1419726 w 1419726"/>
              <a:gd name="connsiteY5" fmla="*/ 649705 h 1203158"/>
              <a:gd name="connsiteX6" fmla="*/ 1179095 w 1419726"/>
              <a:gd name="connsiteY6" fmla="*/ 240632 h 1203158"/>
              <a:gd name="connsiteX7" fmla="*/ 764005 w 1419726"/>
              <a:gd name="connsiteY7" fmla="*/ 0 h 1203158"/>
              <a:gd name="connsiteX8" fmla="*/ 216569 w 1419726"/>
              <a:gd name="connsiteY8" fmla="*/ 108284 h 1203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19726" h="1203158">
                <a:moveTo>
                  <a:pt x="216569" y="108284"/>
                </a:moveTo>
                <a:lnTo>
                  <a:pt x="0" y="655721"/>
                </a:lnTo>
                <a:lnTo>
                  <a:pt x="216569" y="1203158"/>
                </a:lnTo>
                <a:lnTo>
                  <a:pt x="770021" y="1167063"/>
                </a:lnTo>
                <a:lnTo>
                  <a:pt x="1130969" y="1022684"/>
                </a:lnTo>
                <a:lnTo>
                  <a:pt x="1419726" y="649705"/>
                </a:lnTo>
                <a:lnTo>
                  <a:pt x="1179095" y="240632"/>
                </a:lnTo>
                <a:lnTo>
                  <a:pt x="764005" y="0"/>
                </a:lnTo>
                <a:lnTo>
                  <a:pt x="216569" y="108284"/>
                </a:lnTo>
                <a:close/>
              </a:path>
            </a:pathLst>
          </a:custGeom>
          <a:solidFill>
            <a:srgbClr val="2F5597">
              <a:alpha val="41582"/>
            </a:srgbClr>
          </a:solidFill>
          <a:ln>
            <a:noFill/>
          </a:ln>
        </p:spPr>
        <p:txBody>
          <a:bodyPr rot="0" spcFirstLastPara="0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/>
          </a:p>
        </p:txBody>
      </p:sp>
      <p:sp>
        <p:nvSpPr>
          <p:cNvPr id="9" name="자유형 59">
            <a:extLst>
              <a:ext uri="{FF2B5EF4-FFF2-40B4-BE49-F238E27FC236}">
                <a16:creationId xmlns:a16="http://schemas.microsoft.com/office/drawing/2014/main" id="{46E2C3B8-3D6F-F012-6FBE-66D95656DA21}"/>
              </a:ext>
            </a:extLst>
          </p:cNvPr>
          <p:cNvSpPr/>
          <p:nvPr/>
        </p:nvSpPr>
        <p:spPr bwMode="auto">
          <a:xfrm>
            <a:off x="6856214" y="3892486"/>
            <a:ext cx="1047750" cy="1550670"/>
          </a:xfrm>
          <a:custGeom>
            <a:avLst/>
            <a:gdLst>
              <a:gd name="connsiteX0" fmla="*/ 395706 w 1048085"/>
              <a:gd name="connsiteY0" fmla="*/ 0 h 1550737"/>
              <a:gd name="connsiteX1" fmla="*/ 37432 w 1048085"/>
              <a:gd name="connsiteY1" fmla="*/ 401052 h 1550737"/>
              <a:gd name="connsiteX2" fmla="*/ 0 w 1048085"/>
              <a:gd name="connsiteY2" fmla="*/ 759326 h 1550737"/>
              <a:gd name="connsiteX3" fmla="*/ 0 w 1048085"/>
              <a:gd name="connsiteY3" fmla="*/ 1187116 h 1550737"/>
              <a:gd name="connsiteX4" fmla="*/ 401053 w 1048085"/>
              <a:gd name="connsiteY4" fmla="*/ 1550737 h 1550737"/>
              <a:gd name="connsiteX5" fmla="*/ 951832 w 1048085"/>
              <a:gd name="connsiteY5" fmla="*/ 1326147 h 1550737"/>
              <a:gd name="connsiteX6" fmla="*/ 1048085 w 1048085"/>
              <a:gd name="connsiteY6" fmla="*/ 775368 h 1550737"/>
              <a:gd name="connsiteX7" fmla="*/ 946485 w 1048085"/>
              <a:gd name="connsiteY7" fmla="*/ 235284 h 1550737"/>
              <a:gd name="connsiteX8" fmla="*/ 395706 w 1048085"/>
              <a:gd name="connsiteY8" fmla="*/ 0 h 1550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48085" h="1550737">
                <a:moveTo>
                  <a:pt x="395706" y="0"/>
                </a:moveTo>
                <a:lnTo>
                  <a:pt x="37432" y="401052"/>
                </a:lnTo>
                <a:lnTo>
                  <a:pt x="0" y="759326"/>
                </a:lnTo>
                <a:lnTo>
                  <a:pt x="0" y="1187116"/>
                </a:lnTo>
                <a:lnTo>
                  <a:pt x="401053" y="1550737"/>
                </a:lnTo>
                <a:lnTo>
                  <a:pt x="951832" y="1326147"/>
                </a:lnTo>
                <a:lnTo>
                  <a:pt x="1048085" y="775368"/>
                </a:lnTo>
                <a:lnTo>
                  <a:pt x="946485" y="235284"/>
                </a:lnTo>
                <a:lnTo>
                  <a:pt x="395706" y="0"/>
                </a:lnTo>
                <a:close/>
              </a:path>
            </a:pathLst>
          </a:custGeom>
          <a:solidFill>
            <a:srgbClr val="D0CECE">
              <a:alpha val="42000"/>
            </a:srgbClr>
          </a:solidFill>
          <a:ln>
            <a:noFill/>
          </a:ln>
        </p:spPr>
        <p:txBody>
          <a:bodyPr rot="0" spcFirstLastPara="0" vert="vert270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1E83854B-89F9-4C4D-1EBB-81DA87107CD6}"/>
              </a:ext>
            </a:extLst>
          </p:cNvPr>
          <p:cNvGrpSpPr/>
          <p:nvPr/>
        </p:nvGrpSpPr>
        <p:grpSpPr>
          <a:xfrm>
            <a:off x="6355162" y="3773018"/>
            <a:ext cx="1774190" cy="1774190"/>
            <a:chOff x="0" y="0"/>
            <a:chExt cx="2081530" cy="2081530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4C7B31D7-A7D8-9A66-6F52-BB8F0E54D281}"/>
                </a:ext>
              </a:extLst>
            </p:cNvPr>
            <p:cNvSpPr/>
            <p:nvPr/>
          </p:nvSpPr>
          <p:spPr>
            <a:xfrm>
              <a:off x="0" y="0"/>
              <a:ext cx="2081530" cy="208153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E94E7C85-5324-D422-ED1F-DA06D057F499}"/>
                </a:ext>
              </a:extLst>
            </p:cNvPr>
            <p:cNvSpPr/>
            <p:nvPr/>
          </p:nvSpPr>
          <p:spPr>
            <a:xfrm>
              <a:off x="146838" y="140163"/>
              <a:ext cx="1792429" cy="1808725"/>
            </a:xfrm>
            <a:prstGeom prst="ellipse">
              <a:avLst/>
            </a:prstGeom>
            <a:noFill/>
            <a:ln w="635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A261E915-D1D0-4A8F-EB65-8B8402C0CE72}"/>
                </a:ext>
              </a:extLst>
            </p:cNvPr>
            <p:cNvSpPr/>
            <p:nvPr/>
          </p:nvSpPr>
          <p:spPr>
            <a:xfrm>
              <a:off x="287002" y="280327"/>
              <a:ext cx="1512444" cy="1526194"/>
            </a:xfrm>
            <a:prstGeom prst="ellipse">
              <a:avLst/>
            </a:prstGeom>
            <a:noFill/>
            <a:ln w="635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C0939B03-5DFF-F51A-3DD4-2D2C9076C59B}"/>
                </a:ext>
              </a:extLst>
            </p:cNvPr>
            <p:cNvSpPr/>
            <p:nvPr/>
          </p:nvSpPr>
          <p:spPr>
            <a:xfrm>
              <a:off x="427165" y="420490"/>
              <a:ext cx="1225956" cy="1237101"/>
            </a:xfrm>
            <a:prstGeom prst="ellipse">
              <a:avLst/>
            </a:prstGeom>
            <a:noFill/>
            <a:ln w="635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E301DF21-C660-C0CC-DC9A-8F0D01DC750C}"/>
                </a:ext>
              </a:extLst>
            </p:cNvPr>
            <p:cNvSpPr/>
            <p:nvPr/>
          </p:nvSpPr>
          <p:spPr>
            <a:xfrm>
              <a:off x="574003" y="567328"/>
              <a:ext cx="938605" cy="947139"/>
            </a:xfrm>
            <a:prstGeom prst="ellipse">
              <a:avLst/>
            </a:prstGeom>
            <a:noFill/>
            <a:ln w="635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C712AE3A-BE74-3919-E572-16F09C95A42B}"/>
                </a:ext>
              </a:extLst>
            </p:cNvPr>
            <p:cNvSpPr/>
            <p:nvPr/>
          </p:nvSpPr>
          <p:spPr>
            <a:xfrm>
              <a:off x="714167" y="700817"/>
              <a:ext cx="655204" cy="661162"/>
            </a:xfrm>
            <a:prstGeom prst="ellipse">
              <a:avLst/>
            </a:prstGeom>
            <a:noFill/>
            <a:ln w="635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/>
            </a:p>
          </p:txBody>
        </p: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C99E4F24-2045-3FD0-5262-2600B64A9765}"/>
                </a:ext>
              </a:extLst>
            </p:cNvPr>
            <p:cNvCxnSpPr/>
            <p:nvPr/>
          </p:nvCxnSpPr>
          <p:spPr>
            <a:xfrm flipH="1" flipV="1">
              <a:off x="1039268" y="5377"/>
              <a:ext cx="940" cy="700697"/>
            </a:xfrm>
            <a:prstGeom prst="straightConnector1">
              <a:avLst/>
            </a:prstGeom>
            <a:ln w="9525">
              <a:solidFill>
                <a:srgbClr val="20386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7480244E-6FC3-CB11-7196-096CC48753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74172" y="305727"/>
              <a:ext cx="503341" cy="492689"/>
            </a:xfrm>
            <a:prstGeom prst="straightConnector1">
              <a:avLst/>
            </a:prstGeom>
            <a:ln w="9525">
              <a:solidFill>
                <a:srgbClr val="20386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E2A9E37A-3970-B078-6848-A6E912CAA26C}"/>
                </a:ext>
              </a:extLst>
            </p:cNvPr>
            <p:cNvCxnSpPr>
              <a:cxnSpLocks/>
            </p:cNvCxnSpPr>
            <p:nvPr/>
          </p:nvCxnSpPr>
          <p:spPr>
            <a:xfrm>
              <a:off x="1368263" y="1037970"/>
              <a:ext cx="713162" cy="2901"/>
            </a:xfrm>
            <a:prstGeom prst="straightConnector1">
              <a:avLst/>
            </a:prstGeom>
            <a:ln w="9525">
              <a:solidFill>
                <a:srgbClr val="20386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65548E8B-5DF2-DE6C-1A95-E65CEECEBFDF}"/>
                </a:ext>
              </a:extLst>
            </p:cNvPr>
            <p:cNvCxnSpPr>
              <a:cxnSpLocks/>
            </p:cNvCxnSpPr>
            <p:nvPr/>
          </p:nvCxnSpPr>
          <p:spPr>
            <a:xfrm>
              <a:off x="1274172" y="1267497"/>
              <a:ext cx="503341" cy="511663"/>
            </a:xfrm>
            <a:prstGeom prst="straightConnector1">
              <a:avLst/>
            </a:prstGeom>
            <a:ln w="9525">
              <a:solidFill>
                <a:srgbClr val="20386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EDA0AA77-EBD1-A614-0AEE-4B88297598C6}"/>
                </a:ext>
              </a:extLst>
            </p:cNvPr>
            <p:cNvCxnSpPr>
              <a:cxnSpLocks/>
            </p:cNvCxnSpPr>
            <p:nvPr/>
          </p:nvCxnSpPr>
          <p:spPr>
            <a:xfrm>
              <a:off x="1037970" y="1361588"/>
              <a:ext cx="1034" cy="719809"/>
            </a:xfrm>
            <a:prstGeom prst="straightConnector1">
              <a:avLst/>
            </a:prstGeom>
            <a:ln w="9525">
              <a:solidFill>
                <a:srgbClr val="20386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화살표 연결선 30">
              <a:extLst>
                <a:ext uri="{FF2B5EF4-FFF2-40B4-BE49-F238E27FC236}">
                  <a16:creationId xmlns:a16="http://schemas.microsoft.com/office/drawing/2014/main" id="{8662E483-8E2C-54A1-0441-2F7044A5EF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5727" y="1267497"/>
              <a:ext cx="505223" cy="511663"/>
            </a:xfrm>
            <a:prstGeom prst="straightConnector1">
              <a:avLst/>
            </a:prstGeom>
            <a:ln w="9525">
              <a:solidFill>
                <a:srgbClr val="20386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화살표 연결선 31">
              <a:extLst>
                <a:ext uri="{FF2B5EF4-FFF2-40B4-BE49-F238E27FC236}">
                  <a16:creationId xmlns:a16="http://schemas.microsoft.com/office/drawing/2014/main" id="{FD0AD446-2C7C-0CFD-AB73-FF17C1A05A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0" y="1031296"/>
              <a:ext cx="714104" cy="9487"/>
            </a:xfrm>
            <a:prstGeom prst="straightConnector1">
              <a:avLst/>
            </a:prstGeom>
            <a:ln w="9525">
              <a:solidFill>
                <a:srgbClr val="20386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화살표 연결선 32">
              <a:extLst>
                <a:ext uri="{FF2B5EF4-FFF2-40B4-BE49-F238E27FC236}">
                  <a16:creationId xmlns:a16="http://schemas.microsoft.com/office/drawing/2014/main" id="{529CFB75-CB0A-897F-648B-F72DD6DADE7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5727" y="305727"/>
              <a:ext cx="505223" cy="492689"/>
            </a:xfrm>
            <a:prstGeom prst="straightConnector1">
              <a:avLst/>
            </a:prstGeom>
            <a:ln w="9525">
              <a:solidFill>
                <a:srgbClr val="20386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ext Box 56">
            <a:extLst>
              <a:ext uri="{FF2B5EF4-FFF2-40B4-BE49-F238E27FC236}">
                <a16:creationId xmlns:a16="http://schemas.microsoft.com/office/drawing/2014/main" id="{A29DF8F8-D4EA-EA29-5A2E-B98C770211BA}"/>
              </a:ext>
            </a:extLst>
          </p:cNvPr>
          <p:cNvSpPr txBox="1"/>
          <p:nvPr/>
        </p:nvSpPr>
        <p:spPr>
          <a:xfrm>
            <a:off x="6674407" y="3363770"/>
            <a:ext cx="1130935" cy="356870"/>
          </a:xfrm>
          <a:prstGeom prst="rect">
            <a:avLst/>
          </a:prstGeom>
          <a:solidFill>
            <a:schemeClr val="lt1"/>
          </a:solidFill>
          <a:ln w="6350">
            <a:noFill/>
          </a:ln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latinLnBrk="1">
              <a:lnSpc>
                <a:spcPct val="75000"/>
              </a:lnSpc>
              <a:spcAft>
                <a:spcPts val="800"/>
              </a:spcAft>
              <a:buNone/>
            </a:pPr>
            <a:r>
              <a:rPr lang="en-US" sz="900" kern="100" spc="-6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Light" panose="00000300000000000000" pitchFamily="2" charset="-127"/>
              </a:rPr>
              <a:t>G/T(</a:t>
            </a:r>
            <a:r>
              <a:rPr lang="ko-KR" sz="900" kern="100" spc="-60" dirty="0" err="1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Medium" panose="00000600000000000000" pitchFamily="2" charset="-127"/>
              </a:rPr>
              <a:t>신호대잡음비</a:t>
            </a:r>
            <a:r>
              <a:rPr lang="en-US" sz="900" kern="100" spc="-6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Medium" panose="00000600000000000000" pitchFamily="2" charset="-127"/>
              </a:rPr>
              <a:t>)</a:t>
            </a:r>
            <a:endParaRPr lang="ko-KR" sz="900" kern="100" spc="-60" dirty="0">
              <a:solidFill>
                <a:srgbClr val="000000"/>
              </a:solidFill>
              <a:effectLst/>
              <a:latin typeface="KoPubWorld돋움체 Light" panose="00000300000000000000" pitchFamily="2" charset="-127"/>
              <a:ea typeface="KoPubWorld돋움체 Light" panose="00000300000000000000" pitchFamily="2" charset="-127"/>
            </a:endParaRPr>
          </a:p>
          <a:p>
            <a:pPr algn="ctr" latinLnBrk="1">
              <a:lnSpc>
                <a:spcPct val="75000"/>
              </a:lnSpc>
              <a:spcAft>
                <a:spcPts val="800"/>
              </a:spcAft>
              <a:buNone/>
            </a:pPr>
            <a:r>
              <a:rPr lang="en-US" sz="900" kern="100" spc="-6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Light" panose="00000300000000000000" pitchFamily="2" charset="-127"/>
              </a:rPr>
              <a:t>: ESA </a:t>
            </a:r>
            <a:r>
              <a:rPr lang="ko-KR" sz="900" kern="100" spc="-6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Medium" panose="00000600000000000000" pitchFamily="2" charset="-127"/>
              </a:rPr>
              <a:t>최적 구간</a:t>
            </a:r>
            <a:r>
              <a:rPr lang="en-US" sz="900" kern="100" spc="-6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Medium" panose="00000600000000000000" pitchFamily="2" charset="-127"/>
              </a:rPr>
              <a:t> 12dB/k</a:t>
            </a:r>
            <a:endParaRPr lang="ko-KR" sz="900" kern="100" spc="-60" dirty="0">
              <a:solidFill>
                <a:srgbClr val="000000"/>
              </a:solidFill>
              <a:effectLst/>
              <a:latin typeface="KoPubWorld돋움체 Light" panose="00000300000000000000" pitchFamily="2" charset="-127"/>
              <a:ea typeface="KoPubWorld돋움체 Light" panose="00000300000000000000" pitchFamily="2" charset="-127"/>
            </a:endParaRPr>
          </a:p>
        </p:txBody>
      </p:sp>
      <p:sp>
        <p:nvSpPr>
          <p:cNvPr id="53" name="Text Box 56">
            <a:extLst>
              <a:ext uri="{FF2B5EF4-FFF2-40B4-BE49-F238E27FC236}">
                <a16:creationId xmlns:a16="http://schemas.microsoft.com/office/drawing/2014/main" id="{7E4E3322-D538-1BA5-B2CA-8BEECD87817F}"/>
              </a:ext>
            </a:extLst>
          </p:cNvPr>
          <p:cNvSpPr txBox="1"/>
          <p:nvPr/>
        </p:nvSpPr>
        <p:spPr>
          <a:xfrm>
            <a:off x="5645089" y="3608790"/>
            <a:ext cx="1130935" cy="40957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latinLnBrk="1">
              <a:lnSpc>
                <a:spcPct val="75000"/>
              </a:lnSpc>
              <a:spcAft>
                <a:spcPts val="800"/>
              </a:spcAft>
              <a:buNone/>
            </a:pPr>
            <a:r>
              <a:rPr lang="ko-KR" sz="900" kern="100" spc="-6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Medium" panose="00000600000000000000" pitchFamily="2" charset="-127"/>
              </a:rPr>
              <a:t>안테나 내구성</a:t>
            </a:r>
            <a:endParaRPr lang="ko-KR" sz="900" kern="100" spc="-60" dirty="0">
              <a:solidFill>
                <a:srgbClr val="000000"/>
              </a:solidFill>
              <a:effectLst/>
              <a:latin typeface="KoPubWorld돋움체 Light" panose="00000300000000000000" pitchFamily="2" charset="-127"/>
              <a:ea typeface="KoPubWorld돋움체 Light" panose="00000300000000000000" pitchFamily="2" charset="-127"/>
            </a:endParaRPr>
          </a:p>
          <a:p>
            <a:pPr algn="ctr" latinLnBrk="1">
              <a:lnSpc>
                <a:spcPct val="75000"/>
              </a:lnSpc>
              <a:spcAft>
                <a:spcPts val="800"/>
              </a:spcAft>
              <a:buNone/>
            </a:pPr>
            <a:r>
              <a:rPr lang="en-US" sz="900" kern="100" spc="-6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Light" panose="00000300000000000000" pitchFamily="2" charset="-127"/>
              </a:rPr>
              <a:t>: ESA </a:t>
            </a:r>
            <a:r>
              <a:rPr lang="ko-KR" sz="900" kern="100" spc="-6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Medium" panose="00000600000000000000" pitchFamily="2" charset="-127"/>
              </a:rPr>
              <a:t>기계식 대비</a:t>
            </a:r>
            <a:endParaRPr lang="ko-KR" sz="900" kern="100" spc="-60" dirty="0">
              <a:solidFill>
                <a:srgbClr val="000000"/>
              </a:solidFill>
              <a:effectLst/>
              <a:latin typeface="KoPubWorld돋움체 Light" panose="00000300000000000000" pitchFamily="2" charset="-127"/>
              <a:ea typeface="KoPubWorld돋움체 Light" panose="00000300000000000000" pitchFamily="2" charset="-127"/>
            </a:endParaRPr>
          </a:p>
          <a:p>
            <a:pPr algn="ctr" latinLnBrk="1">
              <a:lnSpc>
                <a:spcPct val="75000"/>
              </a:lnSpc>
              <a:spcAft>
                <a:spcPts val="800"/>
              </a:spcAft>
              <a:buNone/>
            </a:pPr>
            <a:r>
              <a:rPr lang="ko-KR" sz="900" kern="100" spc="-6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Medium" panose="00000600000000000000" pitchFamily="2" charset="-127"/>
              </a:rPr>
              <a:t>높은 신뢰성</a:t>
            </a:r>
            <a:endParaRPr lang="ko-KR" sz="900" kern="100" spc="-60" dirty="0">
              <a:solidFill>
                <a:srgbClr val="000000"/>
              </a:solidFill>
              <a:effectLst/>
              <a:latin typeface="KoPubWorld돋움체 Light" panose="00000300000000000000" pitchFamily="2" charset="-127"/>
              <a:ea typeface="KoPubWorld돋움체 Light" panose="00000300000000000000" pitchFamily="2" charset="-127"/>
            </a:endParaRPr>
          </a:p>
        </p:txBody>
      </p:sp>
      <p:sp>
        <p:nvSpPr>
          <p:cNvPr id="55" name="Text Box 56">
            <a:extLst>
              <a:ext uri="{FF2B5EF4-FFF2-40B4-BE49-F238E27FC236}">
                <a16:creationId xmlns:a16="http://schemas.microsoft.com/office/drawing/2014/main" id="{B1D4F498-7A1B-9874-6B8F-4C324B5C78CD}"/>
              </a:ext>
            </a:extLst>
          </p:cNvPr>
          <p:cNvSpPr txBox="1"/>
          <p:nvPr/>
        </p:nvSpPr>
        <p:spPr>
          <a:xfrm>
            <a:off x="5389762" y="4463033"/>
            <a:ext cx="1130935" cy="40957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latinLnBrk="1">
              <a:lnSpc>
                <a:spcPct val="75000"/>
              </a:lnSpc>
              <a:spcAft>
                <a:spcPts val="800"/>
              </a:spcAft>
              <a:buNone/>
            </a:pPr>
            <a:r>
              <a:rPr lang="ko-KR" sz="900" kern="100" spc="-6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Medium" panose="00000600000000000000" pitchFamily="2" charset="-127"/>
              </a:rPr>
              <a:t>설치 용이성</a:t>
            </a:r>
            <a:endParaRPr lang="ko-KR" sz="900" kern="100" spc="-60" dirty="0">
              <a:solidFill>
                <a:srgbClr val="000000"/>
              </a:solidFill>
              <a:effectLst/>
              <a:latin typeface="KoPubWorld돋움체 Light" panose="00000300000000000000" pitchFamily="2" charset="-127"/>
              <a:ea typeface="KoPubWorld돋움체 Light" panose="00000300000000000000" pitchFamily="2" charset="-127"/>
            </a:endParaRPr>
          </a:p>
          <a:p>
            <a:pPr algn="ctr" latinLnBrk="1">
              <a:lnSpc>
                <a:spcPct val="75000"/>
              </a:lnSpc>
              <a:spcAft>
                <a:spcPts val="800"/>
              </a:spcAft>
              <a:buNone/>
            </a:pPr>
            <a:r>
              <a:rPr lang="en-US" sz="900" kern="100" spc="-6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Light" panose="00000300000000000000" pitchFamily="2" charset="-127"/>
              </a:rPr>
              <a:t>: ESA</a:t>
            </a:r>
            <a:r>
              <a:rPr lang="ko-KR" sz="900" kern="100" spc="-6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Medium" panose="00000600000000000000" pitchFamily="2" charset="-127"/>
              </a:rPr>
              <a:t>는 </a:t>
            </a:r>
            <a:r>
              <a:rPr lang="en-US" sz="900" kern="100" spc="-6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Medium" panose="00000600000000000000" pitchFamily="2" charset="-127"/>
              </a:rPr>
              <a:t>DIY</a:t>
            </a:r>
            <a:r>
              <a:rPr lang="ko-KR" sz="900" kern="100" spc="-6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Medium" panose="00000600000000000000" pitchFamily="2" charset="-127"/>
              </a:rPr>
              <a:t>가</a:t>
            </a:r>
            <a:endParaRPr lang="ko-KR" sz="900" kern="100" spc="-60" dirty="0">
              <a:solidFill>
                <a:srgbClr val="000000"/>
              </a:solidFill>
              <a:effectLst/>
              <a:latin typeface="KoPubWorld돋움체 Light" panose="00000300000000000000" pitchFamily="2" charset="-127"/>
              <a:ea typeface="KoPubWorld돋움체 Light" panose="00000300000000000000" pitchFamily="2" charset="-127"/>
            </a:endParaRPr>
          </a:p>
          <a:p>
            <a:pPr algn="ctr" latinLnBrk="1">
              <a:lnSpc>
                <a:spcPct val="75000"/>
              </a:lnSpc>
              <a:spcAft>
                <a:spcPts val="800"/>
              </a:spcAft>
              <a:buNone/>
            </a:pPr>
            <a:r>
              <a:rPr lang="ko-KR" sz="900" kern="100" spc="-6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Medium" panose="00000600000000000000" pitchFamily="2" charset="-127"/>
              </a:rPr>
              <a:t>가능해 설치가 쉬움</a:t>
            </a:r>
            <a:endParaRPr lang="ko-KR" sz="900" kern="100" spc="-60" dirty="0">
              <a:solidFill>
                <a:srgbClr val="000000"/>
              </a:solidFill>
              <a:effectLst/>
              <a:latin typeface="KoPubWorld돋움체 Light" panose="00000300000000000000" pitchFamily="2" charset="-127"/>
              <a:ea typeface="KoPubWorld돋움체 Light" panose="00000300000000000000" pitchFamily="2" charset="-127"/>
            </a:endParaRPr>
          </a:p>
        </p:txBody>
      </p:sp>
      <p:sp>
        <p:nvSpPr>
          <p:cNvPr id="56" name="Text Box 56">
            <a:extLst>
              <a:ext uri="{FF2B5EF4-FFF2-40B4-BE49-F238E27FC236}">
                <a16:creationId xmlns:a16="http://schemas.microsoft.com/office/drawing/2014/main" id="{92E34AFE-BDBD-59A7-6753-992A1EB865D1}"/>
              </a:ext>
            </a:extLst>
          </p:cNvPr>
          <p:cNvSpPr txBox="1"/>
          <p:nvPr/>
        </p:nvSpPr>
        <p:spPr>
          <a:xfrm>
            <a:off x="5588321" y="5274638"/>
            <a:ext cx="1130935" cy="501522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latinLnBrk="1">
              <a:lnSpc>
                <a:spcPct val="75000"/>
              </a:lnSpc>
              <a:spcAft>
                <a:spcPts val="800"/>
              </a:spcAft>
              <a:buNone/>
            </a:pPr>
            <a:r>
              <a:rPr lang="ko-KR" sz="900" kern="100" spc="-6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Medium" panose="00000600000000000000" pitchFamily="2" charset="-127"/>
              </a:rPr>
              <a:t>빔 전환 속도</a:t>
            </a:r>
            <a:endParaRPr lang="ko-KR" sz="900" kern="100" spc="-60" dirty="0">
              <a:solidFill>
                <a:srgbClr val="000000"/>
              </a:solidFill>
              <a:effectLst/>
              <a:latin typeface="KoPubWorld돋움체 Light" panose="00000300000000000000" pitchFamily="2" charset="-127"/>
              <a:ea typeface="KoPubWorld돋움체 Light" panose="00000300000000000000" pitchFamily="2" charset="-127"/>
            </a:endParaRPr>
          </a:p>
          <a:p>
            <a:pPr algn="ctr" latinLnBrk="1">
              <a:lnSpc>
                <a:spcPct val="75000"/>
              </a:lnSpc>
              <a:spcAft>
                <a:spcPts val="800"/>
              </a:spcAft>
              <a:buNone/>
            </a:pPr>
            <a:r>
              <a:rPr lang="en-US" sz="900" kern="100" spc="-6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Light" panose="00000300000000000000" pitchFamily="2" charset="-127"/>
              </a:rPr>
              <a:t>: ESA</a:t>
            </a:r>
            <a:r>
              <a:rPr lang="ko-KR" sz="900" kern="100" spc="-6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Medium" panose="00000600000000000000" pitchFamily="2" charset="-127"/>
              </a:rPr>
              <a:t>는</a:t>
            </a:r>
            <a:r>
              <a:rPr lang="en-US" sz="900" kern="100" spc="-6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Medium" panose="00000600000000000000" pitchFamily="2" charset="-127"/>
              </a:rPr>
              <a:t> 1ms</a:t>
            </a:r>
            <a:r>
              <a:rPr lang="ko-KR" sz="900" kern="100" spc="-6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Medium" panose="00000600000000000000" pitchFamily="2" charset="-127"/>
              </a:rPr>
              <a:t>로</a:t>
            </a:r>
            <a:endParaRPr lang="ko-KR" sz="900" kern="100" spc="-60" dirty="0">
              <a:solidFill>
                <a:srgbClr val="000000"/>
              </a:solidFill>
              <a:effectLst/>
              <a:latin typeface="KoPubWorld돋움체 Light" panose="00000300000000000000" pitchFamily="2" charset="-127"/>
              <a:ea typeface="KoPubWorld돋움체 Light" panose="00000300000000000000" pitchFamily="2" charset="-127"/>
            </a:endParaRPr>
          </a:p>
          <a:p>
            <a:pPr algn="ctr" latinLnBrk="1">
              <a:lnSpc>
                <a:spcPct val="75000"/>
              </a:lnSpc>
              <a:spcAft>
                <a:spcPts val="800"/>
              </a:spcAft>
              <a:buNone/>
            </a:pPr>
            <a:r>
              <a:rPr lang="ko-KR" sz="900" kern="100" spc="-6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Medium" panose="00000600000000000000" pitchFamily="2" charset="-127"/>
              </a:rPr>
              <a:t>기계식 대비 빠름</a:t>
            </a:r>
            <a:endParaRPr lang="ko-KR" sz="900" kern="100" spc="-60" dirty="0">
              <a:solidFill>
                <a:srgbClr val="000000"/>
              </a:solidFill>
              <a:effectLst/>
              <a:latin typeface="KoPubWorld돋움체 Light" panose="00000300000000000000" pitchFamily="2" charset="-127"/>
              <a:ea typeface="KoPubWorld돋움체 Light" panose="00000300000000000000" pitchFamily="2" charset="-127"/>
            </a:endParaRPr>
          </a:p>
        </p:txBody>
      </p:sp>
      <p:sp>
        <p:nvSpPr>
          <p:cNvPr id="57" name="Text Box 56">
            <a:extLst>
              <a:ext uri="{FF2B5EF4-FFF2-40B4-BE49-F238E27FC236}">
                <a16:creationId xmlns:a16="http://schemas.microsoft.com/office/drawing/2014/main" id="{A545F70C-77BD-0BFA-B6CA-CDC38E353E0D}"/>
              </a:ext>
            </a:extLst>
          </p:cNvPr>
          <p:cNvSpPr txBox="1"/>
          <p:nvPr/>
        </p:nvSpPr>
        <p:spPr>
          <a:xfrm>
            <a:off x="7693308" y="5273241"/>
            <a:ext cx="1419225" cy="40957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latinLnBrk="1">
              <a:lnSpc>
                <a:spcPct val="75000"/>
              </a:lnSpc>
              <a:spcAft>
                <a:spcPts val="800"/>
              </a:spcAft>
              <a:buNone/>
            </a:pPr>
            <a:r>
              <a:rPr lang="ko-KR" sz="900" kern="100" spc="-6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Medium" panose="00000600000000000000" pitchFamily="2" charset="-127"/>
              </a:rPr>
              <a:t>주사각에서의 처리량</a:t>
            </a:r>
            <a:endParaRPr lang="ko-KR" sz="900" kern="100" spc="-60" dirty="0">
              <a:solidFill>
                <a:srgbClr val="000000"/>
              </a:solidFill>
              <a:effectLst/>
              <a:latin typeface="KoPubWorld돋움체 Light" panose="00000300000000000000" pitchFamily="2" charset="-127"/>
              <a:ea typeface="KoPubWorld돋움체 Light" panose="00000300000000000000" pitchFamily="2" charset="-127"/>
            </a:endParaRPr>
          </a:p>
          <a:p>
            <a:pPr algn="ctr" latinLnBrk="1">
              <a:lnSpc>
                <a:spcPct val="75000"/>
              </a:lnSpc>
              <a:spcAft>
                <a:spcPts val="800"/>
              </a:spcAft>
              <a:buNone/>
            </a:pPr>
            <a:r>
              <a:rPr lang="en-US" sz="900" kern="100" spc="-6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Light" panose="00000300000000000000" pitchFamily="2" charset="-127"/>
              </a:rPr>
              <a:t>: ESA</a:t>
            </a:r>
            <a:r>
              <a:rPr lang="ko-KR" sz="900" kern="100" spc="-6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Medium" panose="00000600000000000000" pitchFamily="2" charset="-127"/>
              </a:rPr>
              <a:t>는</a:t>
            </a:r>
            <a:r>
              <a:rPr lang="en-US" sz="900" kern="100" spc="-6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Medium" panose="00000600000000000000" pitchFamily="2" charset="-127"/>
              </a:rPr>
              <a:t> 45</a:t>
            </a:r>
            <a:r>
              <a:rPr lang="ko-KR" sz="900" kern="100" spc="-6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Medium" panose="00000600000000000000" pitchFamily="2" charset="-127"/>
              </a:rPr>
              <a:t>도 이상에서 신호 손실 </a:t>
            </a:r>
            <a:endParaRPr lang="ko-KR" sz="900" kern="100" spc="-60" dirty="0">
              <a:solidFill>
                <a:srgbClr val="000000"/>
              </a:solidFill>
              <a:effectLst/>
              <a:latin typeface="KoPubWorld돋움체 Light" panose="00000300000000000000" pitchFamily="2" charset="-127"/>
              <a:ea typeface="KoPubWorld돋움체 Light" panose="00000300000000000000" pitchFamily="2" charset="-127"/>
            </a:endParaRPr>
          </a:p>
          <a:p>
            <a:pPr algn="ctr" latinLnBrk="1">
              <a:lnSpc>
                <a:spcPct val="75000"/>
              </a:lnSpc>
              <a:spcAft>
                <a:spcPts val="800"/>
              </a:spcAft>
              <a:buNone/>
            </a:pPr>
            <a:r>
              <a:rPr lang="ko-KR" sz="900" kern="100" spc="-6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Medium" panose="00000600000000000000" pitchFamily="2" charset="-127"/>
              </a:rPr>
              <a:t>발생 가능</a:t>
            </a:r>
            <a:endParaRPr lang="ko-KR" sz="900" kern="100" spc="-60" dirty="0">
              <a:solidFill>
                <a:srgbClr val="000000"/>
              </a:solidFill>
              <a:effectLst/>
              <a:latin typeface="KoPubWorld돋움체 Light" panose="00000300000000000000" pitchFamily="2" charset="-127"/>
              <a:ea typeface="KoPubWorld돋움체 Light" panose="00000300000000000000" pitchFamily="2" charset="-127"/>
            </a:endParaRPr>
          </a:p>
        </p:txBody>
      </p:sp>
      <p:sp>
        <p:nvSpPr>
          <p:cNvPr id="58" name="Text Box 56">
            <a:extLst>
              <a:ext uri="{FF2B5EF4-FFF2-40B4-BE49-F238E27FC236}">
                <a16:creationId xmlns:a16="http://schemas.microsoft.com/office/drawing/2014/main" id="{6C017D57-084C-980B-A5A9-BFAC01691A8F}"/>
              </a:ext>
            </a:extLst>
          </p:cNvPr>
          <p:cNvSpPr txBox="1"/>
          <p:nvPr/>
        </p:nvSpPr>
        <p:spPr>
          <a:xfrm>
            <a:off x="7845785" y="3600708"/>
            <a:ext cx="1130935" cy="40957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latinLnBrk="1">
              <a:lnSpc>
                <a:spcPct val="75000"/>
              </a:lnSpc>
              <a:spcAft>
                <a:spcPts val="800"/>
              </a:spcAft>
              <a:buNone/>
            </a:pPr>
            <a:r>
              <a:rPr lang="ko-KR" sz="900" kern="100" spc="-6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Medium" panose="00000600000000000000" pitchFamily="2" charset="-127"/>
              </a:rPr>
              <a:t>전력 효율성</a:t>
            </a:r>
            <a:endParaRPr lang="ko-KR" sz="900" kern="100" spc="-60" dirty="0">
              <a:solidFill>
                <a:srgbClr val="000000"/>
              </a:solidFill>
              <a:effectLst/>
              <a:latin typeface="KoPubWorld돋움체 Light" panose="00000300000000000000" pitchFamily="2" charset="-127"/>
              <a:ea typeface="KoPubWorld돋움체 Light" panose="00000300000000000000" pitchFamily="2" charset="-127"/>
            </a:endParaRPr>
          </a:p>
          <a:p>
            <a:pPr algn="ctr" latinLnBrk="1">
              <a:lnSpc>
                <a:spcPct val="75000"/>
              </a:lnSpc>
              <a:spcAft>
                <a:spcPts val="800"/>
              </a:spcAft>
              <a:buNone/>
            </a:pPr>
            <a:r>
              <a:rPr lang="en-US" sz="900" kern="100" spc="-6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Light" panose="00000300000000000000" pitchFamily="2" charset="-127"/>
              </a:rPr>
              <a:t>: ESA</a:t>
            </a:r>
            <a:r>
              <a:rPr lang="ko-KR" sz="900" kern="100" spc="-6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Medium" panose="00000600000000000000" pitchFamily="2" charset="-127"/>
              </a:rPr>
              <a:t>는 기존 대비</a:t>
            </a:r>
            <a:endParaRPr lang="ko-KR" sz="900" kern="100" spc="-60" dirty="0">
              <a:solidFill>
                <a:srgbClr val="000000"/>
              </a:solidFill>
              <a:effectLst/>
              <a:latin typeface="KoPubWorld돋움체 Light" panose="00000300000000000000" pitchFamily="2" charset="-127"/>
              <a:ea typeface="KoPubWorld돋움체 Light" panose="00000300000000000000" pitchFamily="2" charset="-127"/>
            </a:endParaRPr>
          </a:p>
          <a:p>
            <a:pPr algn="ctr" latinLnBrk="1">
              <a:lnSpc>
                <a:spcPct val="75000"/>
              </a:lnSpc>
              <a:spcAft>
                <a:spcPts val="800"/>
              </a:spcAft>
              <a:buNone/>
            </a:pPr>
            <a:r>
              <a:rPr lang="en-US" sz="900" kern="100" spc="-6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Light" panose="00000300000000000000" pitchFamily="2" charset="-127"/>
              </a:rPr>
              <a:t>5</a:t>
            </a:r>
            <a:r>
              <a:rPr lang="ko-KR" sz="900" kern="100" spc="-6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Medium" panose="00000600000000000000" pitchFamily="2" charset="-127"/>
              </a:rPr>
              <a:t>배 높은 전력 소모</a:t>
            </a:r>
            <a:endParaRPr lang="ko-KR" sz="900" kern="100" spc="-60" dirty="0">
              <a:solidFill>
                <a:srgbClr val="000000"/>
              </a:solidFill>
              <a:effectLst/>
              <a:latin typeface="KoPubWorld돋움체 Light" panose="00000300000000000000" pitchFamily="2" charset="-127"/>
              <a:ea typeface="KoPubWorld돋움체 Light" panose="00000300000000000000" pitchFamily="2" charset="-127"/>
            </a:endParaRPr>
          </a:p>
        </p:txBody>
      </p:sp>
      <p:sp>
        <p:nvSpPr>
          <p:cNvPr id="59" name="Text Box 56">
            <a:extLst>
              <a:ext uri="{FF2B5EF4-FFF2-40B4-BE49-F238E27FC236}">
                <a16:creationId xmlns:a16="http://schemas.microsoft.com/office/drawing/2014/main" id="{CDE37FA1-9232-5E6C-3F7C-C130B3F737EB}"/>
              </a:ext>
            </a:extLst>
          </p:cNvPr>
          <p:cNvSpPr txBox="1"/>
          <p:nvPr/>
        </p:nvSpPr>
        <p:spPr>
          <a:xfrm>
            <a:off x="8055475" y="4530904"/>
            <a:ext cx="1130935" cy="40957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latinLnBrk="1">
              <a:lnSpc>
                <a:spcPct val="75000"/>
              </a:lnSpc>
              <a:spcAft>
                <a:spcPts val="800"/>
              </a:spcAft>
              <a:buNone/>
            </a:pPr>
            <a:r>
              <a:rPr lang="en-US" sz="900" kern="100" spc="-6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Light" panose="00000300000000000000" pitchFamily="2" charset="-127"/>
              </a:rPr>
              <a:t>UT </a:t>
            </a:r>
            <a:r>
              <a:rPr lang="ko-KR" sz="900" kern="100" spc="-6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Medium" panose="00000600000000000000" pitchFamily="2" charset="-127"/>
              </a:rPr>
              <a:t>크기</a:t>
            </a:r>
            <a:endParaRPr lang="ko-KR" sz="900" kern="100" spc="-60" dirty="0">
              <a:solidFill>
                <a:srgbClr val="000000"/>
              </a:solidFill>
              <a:effectLst/>
              <a:latin typeface="KoPubWorld돋움체 Light" panose="00000300000000000000" pitchFamily="2" charset="-127"/>
              <a:ea typeface="KoPubWorld돋움체 Light" panose="00000300000000000000" pitchFamily="2" charset="-127"/>
            </a:endParaRPr>
          </a:p>
          <a:p>
            <a:pPr algn="ctr" latinLnBrk="1">
              <a:lnSpc>
                <a:spcPct val="75000"/>
              </a:lnSpc>
              <a:spcAft>
                <a:spcPts val="800"/>
              </a:spcAft>
              <a:buNone/>
            </a:pPr>
            <a:r>
              <a:rPr lang="en-US" sz="900" kern="100" spc="-60" dirty="0">
                <a:solidFill>
                  <a:srgbClr val="000000"/>
                </a:solidFill>
                <a:effectLst/>
                <a:latin typeface="KoPubWorld돋움체 Medium" panose="00000600000000000000" pitchFamily="2" charset="-127"/>
                <a:ea typeface="KoPubWorld돋움체 Light" panose="00000300000000000000" pitchFamily="2" charset="-127"/>
              </a:rPr>
              <a:t>: ESA</a:t>
            </a:r>
            <a:r>
              <a:rPr lang="ko-KR" sz="900" kern="100" spc="-60" dirty="0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Medium" panose="00000600000000000000" pitchFamily="2" charset="-127"/>
              </a:rPr>
              <a:t>가 작고 </a:t>
            </a:r>
            <a:r>
              <a:rPr lang="ko-KR" sz="900" kern="100" spc="-60" dirty="0" err="1">
                <a:solidFill>
                  <a:srgbClr val="000000"/>
                </a:solidFill>
                <a:effectLst/>
                <a:latin typeface="KoPubWorld돋움체 Light" panose="00000300000000000000" pitchFamily="2" charset="-127"/>
                <a:ea typeface="KoPubWorld돋움체 Medium" panose="00000600000000000000" pitchFamily="2" charset="-127"/>
              </a:rPr>
              <a:t>컴팩트</a:t>
            </a:r>
            <a:endParaRPr lang="ko-KR" sz="900" kern="100" spc="-60" dirty="0">
              <a:solidFill>
                <a:srgbClr val="000000"/>
              </a:solidFill>
              <a:effectLst/>
              <a:latin typeface="KoPubWorld돋움체 Light" panose="00000300000000000000" pitchFamily="2" charset="-127"/>
              <a:ea typeface="KoPubWorld돋움체 Light" panose="00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876014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8C539-0D1A-5428-2C24-249D594C2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1CCBBCE-9BF4-275C-0243-14E4F7CB2192}"/>
              </a:ext>
            </a:extLst>
          </p:cNvPr>
          <p:cNvSpPr/>
          <p:nvPr/>
        </p:nvSpPr>
        <p:spPr>
          <a:xfrm>
            <a:off x="0" y="6596586"/>
            <a:ext cx="9906000" cy="276999"/>
          </a:xfrm>
          <a:prstGeom prst="rect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9CF8408-4F41-528A-4CAB-550667B24E0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4733" y="22864"/>
            <a:ext cx="1358264" cy="512493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C26FB66F-B7A2-8A40-8483-354893ADF200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 flipV="1">
            <a:off x="2052204" y="279111"/>
            <a:ext cx="6362529" cy="20009"/>
          </a:xfrm>
          <a:prstGeom prst="line">
            <a:avLst/>
          </a:prstGeom>
          <a:ln>
            <a:solidFill>
              <a:srgbClr val="1B28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FDADCF1-037E-203A-DEE3-EACD1F8D99F9}"/>
              </a:ext>
            </a:extLst>
          </p:cNvPr>
          <p:cNvSpPr txBox="1"/>
          <p:nvPr/>
        </p:nvSpPr>
        <p:spPr>
          <a:xfrm>
            <a:off x="191088" y="160620"/>
            <a:ext cx="18611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년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학기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 세미나</a:t>
            </a:r>
            <a:endParaRPr lang="ko-KR" altLang="en-US" sz="1200" dirty="0">
              <a:solidFill>
                <a:srgbClr val="1B2853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72061CC-F9E4-8A11-F680-6E0C962B355F}"/>
              </a:ext>
            </a:extLst>
          </p:cNvPr>
          <p:cNvSpPr/>
          <p:nvPr/>
        </p:nvSpPr>
        <p:spPr>
          <a:xfrm>
            <a:off x="405856" y="2791169"/>
            <a:ext cx="4320000" cy="34925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 err="1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인텔리안테크</a:t>
            </a:r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지역별 매출 구성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9E77A09-168C-F546-72BE-49DABAEFE6AC}"/>
              </a:ext>
            </a:extLst>
          </p:cNvPr>
          <p:cNvSpPr/>
          <p:nvPr/>
        </p:nvSpPr>
        <p:spPr>
          <a:xfrm>
            <a:off x="5085806" y="2791169"/>
            <a:ext cx="4320000" cy="34925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 err="1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인텔리안테크</a:t>
            </a:r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지상용 안테나 매출 비중 추이 및 전망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EB775C-ED7C-2196-62BC-C7FD414DDFE6}"/>
              </a:ext>
            </a:extLst>
          </p:cNvPr>
          <p:cNvSpPr txBox="1"/>
          <p:nvPr/>
        </p:nvSpPr>
        <p:spPr>
          <a:xfrm>
            <a:off x="399936" y="1475425"/>
            <a:ext cx="9001125" cy="1177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인텔리안테크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’24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년부터 본격적으로 평판 안테나 양산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→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스타링크에 이은 세계 두 번째 상용화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성공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’23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년 이후 </a:t>
            </a:r>
            <a:r>
              <a:rPr lang="ko-KR" altLang="en-US" sz="1200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유틸셋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ko-KR" altLang="en-US" sz="1200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윈웹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SES, </a:t>
            </a:r>
            <a:r>
              <a:rPr lang="ko-KR" altLang="en-US" sz="1200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텔레셋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등 주요 위성 통신 사업자를 고객사로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확보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→ </a:t>
            </a:r>
            <a:r>
              <a:rPr lang="ko-KR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지상용 안테나 매출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확대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컨텍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ko-KR" sz="12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지상국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·</a:t>
            </a:r>
            <a:r>
              <a:rPr lang="ko-KR" altLang="ko-KR" sz="12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위성통신단말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·</a:t>
            </a:r>
            <a:r>
              <a:rPr lang="ko-KR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위성제조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·</a:t>
            </a:r>
            <a:r>
              <a:rPr lang="ko-KR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데이터처리까지 아우르는 </a:t>
            </a:r>
            <a:r>
              <a:rPr lang="ko-KR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국내 유일 풀 </a:t>
            </a:r>
            <a:r>
              <a:rPr lang="ko-KR" altLang="ko-KR" sz="1200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버티컬</a:t>
            </a:r>
            <a:r>
              <a:rPr lang="ko-KR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체인 </a:t>
            </a:r>
            <a:r>
              <a:rPr lang="ko-KR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우주 산업 기업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최근 </a:t>
            </a:r>
            <a:r>
              <a:rPr lang="ko-KR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미국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</a:t>
            </a:r>
            <a:r>
              <a:rPr lang="ko-KR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유럽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·</a:t>
            </a:r>
            <a:r>
              <a:rPr lang="ko-KR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중동</a:t>
            </a:r>
            <a:r>
              <a:rPr lang="ko-KR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정부 프로젝트 수주가 진행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중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 </a:t>
            </a:r>
            <a:r>
              <a:rPr lang="ko-KR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국내에서도 </a:t>
            </a:r>
            <a:r>
              <a:rPr lang="ko-KR" altLang="ko-KR" sz="1200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우주청</a:t>
            </a:r>
            <a:r>
              <a:rPr lang="ko-KR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출범과 함께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225</a:t>
            </a:r>
            <a:r>
              <a:rPr lang="ko-KR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억 원 규모 턴키 계약</a:t>
            </a:r>
            <a:r>
              <a:rPr lang="ko-KR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을 확보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44C13A7-CB7F-4E0F-6633-B94DB6D598DC}"/>
              </a:ext>
            </a:extLst>
          </p:cNvPr>
          <p:cNvSpPr txBox="1"/>
          <p:nvPr/>
        </p:nvSpPr>
        <p:spPr>
          <a:xfrm>
            <a:off x="742517" y="704892"/>
            <a:ext cx="5670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II. Investment Point 3. </a:t>
            </a:r>
            <a:r>
              <a:rPr lang="ko-KR" altLang="en-US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통신</a:t>
            </a:r>
            <a:r>
              <a:rPr lang="en-US" altLang="ko-KR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&amp;</a:t>
            </a:r>
            <a:r>
              <a:rPr lang="ko-KR" altLang="en-US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데이터</a:t>
            </a:r>
            <a:r>
              <a:rPr lang="en-US" altLang="ko-KR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: Downstream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F0192A0-57A9-6B49-AC0F-182DDCA6ADF0}"/>
              </a:ext>
            </a:extLst>
          </p:cNvPr>
          <p:cNvSpPr/>
          <p:nvPr/>
        </p:nvSpPr>
        <p:spPr>
          <a:xfrm>
            <a:off x="504393" y="743368"/>
            <a:ext cx="238125" cy="238125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03864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E1742DC-19E2-2A19-8AB5-9A4F1F70EF2F}"/>
              </a:ext>
            </a:extLst>
          </p:cNvPr>
          <p:cNvSpPr txBox="1"/>
          <p:nvPr/>
        </p:nvSpPr>
        <p:spPr>
          <a:xfrm>
            <a:off x="504392" y="1161148"/>
            <a:ext cx="90011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 err="1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인텔리안테크</a:t>
            </a:r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1500" dirty="0" err="1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컨텍</a:t>
            </a:r>
            <a:endParaRPr lang="en-US" altLang="ko-KR" sz="1500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24C263-8469-4978-74A1-463C5BFC9F72}"/>
              </a:ext>
            </a:extLst>
          </p:cNvPr>
          <p:cNvSpPr txBox="1"/>
          <p:nvPr/>
        </p:nvSpPr>
        <p:spPr>
          <a:xfrm>
            <a:off x="5085806" y="6316220"/>
            <a:ext cx="43129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Source: </a:t>
            </a:r>
            <a:r>
              <a:rPr lang="ko-KR" altLang="en-US" sz="800" dirty="0" err="1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인텔리안테크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RFS</a:t>
            </a:r>
            <a:r>
              <a:rPr lang="ko-KR" altLang="en-US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Team 2                                                                   </a:t>
            </a:r>
            <a:r>
              <a:rPr lang="ko-KR" altLang="en-US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단위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</a:t>
            </a:r>
            <a:r>
              <a:rPr lang="ko-KR" altLang="en-US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억 원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,%                                                                            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EAE09B-6097-2473-9DB9-49F41F4DAF30}"/>
              </a:ext>
            </a:extLst>
          </p:cNvPr>
          <p:cNvSpPr txBox="1"/>
          <p:nvPr/>
        </p:nvSpPr>
        <p:spPr>
          <a:xfrm>
            <a:off x="407032" y="6316220"/>
            <a:ext cx="43129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Source: </a:t>
            </a:r>
            <a:r>
              <a:rPr lang="ko-KR" altLang="en-US" sz="800" dirty="0" err="1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인텔리안테크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RFS Team 2                                                                                                                    </a:t>
            </a:r>
          </a:p>
        </p:txBody>
      </p:sp>
      <p:graphicFrame>
        <p:nvGraphicFramePr>
          <p:cNvPr id="14" name="차트 13">
            <a:extLst>
              <a:ext uri="{FF2B5EF4-FFF2-40B4-BE49-F238E27FC236}">
                <a16:creationId xmlns:a16="http://schemas.microsoft.com/office/drawing/2014/main" id="{8031A6C1-6B14-5D76-395C-100654602B60}"/>
              </a:ext>
            </a:extLst>
          </p:cNvPr>
          <p:cNvGraphicFramePr/>
          <p:nvPr/>
        </p:nvGraphicFramePr>
        <p:xfrm>
          <a:off x="5085806" y="3278919"/>
          <a:ext cx="4312901" cy="28299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7" name="차트 16">
            <a:extLst>
              <a:ext uri="{FF2B5EF4-FFF2-40B4-BE49-F238E27FC236}">
                <a16:creationId xmlns:a16="http://schemas.microsoft.com/office/drawing/2014/main" id="{57A4F167-5125-DE5F-8F83-4D0824F454D2}"/>
              </a:ext>
            </a:extLst>
          </p:cNvPr>
          <p:cNvGraphicFramePr/>
          <p:nvPr/>
        </p:nvGraphicFramePr>
        <p:xfrm>
          <a:off x="407032" y="3205342"/>
          <a:ext cx="4312903" cy="29034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7937178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08BCE-B2B8-0607-1892-E7F3FCBF8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F762E53-A62C-D4FB-1C78-4A9787D75620}"/>
              </a:ext>
            </a:extLst>
          </p:cNvPr>
          <p:cNvSpPr/>
          <p:nvPr/>
        </p:nvSpPr>
        <p:spPr>
          <a:xfrm>
            <a:off x="0" y="6596586"/>
            <a:ext cx="9906000" cy="276999"/>
          </a:xfrm>
          <a:prstGeom prst="rect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640DB06-B6DC-E1FB-B898-EF7E78B4C6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4733" y="22864"/>
            <a:ext cx="1358264" cy="512493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F7E4E95D-7060-BE6B-FF27-62A6A04F0DB6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 flipV="1">
            <a:off x="2052204" y="279111"/>
            <a:ext cx="6362529" cy="20009"/>
          </a:xfrm>
          <a:prstGeom prst="line">
            <a:avLst/>
          </a:prstGeom>
          <a:ln>
            <a:solidFill>
              <a:srgbClr val="1B28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84E5DB3-CF62-EC7B-3DDA-59719091E0DB}"/>
              </a:ext>
            </a:extLst>
          </p:cNvPr>
          <p:cNvSpPr txBox="1"/>
          <p:nvPr/>
        </p:nvSpPr>
        <p:spPr>
          <a:xfrm>
            <a:off x="191088" y="160620"/>
            <a:ext cx="18611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년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학기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 세미나</a:t>
            </a:r>
            <a:endParaRPr lang="ko-KR" altLang="en-US" sz="1200" dirty="0">
              <a:solidFill>
                <a:srgbClr val="1B2853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5CFAAF4-E079-7FE7-EF1B-A0BE6E95E5EF}"/>
              </a:ext>
            </a:extLst>
          </p:cNvPr>
          <p:cNvSpPr/>
          <p:nvPr/>
        </p:nvSpPr>
        <p:spPr>
          <a:xfrm>
            <a:off x="405856" y="2791169"/>
            <a:ext cx="4320000" cy="34925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글로벌 위성 영상 시장 전망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E33BFA3-FE8E-0E12-CB2E-C4C16DFAA00B}"/>
              </a:ext>
            </a:extLst>
          </p:cNvPr>
          <p:cNvSpPr/>
          <p:nvPr/>
        </p:nvSpPr>
        <p:spPr>
          <a:xfrm>
            <a:off x="5085806" y="2791169"/>
            <a:ext cx="4320000" cy="34925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위성 영상 판매 사업 시장 점유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1A28E7-0047-974B-BA78-BA6631B40D66}"/>
              </a:ext>
            </a:extLst>
          </p:cNvPr>
          <p:cNvSpPr txBox="1"/>
          <p:nvPr/>
        </p:nvSpPr>
        <p:spPr>
          <a:xfrm>
            <a:off x="399936" y="1475425"/>
            <a:ext cx="9001125" cy="1177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관측 위성 운영을 위해서는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글로벌 </a:t>
            </a:r>
            <a:r>
              <a:rPr lang="ko-KR" altLang="en-US" sz="1200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지상국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인프라가 필수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적 → 관측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데이터 처리 사업 동반 성장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예정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막사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: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미국 국부 및 정보기관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과의 장기 계약 유지 기반 → 관측 위성 시장에서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에어버스와 함께 합산 점유율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42%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형성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쎄트렉아이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3Q25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매출 약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504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억 원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(YoY -6%)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기록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하지만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영업이익은 </a:t>
            </a:r>
            <a:r>
              <a:rPr lang="ko-KR" altLang="en-US" sz="1200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턴어라운드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달성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3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월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초고해상도 위성인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스페이스아이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-T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발사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성공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자회사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SIIS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를 통해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유럽 주요 기관과 다년 영상 공급 리스계약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체결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1DB684D-C230-6359-5895-3DC7D977AC34}"/>
              </a:ext>
            </a:extLst>
          </p:cNvPr>
          <p:cNvSpPr txBox="1"/>
          <p:nvPr/>
        </p:nvSpPr>
        <p:spPr>
          <a:xfrm>
            <a:off x="742517" y="704892"/>
            <a:ext cx="5670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II. Investment Point 3. </a:t>
            </a:r>
            <a:r>
              <a:rPr lang="ko-KR" altLang="en-US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통신</a:t>
            </a:r>
            <a:r>
              <a:rPr lang="en-US" altLang="ko-KR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&amp;</a:t>
            </a:r>
            <a:r>
              <a:rPr lang="ko-KR" altLang="en-US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데이터</a:t>
            </a:r>
            <a:r>
              <a:rPr lang="en-US" altLang="ko-KR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: Downstream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EBDDA46-34FA-548B-EBEB-0B6E40DA9016}"/>
              </a:ext>
            </a:extLst>
          </p:cNvPr>
          <p:cNvSpPr/>
          <p:nvPr/>
        </p:nvSpPr>
        <p:spPr>
          <a:xfrm>
            <a:off x="504393" y="743368"/>
            <a:ext cx="238125" cy="238125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03864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952FB6-970C-622E-11D6-FA8B0F9C1252}"/>
              </a:ext>
            </a:extLst>
          </p:cNvPr>
          <p:cNvSpPr txBox="1"/>
          <p:nvPr/>
        </p:nvSpPr>
        <p:spPr>
          <a:xfrm>
            <a:off x="504392" y="1161148"/>
            <a:ext cx="90011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위성 운용 인프라 확충 필요성과 주요 관측 위성 기업</a:t>
            </a:r>
            <a:endParaRPr lang="en-US" altLang="ko-KR" sz="1500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0E4782-5AF8-C202-2399-49498D79220F}"/>
              </a:ext>
            </a:extLst>
          </p:cNvPr>
          <p:cNvSpPr txBox="1"/>
          <p:nvPr/>
        </p:nvSpPr>
        <p:spPr>
          <a:xfrm>
            <a:off x="5085806" y="6316220"/>
            <a:ext cx="43129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Source: </a:t>
            </a:r>
            <a:r>
              <a:rPr lang="ko-KR" altLang="en-US" sz="800" dirty="0" err="1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쎄트렉아이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RFS</a:t>
            </a:r>
            <a:r>
              <a:rPr lang="ko-KR" altLang="en-US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Team 2                                                                                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03204A-E41B-6963-A97C-C88F1954C01F}"/>
              </a:ext>
            </a:extLst>
          </p:cNvPr>
          <p:cNvSpPr txBox="1"/>
          <p:nvPr/>
        </p:nvSpPr>
        <p:spPr>
          <a:xfrm>
            <a:off x="407032" y="6316220"/>
            <a:ext cx="43129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Source: </a:t>
            </a:r>
            <a:r>
              <a:rPr lang="ko-KR" altLang="en-US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글로벌 위성 영상 시장 보고서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RFS Team 2                                                 </a:t>
            </a:r>
            <a:r>
              <a:rPr lang="ko-KR" altLang="en-US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단위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Bn $                                                                           </a:t>
            </a:r>
          </a:p>
        </p:txBody>
      </p:sp>
      <p:graphicFrame>
        <p:nvGraphicFramePr>
          <p:cNvPr id="7" name="차트 6">
            <a:extLst>
              <a:ext uri="{FF2B5EF4-FFF2-40B4-BE49-F238E27FC236}">
                <a16:creationId xmlns:a16="http://schemas.microsoft.com/office/drawing/2014/main" id="{00000000-0008-0000-0200-000009000000}"/>
              </a:ext>
            </a:extLst>
          </p:cNvPr>
          <p:cNvGraphicFramePr/>
          <p:nvPr/>
        </p:nvGraphicFramePr>
        <p:xfrm>
          <a:off x="407032" y="3205342"/>
          <a:ext cx="4312902" cy="31108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차트 11">
            <a:extLst>
              <a:ext uri="{FF2B5EF4-FFF2-40B4-BE49-F238E27FC236}">
                <a16:creationId xmlns:a16="http://schemas.microsoft.com/office/drawing/2014/main" id="{8DC4225A-4EF9-0D6D-7E73-C2A7ED63B6D4}"/>
              </a:ext>
            </a:extLst>
          </p:cNvPr>
          <p:cNvGraphicFramePr/>
          <p:nvPr/>
        </p:nvGraphicFramePr>
        <p:xfrm>
          <a:off x="5085806" y="3205342"/>
          <a:ext cx="4320000" cy="28260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6303475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EF1B3-2AB1-A28A-632F-37293FD15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854DF147-118C-C89C-072E-AB594D4B6F17}"/>
              </a:ext>
            </a:extLst>
          </p:cNvPr>
          <p:cNvGrpSpPr/>
          <p:nvPr/>
        </p:nvGrpSpPr>
        <p:grpSpPr>
          <a:xfrm>
            <a:off x="5298801" y="2834840"/>
            <a:ext cx="4607199" cy="4023160"/>
            <a:chOff x="7588612" y="2834840"/>
            <a:chExt cx="4607198" cy="402316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389C7EF5-3367-E722-4266-1615DAD957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5116" b="19268"/>
            <a:stretch/>
          </p:blipFill>
          <p:spPr>
            <a:xfrm>
              <a:off x="7588612" y="2834840"/>
              <a:ext cx="4607198" cy="402316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0A9C968E-6841-9CA8-2E47-C1DCC0643BEF}"/>
                </a:ext>
              </a:extLst>
            </p:cNvPr>
            <p:cNvSpPr/>
            <p:nvPr/>
          </p:nvSpPr>
          <p:spPr>
            <a:xfrm>
              <a:off x="8332470" y="3154680"/>
              <a:ext cx="3859530" cy="3703320"/>
            </a:xfrm>
            <a:prstGeom prst="rect">
              <a:avLst/>
            </a:prstGeom>
            <a:solidFill>
              <a:schemeClr val="bg1"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6" name="직각 삼각형 5">
            <a:extLst>
              <a:ext uri="{FF2B5EF4-FFF2-40B4-BE49-F238E27FC236}">
                <a16:creationId xmlns:a16="http://schemas.microsoft.com/office/drawing/2014/main" id="{DEB497F1-495C-F6F0-093B-A9887A86237B}"/>
              </a:ext>
            </a:extLst>
          </p:cNvPr>
          <p:cNvSpPr/>
          <p:nvPr/>
        </p:nvSpPr>
        <p:spPr>
          <a:xfrm rot="5400000">
            <a:off x="4163963" y="-4164315"/>
            <a:ext cx="1578078" cy="9906000"/>
          </a:xfrm>
          <a:prstGeom prst="rtTriangl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각 삼각형 6">
            <a:extLst>
              <a:ext uri="{FF2B5EF4-FFF2-40B4-BE49-F238E27FC236}">
                <a16:creationId xmlns:a16="http://schemas.microsoft.com/office/drawing/2014/main" id="{D6515121-6912-D49A-9577-A5859266C8CB}"/>
              </a:ext>
            </a:extLst>
          </p:cNvPr>
          <p:cNvSpPr/>
          <p:nvPr/>
        </p:nvSpPr>
        <p:spPr>
          <a:xfrm rot="5400000">
            <a:off x="-2862037" y="2862037"/>
            <a:ext cx="6858002" cy="1133927"/>
          </a:xfrm>
          <a:prstGeom prst="rtTriangle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617BFC-BF1B-A11C-3703-1285E00A0499}"/>
              </a:ext>
            </a:extLst>
          </p:cNvPr>
          <p:cNvSpPr txBox="1"/>
          <p:nvPr/>
        </p:nvSpPr>
        <p:spPr>
          <a:xfrm>
            <a:off x="921527" y="1898687"/>
            <a:ext cx="9517099" cy="510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80000"/>
              </a:lnSpc>
              <a:spcAft>
                <a:spcPts val="800"/>
              </a:spcAft>
              <a:tabLst>
                <a:tab pos="1371566" algn="l"/>
              </a:tabLst>
            </a:pPr>
            <a:r>
              <a:rPr lang="ko-KR" altLang="en-US" sz="3200" b="1" kern="100" spc="-60" dirty="0" err="1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</a:t>
            </a:r>
            <a:r>
              <a:rPr lang="en-US" altLang="ko-KR" sz="3200" b="1" kern="100" spc="-6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. Check Point</a:t>
            </a:r>
          </a:p>
        </p:txBody>
      </p:sp>
    </p:spTree>
    <p:extLst>
      <p:ext uri="{BB962C8B-B14F-4D97-AF65-F5344CB8AC3E}">
        <p14:creationId xmlns:p14="http://schemas.microsoft.com/office/powerpoint/2010/main" val="33805915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6DDB5-80A9-9F5D-4541-BDF96EB4F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4E19C30-01BF-72D1-591E-C3C32C5B716E}"/>
              </a:ext>
            </a:extLst>
          </p:cNvPr>
          <p:cNvSpPr/>
          <p:nvPr/>
        </p:nvSpPr>
        <p:spPr>
          <a:xfrm>
            <a:off x="0" y="6596586"/>
            <a:ext cx="9906000" cy="276999"/>
          </a:xfrm>
          <a:prstGeom prst="rect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6D45468-69DB-4E05-8765-9B988AE9F27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4733" y="22864"/>
            <a:ext cx="1358264" cy="512493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7183566-9E65-F063-05C8-1C086C2E9CD5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 flipV="1">
            <a:off x="2052204" y="279111"/>
            <a:ext cx="6362529" cy="20009"/>
          </a:xfrm>
          <a:prstGeom prst="line">
            <a:avLst/>
          </a:prstGeom>
          <a:ln>
            <a:solidFill>
              <a:srgbClr val="1B28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DB5AAB6-46E8-3CF7-FBD2-FFB4447B90BF}"/>
              </a:ext>
            </a:extLst>
          </p:cNvPr>
          <p:cNvSpPr txBox="1"/>
          <p:nvPr/>
        </p:nvSpPr>
        <p:spPr>
          <a:xfrm>
            <a:off x="191088" y="160620"/>
            <a:ext cx="18611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년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학기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 세미나</a:t>
            </a:r>
            <a:endParaRPr lang="ko-KR" altLang="en-US" sz="1200" dirty="0">
              <a:solidFill>
                <a:srgbClr val="1B2853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0BC4747-846B-0C19-8905-69410CB629EB}"/>
              </a:ext>
            </a:extLst>
          </p:cNvPr>
          <p:cNvSpPr/>
          <p:nvPr/>
        </p:nvSpPr>
        <p:spPr>
          <a:xfrm>
            <a:off x="405856" y="2791169"/>
            <a:ext cx="4320000" cy="34925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미국의 데이터센터 전력 수요량 전망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6612A4E-94DB-8735-F6BA-0C55555DB78D}"/>
              </a:ext>
            </a:extLst>
          </p:cNvPr>
          <p:cNvSpPr/>
          <p:nvPr/>
        </p:nvSpPr>
        <p:spPr>
          <a:xfrm>
            <a:off x="5085806" y="2791169"/>
            <a:ext cx="4320000" cy="34925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지상과 우주의 데이터센터 특징 비교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7B683A-B9BA-DF8F-BC41-84ABFB5EDA05}"/>
              </a:ext>
            </a:extLst>
          </p:cNvPr>
          <p:cNvSpPr txBox="1"/>
          <p:nvPr/>
        </p:nvSpPr>
        <p:spPr>
          <a:xfrm>
            <a:off x="399936" y="1475425"/>
            <a:ext cx="9001125" cy="1177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우주 데이터센터 → 우주 공간에서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인공위성처럼 지구 궤도를 돌며 작동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하는 데이터센터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세계 데이터센터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전력 소비는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’24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년 약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415 TWh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→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’30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년 약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945 TWh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로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두 배 이상 확대 전망이나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지상 인프라 확장은 감소 추세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우주의 영하의 기온으로 자연 냉각 활용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추가적으로 태양광을 통해 무제한 재생에너지 이용 가능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‘</a:t>
            </a:r>
            <a:r>
              <a:rPr lang="ko-KR" altLang="en-US" sz="1200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스타클라우드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’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→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엔비디아와의 협업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을 통해 오는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11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월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Starcloud-1(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우주 최초의 데이터센터급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GPU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탑재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)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발사 예정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7117A37-3D86-5D45-895D-4D5527EB9DDA}"/>
              </a:ext>
            </a:extLst>
          </p:cNvPr>
          <p:cNvSpPr txBox="1"/>
          <p:nvPr/>
        </p:nvSpPr>
        <p:spPr>
          <a:xfrm>
            <a:off x="742517" y="704892"/>
            <a:ext cx="56706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III. Check Point</a:t>
            </a:r>
            <a:endParaRPr lang="ko-KR" altLang="ko-KR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endParaRPr lang="en-US" altLang="ko-KR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6D66FCE-D76F-67BE-F4B8-8FD91D6D81B5}"/>
              </a:ext>
            </a:extLst>
          </p:cNvPr>
          <p:cNvSpPr/>
          <p:nvPr/>
        </p:nvSpPr>
        <p:spPr>
          <a:xfrm>
            <a:off x="504393" y="743368"/>
            <a:ext cx="238125" cy="238125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03864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6E1D303-1AC0-3282-A5BF-60553BFE68E6}"/>
              </a:ext>
            </a:extLst>
          </p:cNvPr>
          <p:cNvSpPr txBox="1"/>
          <p:nvPr/>
        </p:nvSpPr>
        <p:spPr>
          <a:xfrm>
            <a:off x="504392" y="1161148"/>
            <a:ext cx="90011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우주 데이터센터</a:t>
            </a:r>
            <a:endParaRPr lang="en-US" altLang="ko-KR" sz="1500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53F711-865F-9BC3-12BE-6A455E0946F4}"/>
              </a:ext>
            </a:extLst>
          </p:cNvPr>
          <p:cNvSpPr txBox="1"/>
          <p:nvPr/>
        </p:nvSpPr>
        <p:spPr>
          <a:xfrm>
            <a:off x="5085806" y="6316220"/>
            <a:ext cx="43129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Source: </a:t>
            </a:r>
            <a:r>
              <a:rPr lang="ko-KR" altLang="en-US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언론종합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 RFS</a:t>
            </a:r>
            <a:r>
              <a:rPr lang="ko-KR" altLang="en-US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Team 2                                                                                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E4D5D3-468A-02DF-D60F-8E1E793DFC75}"/>
              </a:ext>
            </a:extLst>
          </p:cNvPr>
          <p:cNvSpPr txBox="1"/>
          <p:nvPr/>
        </p:nvSpPr>
        <p:spPr>
          <a:xfrm>
            <a:off x="407032" y="6316220"/>
            <a:ext cx="43129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Source: PEW RESEARCH CENTER, RFS Team 2                                                 </a:t>
            </a:r>
            <a:r>
              <a:rPr lang="ko-KR" altLang="en-US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단위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TWh                                                             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3C708A-E68E-638E-8747-8FC47442A887}"/>
              </a:ext>
            </a:extLst>
          </p:cNvPr>
          <p:cNvSpPr txBox="1"/>
          <p:nvPr/>
        </p:nvSpPr>
        <p:spPr>
          <a:xfrm>
            <a:off x="2345708" y="3634332"/>
            <a:ext cx="2094212" cy="1200329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graphicFrame>
        <p:nvGraphicFramePr>
          <p:cNvPr id="14" name="차트 13">
            <a:extLst>
              <a:ext uri="{FF2B5EF4-FFF2-40B4-BE49-F238E27FC236}">
                <a16:creationId xmlns:a16="http://schemas.microsoft.com/office/drawing/2014/main" id="{B2029176-8E12-F6B1-ABBA-E46E4BFC41BD}"/>
              </a:ext>
            </a:extLst>
          </p:cNvPr>
          <p:cNvGraphicFramePr/>
          <p:nvPr/>
        </p:nvGraphicFramePr>
        <p:xfrm>
          <a:off x="399936" y="3223669"/>
          <a:ext cx="4312902" cy="30925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Text Box 54">
            <a:extLst>
              <a:ext uri="{FF2B5EF4-FFF2-40B4-BE49-F238E27FC236}">
                <a16:creationId xmlns:a16="http://schemas.microsoft.com/office/drawing/2014/main" id="{4E1E7FE7-1EAA-8C89-1530-34717FFF5900}"/>
              </a:ext>
            </a:extLst>
          </p:cNvPr>
          <p:cNvSpPr txBox="1"/>
          <p:nvPr/>
        </p:nvSpPr>
        <p:spPr>
          <a:xfrm>
            <a:off x="3284789" y="4435565"/>
            <a:ext cx="861060" cy="266065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 latinLnBrk="1">
              <a:lnSpc>
                <a:spcPct val="80000"/>
              </a:lnSpc>
              <a:spcAft>
                <a:spcPts val="800"/>
              </a:spcAft>
              <a:buNone/>
            </a:pPr>
            <a:r>
              <a:rPr lang="en-US" sz="1000" kern="100" spc="-60" dirty="0">
                <a:solidFill>
                  <a:srgbClr val="000000"/>
                </a:solidFill>
                <a:effectLst/>
                <a:latin typeface="KoPubWorld돋움체 Bold" panose="00000800000000000000" pitchFamily="2" charset="-127"/>
                <a:ea typeface="KoPubWorld돋움체 Light" panose="00000300000000000000" pitchFamily="2" charset="-127"/>
              </a:rPr>
              <a:t>Projected</a:t>
            </a:r>
            <a:endParaRPr lang="ko-KR" sz="1000" kern="100" spc="-60" dirty="0">
              <a:solidFill>
                <a:srgbClr val="000000"/>
              </a:solidFill>
              <a:effectLst/>
              <a:latin typeface="KoPubWorld돋움체 Light" panose="00000300000000000000" pitchFamily="2" charset="-127"/>
              <a:ea typeface="KoPubWorld돋움체 Light" panose="00000300000000000000" pitchFamily="2" charset="-127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A324F8D7-883C-3A56-0DFA-770C79D65214}"/>
              </a:ext>
            </a:extLst>
          </p:cNvPr>
          <p:cNvGraphicFramePr>
            <a:graphicFrameLocks noGrp="1"/>
          </p:cNvGraphicFramePr>
          <p:nvPr/>
        </p:nvGraphicFramePr>
        <p:xfrm>
          <a:off x="5085806" y="3223667"/>
          <a:ext cx="4312901" cy="3092548"/>
        </p:xfrm>
        <a:graphic>
          <a:graphicData uri="http://schemas.openxmlformats.org/drawingml/2006/table">
            <a:tbl>
              <a:tblPr firstRow="1" firstCol="1" bandRow="1"/>
              <a:tblGrid>
                <a:gridCol w="975579">
                  <a:extLst>
                    <a:ext uri="{9D8B030D-6E8A-4147-A177-3AD203B41FA5}">
                      <a16:colId xmlns:a16="http://schemas.microsoft.com/office/drawing/2014/main" val="1501692733"/>
                    </a:ext>
                  </a:extLst>
                </a:gridCol>
                <a:gridCol w="1669092">
                  <a:extLst>
                    <a:ext uri="{9D8B030D-6E8A-4147-A177-3AD203B41FA5}">
                      <a16:colId xmlns:a16="http://schemas.microsoft.com/office/drawing/2014/main" val="2174486346"/>
                    </a:ext>
                  </a:extLst>
                </a:gridCol>
                <a:gridCol w="1668230">
                  <a:extLst>
                    <a:ext uri="{9D8B030D-6E8A-4147-A177-3AD203B41FA5}">
                      <a16:colId xmlns:a16="http://schemas.microsoft.com/office/drawing/2014/main" val="3576111521"/>
                    </a:ext>
                  </a:extLst>
                </a:gridCol>
              </a:tblGrid>
              <a:tr h="276494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 dirty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구분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지상 데이터센터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>
                          <a:solidFill>
                            <a:srgbClr val="FFFFFF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우주 데이터센터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7776464"/>
                  </a:ext>
                </a:extLst>
              </a:tr>
              <a:tr h="276494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전력 공급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전력망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태양광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9353131"/>
                  </a:ext>
                </a:extLst>
              </a:tr>
              <a:tr h="846520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냉각 방식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 dirty="0" err="1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수냉</a:t>
                      </a: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/</a:t>
                      </a:r>
                      <a:r>
                        <a:rPr lang="ko-KR" sz="10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기체냉각 필요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대규모 물 사용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KoPubWorld돋움체 Medium" panose="00000600000000000000" pitchFamily="2" charset="-127"/>
                          <a:ea typeface="KoPubWorld돋움체 Light" panose="00000300000000000000" pitchFamily="2" charset="-127"/>
                        </a:rPr>
                        <a:t>–270℃ </a:t>
                      </a:r>
                      <a:r>
                        <a:rPr lang="ko-KR" sz="1000" kern="0" spc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우주복사 배경 활용</a:t>
                      </a:r>
                      <a:endParaRPr lang="ko-KR" sz="1000" kern="100" spc="-6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2063669"/>
                  </a:ext>
                </a:extLst>
              </a:tr>
              <a:tr h="846520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공간 제약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부지 확보 어려움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입지 규제 및 </a:t>
                      </a:r>
                      <a:r>
                        <a:rPr lang="ko-KR" sz="1000" kern="0" spc="0" dirty="0" err="1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송전망</a:t>
                      </a:r>
                      <a:r>
                        <a:rPr lang="ko-KR" sz="10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 한계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부지 제약 없음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6520748"/>
                  </a:ext>
                </a:extLst>
              </a:tr>
              <a:tr h="846520"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Bold" panose="00000800000000000000" pitchFamily="2" charset="-127"/>
                        </a:rPr>
                        <a:t>환경 영향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전력 소모 증가</a:t>
                      </a: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, </a:t>
                      </a:r>
                      <a:r>
                        <a:rPr lang="ko-KR" sz="10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탄소배출 이슈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물 사용량 증가</a:t>
                      </a: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(</a:t>
                      </a:r>
                      <a:r>
                        <a:rPr lang="ko-KR" sz="1000" kern="0" spc="0" dirty="0" err="1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수냉</a:t>
                      </a:r>
                      <a:r>
                        <a:rPr lang="en-US" sz="10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)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지상 환경영향 최소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  <a:p>
                      <a:pPr algn="ctr" latinLnBrk="1">
                        <a:lnSpc>
                          <a:spcPct val="8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ko-KR" sz="1000" kern="0" spc="0" dirty="0">
                          <a:solidFill>
                            <a:srgbClr val="000000"/>
                          </a:solidFill>
                          <a:effectLst/>
                          <a:latin typeface="KoPubWorld돋움체 Light" panose="00000300000000000000" pitchFamily="2" charset="-127"/>
                          <a:ea typeface="KoPubWorld돋움체 Medium" panose="00000600000000000000" pitchFamily="2" charset="-127"/>
                        </a:rPr>
                        <a:t>우주 잔해 관리 필요</a:t>
                      </a:r>
                      <a:endParaRPr lang="ko-KR" sz="1000" kern="100" spc="-60" dirty="0">
                        <a:solidFill>
                          <a:srgbClr val="000000"/>
                        </a:solidFill>
                        <a:effectLst/>
                        <a:latin typeface="KoPubWorld돋움체 Light" panose="00000300000000000000" pitchFamily="2" charset="-127"/>
                        <a:ea typeface="KoPubWorld돋움체 Light" panose="00000300000000000000" pitchFamily="2" charset="-127"/>
                      </a:endParaRPr>
                    </a:p>
                  </a:txBody>
                  <a:tcPr marL="62865" marR="6286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03469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84686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CF322-7C35-C9A4-C04C-77A9FF3D4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12728DE3-3928-07E3-F191-80DBC4FCAAAB}"/>
              </a:ext>
            </a:extLst>
          </p:cNvPr>
          <p:cNvGrpSpPr/>
          <p:nvPr/>
        </p:nvGrpSpPr>
        <p:grpSpPr>
          <a:xfrm>
            <a:off x="5298801" y="2834840"/>
            <a:ext cx="4607199" cy="4023160"/>
            <a:chOff x="7588612" y="2834840"/>
            <a:chExt cx="4607198" cy="402316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9AD4AB09-120A-BD72-2D79-D19AE974BAB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5116" b="19268"/>
            <a:stretch/>
          </p:blipFill>
          <p:spPr>
            <a:xfrm>
              <a:off x="7588612" y="2834840"/>
              <a:ext cx="4607198" cy="402316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8E09A88B-BC85-873D-9C00-FD83622277F7}"/>
                </a:ext>
              </a:extLst>
            </p:cNvPr>
            <p:cNvSpPr/>
            <p:nvPr/>
          </p:nvSpPr>
          <p:spPr>
            <a:xfrm>
              <a:off x="8332470" y="3154680"/>
              <a:ext cx="3859530" cy="3703320"/>
            </a:xfrm>
            <a:prstGeom prst="rect">
              <a:avLst/>
            </a:prstGeom>
            <a:solidFill>
              <a:schemeClr val="bg1"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6" name="직각 삼각형 5">
            <a:extLst>
              <a:ext uri="{FF2B5EF4-FFF2-40B4-BE49-F238E27FC236}">
                <a16:creationId xmlns:a16="http://schemas.microsoft.com/office/drawing/2014/main" id="{494C59F1-A07A-BDB5-0539-0B5AC1271309}"/>
              </a:ext>
            </a:extLst>
          </p:cNvPr>
          <p:cNvSpPr/>
          <p:nvPr/>
        </p:nvSpPr>
        <p:spPr>
          <a:xfrm rot="5400000">
            <a:off x="4163963" y="-4164315"/>
            <a:ext cx="1578078" cy="9906000"/>
          </a:xfrm>
          <a:prstGeom prst="rtTriangl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각 삼각형 6">
            <a:extLst>
              <a:ext uri="{FF2B5EF4-FFF2-40B4-BE49-F238E27FC236}">
                <a16:creationId xmlns:a16="http://schemas.microsoft.com/office/drawing/2014/main" id="{190EC91F-8243-85EC-C1AF-20083B488C8B}"/>
              </a:ext>
            </a:extLst>
          </p:cNvPr>
          <p:cNvSpPr/>
          <p:nvPr/>
        </p:nvSpPr>
        <p:spPr>
          <a:xfrm rot="5400000">
            <a:off x="-2862037" y="2862037"/>
            <a:ext cx="6858002" cy="1133927"/>
          </a:xfrm>
          <a:prstGeom prst="rtTriangle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DC7885-3AA9-3E62-BE26-662E97A30E0D}"/>
              </a:ext>
            </a:extLst>
          </p:cNvPr>
          <p:cNvSpPr txBox="1"/>
          <p:nvPr/>
        </p:nvSpPr>
        <p:spPr>
          <a:xfrm>
            <a:off x="921527" y="1898687"/>
            <a:ext cx="9517099" cy="510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80000"/>
              </a:lnSpc>
              <a:spcAft>
                <a:spcPts val="800"/>
              </a:spcAft>
              <a:tabLst>
                <a:tab pos="1371566" algn="l"/>
              </a:tabLst>
            </a:pPr>
            <a:r>
              <a:rPr lang="en-US" altLang="ko-KR" sz="3200" b="1" kern="100" spc="-60" dirty="0">
                <a:solidFill>
                  <a:srgbClr val="00206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Top pick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0E203E-EB14-4782-C8B2-23E081303B1D}"/>
              </a:ext>
            </a:extLst>
          </p:cNvPr>
          <p:cNvSpPr txBox="1"/>
          <p:nvPr/>
        </p:nvSpPr>
        <p:spPr>
          <a:xfrm>
            <a:off x="921527" y="3024493"/>
            <a:ext cx="6615427" cy="1304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1. </a:t>
            </a:r>
            <a:r>
              <a:rPr lang="ko-KR" altLang="en-US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쎄트렉아이</a:t>
            </a: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(099320.KQ)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2. </a:t>
            </a:r>
            <a:r>
              <a:rPr lang="ko-KR" altLang="en-US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플래닛</a:t>
            </a:r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랩스</a:t>
            </a: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(PL.US)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3. </a:t>
            </a:r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스페이스 </a:t>
            </a: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X(Private Stock)</a:t>
            </a:r>
          </a:p>
        </p:txBody>
      </p:sp>
    </p:spTree>
    <p:extLst>
      <p:ext uri="{BB962C8B-B14F-4D97-AF65-F5344CB8AC3E}">
        <p14:creationId xmlns:p14="http://schemas.microsoft.com/office/powerpoint/2010/main" val="41096776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83AD4-752C-B049-B557-CFF5AB5CD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9D2D10B-6F4E-DA4C-0032-532CDB99C03D}"/>
              </a:ext>
            </a:extLst>
          </p:cNvPr>
          <p:cNvSpPr/>
          <p:nvPr/>
        </p:nvSpPr>
        <p:spPr>
          <a:xfrm>
            <a:off x="0" y="6596586"/>
            <a:ext cx="9906000" cy="276999"/>
          </a:xfrm>
          <a:prstGeom prst="rect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BF390F2-2160-C671-C184-7C3EF26CD8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4733" y="22864"/>
            <a:ext cx="1358264" cy="512493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E2D13EED-0800-E7DC-9859-34563D5D5EE2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 flipV="1">
            <a:off x="2052204" y="279111"/>
            <a:ext cx="6362529" cy="20009"/>
          </a:xfrm>
          <a:prstGeom prst="line">
            <a:avLst/>
          </a:prstGeom>
          <a:ln>
            <a:solidFill>
              <a:srgbClr val="1B28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95C6DB5-429B-77B7-4B67-2162DBFFEEF3}"/>
              </a:ext>
            </a:extLst>
          </p:cNvPr>
          <p:cNvSpPr txBox="1"/>
          <p:nvPr/>
        </p:nvSpPr>
        <p:spPr>
          <a:xfrm>
            <a:off x="191088" y="160620"/>
            <a:ext cx="18611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년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학기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 세미나</a:t>
            </a:r>
            <a:endParaRPr lang="ko-KR" altLang="en-US" sz="1200" dirty="0">
              <a:solidFill>
                <a:srgbClr val="1B2853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8AB9A35-1E64-4048-BFF2-A5FF1E66EEFE}"/>
              </a:ext>
            </a:extLst>
          </p:cNvPr>
          <p:cNvSpPr/>
          <p:nvPr/>
        </p:nvSpPr>
        <p:spPr>
          <a:xfrm>
            <a:off x="5078709" y="2776872"/>
            <a:ext cx="4320000" cy="34925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매출 및 수주잔고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D16217-675A-E345-2E7D-5F734BB58665}"/>
              </a:ext>
            </a:extLst>
          </p:cNvPr>
          <p:cNvSpPr txBox="1"/>
          <p:nvPr/>
        </p:nvSpPr>
        <p:spPr>
          <a:xfrm>
            <a:off x="399936" y="1475425"/>
            <a:ext cx="9001125" cy="1177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3Q25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매출액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504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억 원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(YoY + 15%)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영업이익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25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억 원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(YoY +213%)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4Q25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이후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스페이스아이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-T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영상 판매 계약 매출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반영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자회사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SIIS,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SIA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를 통해 영상 판매와 데이터 분석 사업 구성 → 위성 본체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탑재체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지상국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기술 보유한 국내 유일 턴키 솔루션 보유 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정부 주도 초소형 군집위성 개발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+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군 정찰위성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425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프로젝트에서 턴키 솔루션 보유한 동사의 수혜 전망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목표주가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70,000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원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상승여력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26%,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투자의견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BUY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제시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A48E2B-B180-E6D0-72E2-94A230593CCE}"/>
              </a:ext>
            </a:extLst>
          </p:cNvPr>
          <p:cNvSpPr txBox="1"/>
          <p:nvPr/>
        </p:nvSpPr>
        <p:spPr>
          <a:xfrm>
            <a:off x="742517" y="704892"/>
            <a:ext cx="56706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쎄트렉아이</a:t>
            </a:r>
            <a:endParaRPr lang="ko-KR" altLang="ko-KR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endParaRPr lang="en-US" altLang="ko-KR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C7C27CB-B8B0-0FD2-6D81-FC5CA6F587CA}"/>
              </a:ext>
            </a:extLst>
          </p:cNvPr>
          <p:cNvSpPr/>
          <p:nvPr/>
        </p:nvSpPr>
        <p:spPr>
          <a:xfrm>
            <a:off x="504393" y="743368"/>
            <a:ext cx="238125" cy="238125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03864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4FA4B90-3B9C-726C-9635-283A6854B184}"/>
              </a:ext>
            </a:extLst>
          </p:cNvPr>
          <p:cNvSpPr txBox="1"/>
          <p:nvPr/>
        </p:nvSpPr>
        <p:spPr>
          <a:xfrm>
            <a:off x="504392" y="1161148"/>
            <a:ext cx="90011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위성으로 찍고 뜯고 맛보고 즐기는 우주</a:t>
            </a:r>
            <a:endParaRPr lang="en-US" altLang="ko-KR" sz="1500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0FE0E2-7D9B-8C43-6400-DBD228F396F5}"/>
              </a:ext>
            </a:extLst>
          </p:cNvPr>
          <p:cNvSpPr txBox="1"/>
          <p:nvPr/>
        </p:nvSpPr>
        <p:spPr>
          <a:xfrm>
            <a:off x="5085806" y="6316220"/>
            <a:ext cx="43129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Source: </a:t>
            </a:r>
            <a:r>
              <a:rPr lang="ko-KR" altLang="en-US" sz="800" dirty="0" err="1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쎄트렉아이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,</a:t>
            </a:r>
            <a:r>
              <a:rPr lang="ko-KR" altLang="en-US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RFS</a:t>
            </a:r>
            <a:r>
              <a:rPr lang="ko-KR" altLang="en-US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Team 2                                                                       </a:t>
            </a:r>
            <a:r>
              <a:rPr lang="ko-KR" altLang="en-US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단위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</a:t>
            </a:r>
            <a:r>
              <a:rPr lang="ko-KR" altLang="en-US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십억 원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                                                                           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95EAAD-0641-732D-D61D-D905797667C8}"/>
              </a:ext>
            </a:extLst>
          </p:cNvPr>
          <p:cNvSpPr txBox="1"/>
          <p:nvPr/>
        </p:nvSpPr>
        <p:spPr>
          <a:xfrm>
            <a:off x="407032" y="6316220"/>
            <a:ext cx="43129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Source: RFS Team 2                                                                                               </a:t>
            </a:r>
            <a:r>
              <a:rPr lang="ko-KR" altLang="en-US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단위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</a:t>
            </a:r>
            <a:r>
              <a:rPr lang="ko-KR" altLang="en-US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원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                                            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F8C2C44-CCBA-CC9C-BA18-C9D2565D3782}"/>
              </a:ext>
            </a:extLst>
          </p:cNvPr>
          <p:cNvSpPr/>
          <p:nvPr/>
        </p:nvSpPr>
        <p:spPr>
          <a:xfrm>
            <a:off x="504392" y="2776872"/>
            <a:ext cx="4320000" cy="34925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주가 추이</a:t>
            </a:r>
          </a:p>
        </p:txBody>
      </p:sp>
      <p:graphicFrame>
        <p:nvGraphicFramePr>
          <p:cNvPr id="12" name="차트 11">
            <a:extLst>
              <a:ext uri="{FF2B5EF4-FFF2-40B4-BE49-F238E27FC236}">
                <a16:creationId xmlns:a16="http://schemas.microsoft.com/office/drawing/2014/main" id="{A5791E3E-77F8-0F71-DB26-228B7804D6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11157043"/>
              </p:ext>
            </p:extLst>
          </p:nvPr>
        </p:nvGraphicFramePr>
        <p:xfrm>
          <a:off x="502513" y="3278919"/>
          <a:ext cx="4433844" cy="30373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차트 12">
            <a:extLst>
              <a:ext uri="{FF2B5EF4-FFF2-40B4-BE49-F238E27FC236}">
                <a16:creationId xmlns:a16="http://schemas.microsoft.com/office/drawing/2014/main" id="{9E9B54BC-C198-6334-BBAA-CF86F4A67A2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2712877"/>
              </p:ext>
            </p:extLst>
          </p:nvPr>
        </p:nvGraphicFramePr>
        <p:xfrm>
          <a:off x="5083488" y="3278918"/>
          <a:ext cx="4320000" cy="30373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1943732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32352-712D-B6AE-A92E-74DAFF56C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A4D2701-E504-F3EA-EFB3-F39F215F7DF9}"/>
              </a:ext>
            </a:extLst>
          </p:cNvPr>
          <p:cNvSpPr/>
          <p:nvPr/>
        </p:nvSpPr>
        <p:spPr>
          <a:xfrm>
            <a:off x="0" y="6596586"/>
            <a:ext cx="9906000" cy="276999"/>
          </a:xfrm>
          <a:prstGeom prst="rect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24766C4-35AE-930C-E0B9-8B211905370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4733" y="22864"/>
            <a:ext cx="1358264" cy="512493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7136B80-1F94-E187-7AAB-E76711A6E818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 flipV="1">
            <a:off x="2052204" y="279111"/>
            <a:ext cx="6362529" cy="20009"/>
          </a:xfrm>
          <a:prstGeom prst="line">
            <a:avLst/>
          </a:prstGeom>
          <a:ln>
            <a:solidFill>
              <a:srgbClr val="1B28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90903A0-391B-DE9B-0D2E-D81FE144CAAF}"/>
              </a:ext>
            </a:extLst>
          </p:cNvPr>
          <p:cNvSpPr txBox="1"/>
          <p:nvPr/>
        </p:nvSpPr>
        <p:spPr>
          <a:xfrm>
            <a:off x="191088" y="160620"/>
            <a:ext cx="18611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년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학기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 세미나</a:t>
            </a:r>
            <a:endParaRPr lang="ko-KR" altLang="en-US" sz="1200" dirty="0">
              <a:solidFill>
                <a:srgbClr val="1B2853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E9F826B-B6C0-BEBE-3429-085EF0D4A903}"/>
              </a:ext>
            </a:extLst>
          </p:cNvPr>
          <p:cNvSpPr/>
          <p:nvPr/>
        </p:nvSpPr>
        <p:spPr>
          <a:xfrm>
            <a:off x="504391" y="2791169"/>
            <a:ext cx="4320000" cy="34925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주가 추이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65F9A7-A04F-91DC-2053-B6D934610D01}"/>
              </a:ext>
            </a:extLst>
          </p:cNvPr>
          <p:cNvSpPr txBox="1"/>
          <p:nvPr/>
        </p:nvSpPr>
        <p:spPr>
          <a:xfrm>
            <a:off x="399936" y="1475425"/>
            <a:ext cx="9001125" cy="1177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2Q26(US FY)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매출액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7,340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만 달러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(YoY +20%)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→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시장 예상치 및 회사 </a:t>
            </a:r>
            <a:r>
              <a:rPr lang="ko-KR" altLang="en-US" sz="12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가이던스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모두 상회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정부 부문 매출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(YoY +41%)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이 핵심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글로벌 안보위협으로 인한 국방 정찰 위성 수요 증가 기조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→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7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월 말 수주잔고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163%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증가</a:t>
            </a:r>
            <a:endParaRPr lang="en-US" altLang="ko-KR" sz="1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위성 </a:t>
            </a:r>
            <a:r>
              <a:rPr lang="ko-KR" altLang="en-US" sz="12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직판매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가격에 비해 저렴한 임대 수익 모델 구축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→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민간 고객층까지 타겟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AI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분석기업 </a:t>
            </a:r>
            <a:r>
              <a:rPr lang="ko-KR" altLang="en-US" sz="1200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앤트로픽</a:t>
            </a:r>
            <a:r>
              <a:rPr lang="ko-KR" altLang="en-US" sz="12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과의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협업을 통한 시너지 기대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99C0EC5-875D-D167-5783-2D68DA38B229}"/>
              </a:ext>
            </a:extLst>
          </p:cNvPr>
          <p:cNvSpPr txBox="1"/>
          <p:nvPr/>
        </p:nvSpPr>
        <p:spPr>
          <a:xfrm>
            <a:off x="742517" y="704892"/>
            <a:ext cx="56706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플래닛</a:t>
            </a:r>
            <a:r>
              <a:rPr lang="ko-KR" altLang="en-US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ko-KR" altLang="en-US" dirty="0" err="1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랩스</a:t>
            </a:r>
            <a:endParaRPr lang="ko-KR" altLang="ko-KR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endParaRPr lang="en-US" altLang="ko-KR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16D65F9-D59B-9B1A-0838-A51735408649}"/>
              </a:ext>
            </a:extLst>
          </p:cNvPr>
          <p:cNvSpPr/>
          <p:nvPr/>
        </p:nvSpPr>
        <p:spPr>
          <a:xfrm>
            <a:off x="504393" y="743368"/>
            <a:ext cx="238125" cy="238125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03864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B1FCEA5-071A-750A-2CFE-BC57A6027862}"/>
              </a:ext>
            </a:extLst>
          </p:cNvPr>
          <p:cNvSpPr txBox="1"/>
          <p:nvPr/>
        </p:nvSpPr>
        <p:spPr>
          <a:xfrm>
            <a:off x="504392" y="1161148"/>
            <a:ext cx="90011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오늘은 </a:t>
            </a:r>
            <a:r>
              <a:rPr lang="ko-KR" altLang="en-US" sz="1500" dirty="0" err="1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어딜</a:t>
            </a:r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찍어볼까</a:t>
            </a:r>
            <a:r>
              <a:rPr lang="en-US" altLang="ko-KR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1171A1-30C4-2BA6-94C6-ABBF7147F950}"/>
              </a:ext>
            </a:extLst>
          </p:cNvPr>
          <p:cNvSpPr txBox="1"/>
          <p:nvPr/>
        </p:nvSpPr>
        <p:spPr>
          <a:xfrm>
            <a:off x="5085806" y="6316220"/>
            <a:ext cx="43129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Source: Planet Labs, RFS</a:t>
            </a:r>
            <a:r>
              <a:rPr lang="ko-KR" altLang="en-US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Team 2                                                                      </a:t>
            </a:r>
            <a:r>
              <a:rPr lang="ko-KR" altLang="en-US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단위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Mn $                                                                                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40DE53-AE2A-B6F4-E367-4C957C3FC6BE}"/>
              </a:ext>
            </a:extLst>
          </p:cNvPr>
          <p:cNvSpPr txBox="1"/>
          <p:nvPr/>
        </p:nvSpPr>
        <p:spPr>
          <a:xfrm>
            <a:off x="407032" y="6316220"/>
            <a:ext cx="43129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Source: RFS Team 2                                                                                          </a:t>
            </a:r>
            <a:r>
              <a:rPr lang="ko-KR" altLang="en-US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단위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$                                                                              </a:t>
            </a:r>
          </a:p>
        </p:txBody>
      </p:sp>
      <p:graphicFrame>
        <p:nvGraphicFramePr>
          <p:cNvPr id="7" name="차트 6">
            <a:extLst>
              <a:ext uri="{FF2B5EF4-FFF2-40B4-BE49-F238E27FC236}">
                <a16:creationId xmlns:a16="http://schemas.microsoft.com/office/drawing/2014/main" id="{7F524E68-98BC-16F6-AC60-28FF4873F452}"/>
              </a:ext>
            </a:extLst>
          </p:cNvPr>
          <p:cNvGraphicFramePr/>
          <p:nvPr/>
        </p:nvGraphicFramePr>
        <p:xfrm>
          <a:off x="407032" y="3278919"/>
          <a:ext cx="4412614" cy="30373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9DF032B1-756F-C917-0EB5-FAF3BAEA8170}"/>
              </a:ext>
            </a:extLst>
          </p:cNvPr>
          <p:cNvSpPr/>
          <p:nvPr/>
        </p:nvSpPr>
        <p:spPr>
          <a:xfrm>
            <a:off x="5085807" y="2786403"/>
            <a:ext cx="4320000" cy="34925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매출 및 수주잔고</a:t>
            </a:r>
          </a:p>
        </p:txBody>
      </p:sp>
      <p:graphicFrame>
        <p:nvGraphicFramePr>
          <p:cNvPr id="9" name="차트 8">
            <a:extLst>
              <a:ext uri="{FF2B5EF4-FFF2-40B4-BE49-F238E27FC236}">
                <a16:creationId xmlns:a16="http://schemas.microsoft.com/office/drawing/2014/main" id="{4B96FBE9-0787-FE76-A84C-88C0EA6D984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58703417"/>
              </p:ext>
            </p:extLst>
          </p:nvPr>
        </p:nvGraphicFramePr>
        <p:xfrm>
          <a:off x="5085806" y="3278918"/>
          <a:ext cx="4312902" cy="30373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5978925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F0E11-383D-0E97-137B-09FD63EEE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0C42C31-7F4E-3E91-EAA6-23FAA1F61F27}"/>
              </a:ext>
            </a:extLst>
          </p:cNvPr>
          <p:cNvSpPr/>
          <p:nvPr/>
        </p:nvSpPr>
        <p:spPr>
          <a:xfrm>
            <a:off x="0" y="6596586"/>
            <a:ext cx="9906000" cy="276999"/>
          </a:xfrm>
          <a:prstGeom prst="rect">
            <a:avLst/>
          </a:prstGeom>
          <a:solidFill>
            <a:srgbClr val="1B2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5045B50-5DDD-47F5-A8E0-C0FDEBD7F9D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4733" y="22864"/>
            <a:ext cx="1358264" cy="512493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064160F-649A-37FF-27DC-C516B7A2172E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 flipV="1">
            <a:off x="2052204" y="279111"/>
            <a:ext cx="6362529" cy="20009"/>
          </a:xfrm>
          <a:prstGeom prst="line">
            <a:avLst/>
          </a:prstGeom>
          <a:ln>
            <a:solidFill>
              <a:srgbClr val="1B28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94306C5-1479-C169-8EEA-C77422CBBAE2}"/>
              </a:ext>
            </a:extLst>
          </p:cNvPr>
          <p:cNvSpPr txBox="1"/>
          <p:nvPr/>
        </p:nvSpPr>
        <p:spPr>
          <a:xfrm>
            <a:off x="191088" y="160620"/>
            <a:ext cx="18611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년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학기 </a:t>
            </a:r>
            <a:r>
              <a:rPr lang="en-US" altLang="ko-KR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</a:t>
            </a:r>
            <a:r>
              <a:rPr lang="ko-KR" altLang="en-US" sz="1200">
                <a:solidFill>
                  <a:srgbClr val="1B2853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차 세미나</a:t>
            </a:r>
            <a:endParaRPr lang="ko-KR" altLang="en-US" sz="1200" dirty="0">
              <a:solidFill>
                <a:srgbClr val="1B2853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518454F-A822-B882-4763-CD56347D2256}"/>
              </a:ext>
            </a:extLst>
          </p:cNvPr>
          <p:cNvSpPr/>
          <p:nvPr/>
        </p:nvSpPr>
        <p:spPr>
          <a:xfrm>
            <a:off x="500194" y="2791169"/>
            <a:ext cx="3502846" cy="34925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추정 매출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AF1A339-7031-FBA3-5086-F95222309425}"/>
              </a:ext>
            </a:extLst>
          </p:cNvPr>
          <p:cNvSpPr/>
          <p:nvPr/>
        </p:nvSpPr>
        <p:spPr>
          <a:xfrm>
            <a:off x="4358640" y="2791169"/>
            <a:ext cx="5047166" cy="349251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스페이스</a:t>
            </a:r>
            <a:r>
              <a:rPr lang="en-US" altLang="ko-KR" sz="1500" dirty="0">
                <a:solidFill>
                  <a:schemeClr val="bg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X</a:t>
            </a:r>
            <a:endParaRPr lang="ko-KR" altLang="en-US" sz="1500" dirty="0">
              <a:solidFill>
                <a:schemeClr val="bg1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AFD94A-C004-912D-8794-02F8D6CEF3C0}"/>
              </a:ext>
            </a:extLst>
          </p:cNvPr>
          <p:cNvSpPr txBox="1"/>
          <p:nvPr/>
        </p:nvSpPr>
        <p:spPr>
          <a:xfrm>
            <a:off x="399936" y="1475425"/>
            <a:ext cx="9001125" cy="1177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스타링크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발사 서비스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정부 계약 등 다각화된 사업 포트폴리오 구축 → </a:t>
            </a:r>
            <a:r>
              <a:rPr lang="ko-KR" altLang="en-US" sz="1200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머스크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: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’25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년 매출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155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억 전망</a:t>
            </a:r>
            <a:endParaRPr lang="en-US" altLang="ko-KR" sz="1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인도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주요 통신사 </a:t>
            </a:r>
            <a:r>
              <a:rPr lang="ko-KR" altLang="en-US" sz="1200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에어텔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, </a:t>
            </a:r>
            <a:r>
              <a:rPr lang="ko-KR" altLang="en-US" sz="1200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지오</a:t>
            </a:r>
            <a:r>
              <a:rPr lang="ko-KR" altLang="en-US" sz="12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와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파트너십 → 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9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월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글로벌 가입자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710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만 명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돌파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전월 대비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100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만 명 증가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) </a:t>
            </a: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’24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년 발사체 총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134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회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발사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향후 재사용 발사체 기술과 이로 인한 비용 절감 효과를 보유한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스타십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이 주력 발사체가 될 예정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71446" indent="-171446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머스크</a:t>
            </a:r>
            <a:r>
              <a:rPr lang="en-US" altLang="ko-KR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 ’25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년 테슬라 주총에서 당사의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상장을 고려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한다 밝힘 → 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주주의 </a:t>
            </a:r>
            <a:r>
              <a:rPr lang="en-US" altLang="ko-KR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IPO</a:t>
            </a:r>
            <a:r>
              <a:rPr lang="ko-KR" altLang="en-US" sz="12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참여 독려 </a:t>
            </a:r>
            <a:r>
              <a:rPr lang="ko-KR" altLang="en-US" sz="12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목적</a:t>
            </a:r>
            <a:endParaRPr lang="en-US" altLang="ko-KR" sz="12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97D23AF-7E1B-BF9C-1372-33BFA6D7C289}"/>
              </a:ext>
            </a:extLst>
          </p:cNvPr>
          <p:cNvSpPr txBox="1"/>
          <p:nvPr/>
        </p:nvSpPr>
        <p:spPr>
          <a:xfrm>
            <a:off x="742517" y="704892"/>
            <a:ext cx="56706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스페이스</a:t>
            </a:r>
            <a:r>
              <a:rPr lang="en-US" altLang="ko-KR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X</a:t>
            </a:r>
            <a:endParaRPr lang="ko-KR" altLang="ko-KR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endParaRPr lang="en-US" altLang="ko-KR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60A9CDF-D574-607D-F935-14F3F18F9CEC}"/>
              </a:ext>
            </a:extLst>
          </p:cNvPr>
          <p:cNvSpPr/>
          <p:nvPr/>
        </p:nvSpPr>
        <p:spPr>
          <a:xfrm>
            <a:off x="504393" y="743368"/>
            <a:ext cx="238125" cy="238125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203864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48A9C27-25F7-0995-6F6C-E4763268D633}"/>
              </a:ext>
            </a:extLst>
          </p:cNvPr>
          <p:cNvSpPr txBox="1"/>
          <p:nvPr/>
        </p:nvSpPr>
        <p:spPr>
          <a:xfrm>
            <a:off x="504392" y="1161148"/>
            <a:ext cx="90011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화성 </a:t>
            </a:r>
            <a:r>
              <a:rPr lang="ko-KR" altLang="en-US" sz="1500" dirty="0" err="1">
                <a:solidFill>
                  <a:srgbClr val="203864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갈끄니까</a:t>
            </a:r>
            <a:endParaRPr lang="en-US" altLang="ko-KR" sz="1500" dirty="0">
              <a:solidFill>
                <a:srgbClr val="203864"/>
              </a:solidFill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849E8E-7A1D-716F-68A9-8502904EE212}"/>
              </a:ext>
            </a:extLst>
          </p:cNvPr>
          <p:cNvSpPr txBox="1"/>
          <p:nvPr/>
        </p:nvSpPr>
        <p:spPr>
          <a:xfrm>
            <a:off x="4358640" y="6316220"/>
            <a:ext cx="5040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Source: Space X , RFS</a:t>
            </a:r>
            <a:r>
              <a:rPr lang="ko-KR" altLang="en-US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Team 2                                                                                 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62C179-02A4-B859-A472-EBF755046ACE}"/>
              </a:ext>
            </a:extLst>
          </p:cNvPr>
          <p:cNvSpPr txBox="1"/>
          <p:nvPr/>
        </p:nvSpPr>
        <p:spPr>
          <a:xfrm>
            <a:off x="407033" y="6316220"/>
            <a:ext cx="35960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Source: LSEG, Payload Space, RFS Team 2                                </a:t>
            </a:r>
            <a:r>
              <a:rPr lang="ko-KR" altLang="en-US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단위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: Bn</a:t>
            </a:r>
            <a:r>
              <a:rPr lang="ko-KR" altLang="en-US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 </a:t>
            </a:r>
            <a:r>
              <a:rPr lang="en-US" altLang="ko-KR" sz="800" dirty="0">
                <a:latin typeface="KoPubWorld돋움체 Light" panose="00000300000000000000" pitchFamily="2" charset="-127"/>
                <a:ea typeface="KoPubWorld돋움체 Light" panose="00000300000000000000" pitchFamily="2" charset="-127"/>
                <a:cs typeface="KoPubWorld돋움체 Light" panose="00000300000000000000" pitchFamily="2" charset="-127"/>
              </a:rPr>
              <a:t>$                                                                </a:t>
            </a:r>
          </a:p>
        </p:txBody>
      </p:sp>
      <p:pic>
        <p:nvPicPr>
          <p:cNvPr id="14" name="그림 13" descr="구름, 하늘, 야외, 건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EFA98E2-415F-71EF-5EAC-452B867984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640" y="3278920"/>
            <a:ext cx="5047166" cy="3037300"/>
          </a:xfrm>
          <a:prstGeom prst="rect">
            <a:avLst/>
          </a:prstGeom>
        </p:spPr>
      </p:pic>
      <p:graphicFrame>
        <p:nvGraphicFramePr>
          <p:cNvPr id="15" name="차트 14">
            <a:extLst>
              <a:ext uri="{FF2B5EF4-FFF2-40B4-BE49-F238E27FC236}">
                <a16:creationId xmlns:a16="http://schemas.microsoft.com/office/drawing/2014/main" id="{4F5E7058-3D87-2574-5F28-CAA91D15F0E0}"/>
              </a:ext>
            </a:extLst>
          </p:cNvPr>
          <p:cNvGraphicFramePr>
            <a:graphicFrameLocks/>
          </p:cNvGraphicFramePr>
          <p:nvPr/>
        </p:nvGraphicFramePr>
        <p:xfrm>
          <a:off x="305182" y="3278919"/>
          <a:ext cx="3697858" cy="3037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09019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맑은 고딕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맑은 고딕" panose="020F0502020204030204"/>
      <a:ea typeface=""/>
      <a:cs typeface=""/>
      <a:font script="Jpan" typeface="游明朝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4993</TotalTime>
  <Words>2962</Words>
  <Application>Microsoft Office PowerPoint</Application>
  <PresentationFormat>A4 용지(210x297mm)</PresentationFormat>
  <Paragraphs>537</Paragraphs>
  <Slides>22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32" baseType="lpstr">
      <vt:lpstr>KoPubWorld돋움체 Bold</vt:lpstr>
      <vt:lpstr>KoPubWorld돋움체 Bold</vt:lpstr>
      <vt:lpstr>KoPubWorld돋움체 Light</vt:lpstr>
      <vt:lpstr>KoPubWorld돋움체 Light</vt:lpstr>
      <vt:lpstr>KoPubWorld돋움체 Medium</vt:lpstr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jung</dc:creator>
  <cp:lastModifiedBy>SMART</cp:lastModifiedBy>
  <cp:revision>471</cp:revision>
  <dcterms:created xsi:type="dcterms:W3CDTF">2017-02-27T14:22:35Z</dcterms:created>
  <dcterms:modified xsi:type="dcterms:W3CDTF">2025-11-10T11:58:44Z</dcterms:modified>
</cp:coreProperties>
</file>