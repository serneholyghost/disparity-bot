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77" r:id="rId2"/>
    <p:sldId id="745" r:id="rId3"/>
    <p:sldId id="744" r:id="rId4"/>
    <p:sldId id="746" r:id="rId5"/>
    <p:sldId id="442" r:id="rId6"/>
    <p:sldId id="434" r:id="rId7"/>
    <p:sldId id="435" r:id="rId8"/>
    <p:sldId id="439" r:id="rId9"/>
    <p:sldId id="747" r:id="rId10"/>
    <p:sldId id="748" r:id="rId11"/>
    <p:sldId id="741" r:id="rId12"/>
    <p:sldId id="743" r:id="rId13"/>
    <p:sldId id="735" r:id="rId14"/>
    <p:sldId id="750" r:id="rId15"/>
    <p:sldId id="742" r:id="rId16"/>
    <p:sldId id="749" r:id="rId1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g" initials="j" lastIdx="1" clrIdx="0">
    <p:extLst>
      <p:ext uri="{19B8F6BF-5375-455C-9EA6-DF929625EA0E}">
        <p15:presenceInfo xmlns:p15="http://schemas.microsoft.com/office/powerpoint/2012/main" userId="ju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CECE"/>
    <a:srgbClr val="203864"/>
    <a:srgbClr val="FF3300"/>
    <a:srgbClr val="2F5597"/>
    <a:srgbClr val="161619"/>
    <a:srgbClr val="FA005F"/>
    <a:srgbClr val="1B2853"/>
    <a:srgbClr val="9600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70" autoAdjust="0"/>
    <p:restoredTop sz="93074" autoAdjust="0"/>
  </p:normalViewPr>
  <p:slideViewPr>
    <p:cSldViewPr snapToGrid="0">
      <p:cViewPr varScale="1">
        <p:scale>
          <a:sx n="82" d="100"/>
          <a:sy n="82" d="100"/>
        </p:scale>
        <p:origin x="1464" y="77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99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52292;&#54788;&#44592;\Desktop\RFS\25-2\25-2_1&#52264;_HD&#54788;&#45824;&#47560;&#47536;&#49556;&#47336;&#49496;\&#47560;&#49556;%20&#51088;&#47308;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52292;&#54788;&#44592;\Documents\&#52852;&#52852;&#50724;&#53665;%20&#48155;&#51008;%20&#54028;&#51068;\&#53804;&#54252;1_&#54788;&#47560;&#49556;_&#51088;&#47308;_0920%20(1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964479440069989"/>
          <c:y val="0.22844561096529606"/>
          <c:w val="0.46293263342082241"/>
          <c:h val="0.77155438903470397"/>
        </c:manualLayout>
      </c:layout>
      <c:pieChart>
        <c:varyColors val="1"/>
        <c:ser>
          <c:idx val="0"/>
          <c:order val="0"/>
          <c:tx>
            <c:strRef>
              <c:f>Sheet3!$B$3</c:f>
              <c:strCache>
                <c:ptCount val="1"/>
                <c:pt idx="0">
                  <c:v>척수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20386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7CC-4C92-A539-0C3D4F168502}"/>
              </c:ext>
            </c:extLst>
          </c:dPt>
          <c:dPt>
            <c:idx val="1"/>
            <c:bubble3D val="0"/>
            <c:spPr>
              <a:solidFill>
                <a:srgbClr val="D0CECE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7CC-4C92-A539-0C3D4F168502}"/>
              </c:ext>
            </c:extLst>
          </c:dPt>
          <c:dPt>
            <c:idx val="2"/>
            <c:bubble3D val="0"/>
            <c:spPr>
              <a:solidFill>
                <a:srgbClr val="2F5597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7CC-4C92-A539-0C3D4F168502}"/>
              </c:ext>
            </c:extLst>
          </c:dPt>
          <c:dPt>
            <c:idx val="3"/>
            <c:bubble3D val="0"/>
            <c:spPr>
              <a:solidFill>
                <a:srgbClr val="8FAAD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7CC-4C92-A539-0C3D4F168502}"/>
              </c:ext>
            </c:extLst>
          </c:dPt>
          <c:dPt>
            <c:idx val="4"/>
            <c:bubble3D val="0"/>
            <c:spPr>
              <a:solidFill>
                <a:srgbClr val="B4BFE7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7CC-4C92-A539-0C3D4F168502}"/>
              </c:ext>
            </c:extLst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chemeClr val="bg1"/>
                      </a:solidFill>
                      <a:latin typeface="KoPubWorld돋움체 Medium" panose="00000600000000000000" pitchFamily="2" charset="-127"/>
                      <a:ea typeface="KoPubWorld돋움체 Medium" panose="00000600000000000000" pitchFamily="2" charset="-127"/>
                      <a:cs typeface="KoPubWorld돋움체 Medium" panose="00000600000000000000" pitchFamily="2" charset="-127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37CC-4C92-A539-0C3D4F168502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chemeClr val="bg1"/>
                      </a:solidFill>
                      <a:latin typeface="KoPubWorld돋움체 Medium" panose="00000600000000000000" pitchFamily="2" charset="-127"/>
                      <a:ea typeface="KoPubWorld돋움체 Medium" panose="00000600000000000000" pitchFamily="2" charset="-127"/>
                      <a:cs typeface="KoPubWorld돋움체 Medium" panose="00000600000000000000" pitchFamily="2" charset="-127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37CC-4C92-A539-0C3D4F16850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Sheet3!$C$2:$G$2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Sheet3!$C$3:$G$3</c:f>
              <c:numCache>
                <c:formatCode>General</c:formatCode>
                <c:ptCount val="5"/>
                <c:pt idx="0">
                  <c:v>0.17540029112081515</c:v>
                </c:pt>
                <c:pt idx="1">
                  <c:v>0.2205240174672489</c:v>
                </c:pt>
                <c:pt idx="2">
                  <c:v>0.2889374090247453</c:v>
                </c:pt>
                <c:pt idx="3">
                  <c:v>0.22416302765647744</c:v>
                </c:pt>
                <c:pt idx="4">
                  <c:v>9.0975254730713245E-2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7CC-4C92-A539-0C3D4F1685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4706374494821906"/>
          <c:y val="9.7122276027799326E-2"/>
          <c:w val="0.47799912510936132"/>
          <c:h val="0.1568729869751606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ysClr val="windowText" lastClr="0000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4406351497654278E-2"/>
          <c:y val="0.1107754279959718"/>
          <c:w val="0.86589678816311799"/>
          <c:h val="0.78848516669996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'자료를 뚝딱뚝딱'!$F$253</c:f>
              <c:strCache>
                <c:ptCount val="1"/>
                <c:pt idx="0">
                  <c:v>ASP</c:v>
                </c:pt>
              </c:strCache>
            </c:strRef>
          </c:tx>
          <c:spPr>
            <a:solidFill>
              <a:srgbClr val="203864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rgbClr val="2F559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0DE-4A0C-9545-862E6DEE4078}"/>
              </c:ext>
            </c:extLst>
          </c:dPt>
          <c:dPt>
            <c:idx val="5"/>
            <c:invertIfNegative val="0"/>
            <c:bubble3D val="0"/>
            <c:spPr>
              <a:solidFill>
                <a:srgbClr val="2F559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0DE-4A0C-9545-862E6DEE4078}"/>
              </c:ext>
            </c:extLst>
          </c:dPt>
          <c:dPt>
            <c:idx val="6"/>
            <c:invertIfNegative val="0"/>
            <c:bubble3D val="0"/>
            <c:spPr>
              <a:solidFill>
                <a:srgbClr val="2F559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0DE-4A0C-9545-862E6DEE4078}"/>
              </c:ext>
            </c:extLst>
          </c:dPt>
          <c:cat>
            <c:strRef>
              <c:f>'자료를 뚝딱뚝딱'!$G$252:$M$252</c:f>
              <c:strCache>
                <c:ptCount val="7"/>
                <c:pt idx="0">
                  <c:v>'21</c:v>
                </c:pt>
                <c:pt idx="1">
                  <c:v>'22</c:v>
                </c:pt>
                <c:pt idx="2">
                  <c:v>'23</c:v>
                </c:pt>
                <c:pt idx="3">
                  <c:v>'24</c:v>
                </c:pt>
                <c:pt idx="4">
                  <c:v>'25E</c:v>
                </c:pt>
                <c:pt idx="5">
                  <c:v>'26E</c:v>
                </c:pt>
                <c:pt idx="6">
                  <c:v>'27E</c:v>
                </c:pt>
              </c:strCache>
            </c:strRef>
          </c:cat>
          <c:val>
            <c:numRef>
              <c:f>'자료를 뚝딱뚝딱'!$G$253:$M$253</c:f>
              <c:numCache>
                <c:formatCode>General</c:formatCode>
                <c:ptCount val="7"/>
                <c:pt idx="0">
                  <c:v>100</c:v>
                </c:pt>
                <c:pt idx="1">
                  <c:v>122</c:v>
                </c:pt>
                <c:pt idx="2">
                  <c:v>155</c:v>
                </c:pt>
                <c:pt idx="3">
                  <c:v>197</c:v>
                </c:pt>
                <c:pt idx="4">
                  <c:v>265</c:v>
                </c:pt>
                <c:pt idx="5">
                  <c:v>302</c:v>
                </c:pt>
                <c:pt idx="6">
                  <c:v>340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0DE-4A0C-9545-862E6DEE40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91282304"/>
        <c:axId val="1491282784"/>
      </c:barChart>
      <c:catAx>
        <c:axId val="149128230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defRPr>
            </a:pPr>
            <a:endParaRPr lang="ko-KR"/>
          </a:p>
        </c:txPr>
        <c:crossAx val="1491282784"/>
        <c:crosses val="autoZero"/>
        <c:auto val="1"/>
        <c:lblAlgn val="ctr"/>
        <c:lblOffset val="100"/>
        <c:noMultiLvlLbl val="0"/>
      </c:catAx>
      <c:valAx>
        <c:axId val="1491282784"/>
        <c:scaling>
          <c:orientation val="minMax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defRPr>
            </a:pPr>
            <a:endParaRPr lang="ko-KR"/>
          </a:p>
        </c:txPr>
        <c:crossAx val="1491282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050">
          <a:solidFill>
            <a:schemeClr val="tx1"/>
          </a:solidFill>
          <a:latin typeface="KoPubWorld돋움체 Light" panose="00000300000000000000" pitchFamily="2" charset="-127"/>
          <a:ea typeface="KoPubWorld돋움체 Light" panose="00000300000000000000" pitchFamily="2" charset="-127"/>
          <a:cs typeface="KoPubWorld돋움체 Light" panose="00000300000000000000" pitchFamily="2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0.27675</cdr:x>
      <cdr:y>0.24948</cdr:y>
    </cdr:from>
    <cdr:to>
      <cdr:x>0.74001</cdr:x>
      <cdr:y>0.98566</cdr:y>
    </cdr:to>
    <cdr:sp macro="" textlink="">
      <cdr:nvSpPr>
        <cdr:cNvPr id="2" name="부분 원형 1"/>
        <cdr:cNvSpPr/>
      </cdr:nvSpPr>
      <cdr:spPr bwMode="auto">
        <a:xfrm xmlns:a="http://schemas.openxmlformats.org/drawingml/2006/main">
          <a:off x="1260975" y="721223"/>
          <a:ext cx="2110740" cy="2128173"/>
        </a:xfrm>
        <a:prstGeom xmlns:a="http://schemas.openxmlformats.org/drawingml/2006/main" prst="pie">
          <a:avLst>
            <a:gd name="adj1" fmla="val 3120457"/>
            <a:gd name="adj2" fmla="val 16200000"/>
          </a:avLst>
        </a:prstGeom>
        <a:noFill xmlns:a="http://schemas.openxmlformats.org/drawingml/2006/main"/>
        <a:ln xmlns:a="http://schemas.openxmlformats.org/drawingml/2006/main" w="28575">
          <a:solidFill>
            <a:srgbClr val="C00000"/>
          </a:solidFill>
          <a:miter lim="800000"/>
          <a:headEnd/>
          <a:tailEnd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</a:extLst>
      </cdr:spPr>
      <cdr:txBody>
        <a:bodyPr xmlns:a="http://schemas.openxmlformats.org/drawingml/2006/main" rot="0" vertOverflow="clip" vert="vert270" wrap="square" lIns="91440" tIns="45720" rIns="91440" bIns="45720" anchor="ctr" anchorCtr="0">
          <a:noAutofit/>
        </a:bodyPr>
        <a:lstStyle xmlns:a="http://schemas.openxmlformats.org/drawingml/2006/main"/>
        <a:p xmlns:a="http://schemas.openxmlformats.org/drawingml/2006/main">
          <a:endParaRPr lang="ko-KR" altLang="en-US" kern="120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A5EE8-0BB3-4AD8-BB68-C90071DF390E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B4289A-25AF-46A6-B2A8-130A608BD0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610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B4289A-25AF-46A6-B2A8-130A608BD0B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27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4E147-1511-85C7-2C13-166054C2D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6A5A3D-F3EE-68E7-CA63-89013CE8E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ED35FD-763A-AFEA-39C8-55E916103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604D8C-A955-A18A-6E59-993880BD58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B4289A-25AF-46A6-B2A8-130A608BD0B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884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07F7B-D0CB-03C2-B7B6-D270BA95A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D6AF91-3788-9E84-DBCE-BB24AB4DD7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227C06-2E70-95F8-CC49-3AC20FA6B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친환경 비중이 낮은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컨테이너선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탱커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LNGC,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벌크선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등이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타격이 클 것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E659D3-5F34-0442-23CD-567E1D457E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B4289A-25AF-46A6-B2A8-130A608BD0B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207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EECD-4824-02B3-A1AC-106407902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0AAB23-9A00-2771-7909-82DF109B8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1CC95C-AC2B-9389-6FEB-39710D0FD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선박 엔진의 종류가 다양해지고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규제 대응 방식이 고도화됨에 따라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넓은 범위의 포트폴리오를 소화할 수 있는 기업들이 수요 증가의 수혜를 독점할 것으로 예상된다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601EB9-5D00-F22D-425C-378073B64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B4289A-25AF-46A6-B2A8-130A608BD0B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483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800" spc="-60" dirty="0">
                <a:solidFill>
                  <a:srgbClr val="000000"/>
                </a:solidFill>
                <a:effectLst/>
                <a:ea typeface="KoPubWorld돋움체 Light" panose="00000300000000000000" pitchFamily="2" charset="-127"/>
              </a:rPr>
              <a:t>미국 내 모듈 평균 판가인</a:t>
            </a:r>
            <a:r>
              <a:rPr lang="en-US" altLang="ko-KR" sz="1800" spc="-60" dirty="0">
                <a:solidFill>
                  <a:srgbClr val="000000"/>
                </a:solidFill>
                <a:effectLst/>
                <a:ea typeface="KoPubWorld돋움체 Light" panose="00000300000000000000" pitchFamily="2" charset="-127"/>
              </a:rPr>
              <a:t> 0.27$/W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B4289A-25AF-46A6-B2A8-130A608BD0B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539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3~4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이상 소요되는 전통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LNG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플랜트와 달리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FSU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는 단순 액화저장 기능만 수행하기에 상대적으로 짧은 공기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B4289A-25AF-46A6-B2A8-130A608BD0B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974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A5591-AD1D-E09A-9E2B-ABF13EB34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5E7B8D-00D7-5B0A-79BE-47EBA3B61B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7603A3-FA26-CC47-371C-F3D5C6E69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LNGC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제외한 선종들의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Retrofit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수요도 증가할 것으로 전망되는 가운데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동사는 이미 엔진 관련 수요에 주목하고 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엔진의 연비와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선속이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규제 대응의 핵심 요소로 분석되는 만큼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EPLO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D/F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엔진 개조 등 엔진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Retrofit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관련 고난도 기술을 이미 보유한 동사의 수혜가 전망된다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선주들은 동사의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EPLO(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엔진 부분 부하 최적화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장착하여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연비 개선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탄소 배출 저감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엔진 수명 연장 효과를 달성할 수 있게 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F2A1AF-65C1-0449-0290-9B32CC87B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B4289A-25AF-46A6-B2A8-130A608BD0B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6275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1CE66-AE14-C8FC-FF89-B8352F371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3A92B3-C8CF-7B28-668F-274EDB97FA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6CE476-BE7D-4D8B-7EE5-DA210B610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LNGC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제외한 선종들의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Retrofit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수요도 증가할 것으로 전망되는 가운데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동사는 이미 엔진 관련 수요에 주목하고 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엔진의 연비와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선속이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규제 대응의 핵심 요소로 분석되는 만큼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EPLO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D/F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엔진 개조 등 엔진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Retrofit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관련 고난도 기술을 이미 보유한 동사의 수혜가 전망된다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선주들은 동사의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EPLO(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엔진 부분 부하 최적화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장착하여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연비 개선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탄소 배출 저감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엔진 수명 연장 효과를 달성할 수 있게 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51D8AE-6B4D-09DB-CA44-52E80F6EDF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B4289A-25AF-46A6-B2A8-130A608BD0B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575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CC704-8983-3110-110C-15936EE5E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68BA6F-724F-4B7F-5D1F-9E0E539C4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FB0D23-126E-6302-7392-F7A1252EC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800" b="1" dirty="0">
              <a:solidFill>
                <a:srgbClr val="002B5C"/>
              </a:solidFill>
              <a:latin typeface="+mj-ea"/>
              <a:ea typeface="+mj-ea"/>
            </a:endParaRPr>
          </a:p>
        </p:txBody>
      </p:sp>
      <p:sp>
        <p:nvSpPr>
          <p:cNvPr id="4" name="머리글 개체 틀 3">
            <a:extLst>
              <a:ext uri="{FF2B5EF4-FFF2-40B4-BE49-F238E27FC236}">
                <a16:creationId xmlns:a16="http://schemas.microsoft.com/office/drawing/2014/main" id="{05A4036C-48FA-F0CF-0730-071168F3065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05418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6061D-EF45-319A-A949-14E167C39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0462B9-11F9-57A9-90E1-5BB3CC7D7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55B1A1-D73B-F141-A01C-FC4463315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800" b="1" dirty="0">
              <a:solidFill>
                <a:srgbClr val="002B5C"/>
              </a:solidFill>
              <a:latin typeface="+mj-ea"/>
              <a:ea typeface="+mj-ea"/>
            </a:endParaRPr>
          </a:p>
        </p:txBody>
      </p:sp>
      <p:sp>
        <p:nvSpPr>
          <p:cNvPr id="4" name="머리글 개체 틀 3">
            <a:extLst>
              <a:ext uri="{FF2B5EF4-FFF2-40B4-BE49-F238E27FC236}">
                <a16:creationId xmlns:a16="http://schemas.microsoft.com/office/drawing/2014/main" id="{A6ADB0C2-CF82-105C-DC91-2D009A5BA05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06620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4FF8B-F067-FF66-B6FE-FAA3D9A70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0F86EA-F875-7DCA-4584-6F9460D2F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DE537F-BB50-52F4-C209-127A0E8FF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800" b="1" dirty="0">
              <a:solidFill>
                <a:srgbClr val="002B5C"/>
              </a:solidFill>
              <a:latin typeface="+mj-ea"/>
              <a:ea typeface="+mj-ea"/>
            </a:endParaRPr>
          </a:p>
        </p:txBody>
      </p:sp>
      <p:sp>
        <p:nvSpPr>
          <p:cNvPr id="4" name="머리글 개체 틀 3">
            <a:extLst>
              <a:ext uri="{FF2B5EF4-FFF2-40B4-BE49-F238E27FC236}">
                <a16:creationId xmlns:a16="http://schemas.microsoft.com/office/drawing/2014/main" id="{4E04418A-80EB-FFBD-6593-1858CF31A1B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58853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BAFA7-BF9B-DB9A-9EB9-684CCCD2D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CF5891-3B61-B56B-C2BC-29EDD5C9F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E43A2E-3E99-F1A2-A397-8FDA6F9BB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800" b="1" dirty="0">
              <a:solidFill>
                <a:srgbClr val="002B5C"/>
              </a:solidFill>
              <a:latin typeface="+mj-ea"/>
              <a:ea typeface="+mj-ea"/>
            </a:endParaRPr>
          </a:p>
        </p:txBody>
      </p:sp>
      <p:sp>
        <p:nvSpPr>
          <p:cNvPr id="4" name="머리글 개체 틀 3">
            <a:extLst>
              <a:ext uri="{FF2B5EF4-FFF2-40B4-BE49-F238E27FC236}">
                <a16:creationId xmlns:a16="http://schemas.microsoft.com/office/drawing/2014/main" id="{689B3C9A-8C14-8622-29C5-B4ACB5DE2C6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813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B97B9-670B-3FEB-2E19-2DB292710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5F5EC3-A12F-E3EC-21C9-29630488FE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949530-31B1-37BB-DF95-22D272A59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800" b="1" dirty="0">
              <a:solidFill>
                <a:srgbClr val="002B5C"/>
              </a:solidFill>
              <a:latin typeface="+mj-ea"/>
              <a:ea typeface="+mj-ea"/>
            </a:endParaRPr>
          </a:p>
        </p:txBody>
      </p:sp>
      <p:sp>
        <p:nvSpPr>
          <p:cNvPr id="4" name="머리글 개체 틀 3">
            <a:extLst>
              <a:ext uri="{FF2B5EF4-FFF2-40B4-BE49-F238E27FC236}">
                <a16:creationId xmlns:a16="http://schemas.microsoft.com/office/drawing/2014/main" id="{0E2358C0-D6AA-1BB0-85A3-C700B9F42DD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1264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90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39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73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201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3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268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09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048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062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009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875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79911-BF89-4822-8734-650AE54FF559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143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그룹 20"/>
          <p:cNvGrpSpPr/>
          <p:nvPr/>
        </p:nvGrpSpPr>
        <p:grpSpPr>
          <a:xfrm>
            <a:off x="5298801" y="2834839"/>
            <a:ext cx="4607199" cy="4023160"/>
            <a:chOff x="7588612" y="2834840"/>
            <a:chExt cx="4607198" cy="402316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116" b="19268"/>
            <a:stretch/>
          </p:blipFill>
          <p:spPr>
            <a:xfrm>
              <a:off x="7588612" y="2834840"/>
              <a:ext cx="4607198" cy="4023160"/>
            </a:xfrm>
            <a:prstGeom prst="rect">
              <a:avLst/>
            </a:prstGeom>
          </p:spPr>
        </p:pic>
        <p:sp>
          <p:nvSpPr>
            <p:cNvPr id="23" name="직사각형 22"/>
            <p:cNvSpPr/>
            <p:nvPr/>
          </p:nvSpPr>
          <p:spPr>
            <a:xfrm>
              <a:off x="8332470" y="3154680"/>
              <a:ext cx="3859530" cy="3703320"/>
            </a:xfrm>
            <a:prstGeom prst="rect">
              <a:avLst/>
            </a:prstGeom>
            <a:solidFill>
              <a:schemeClr val="bg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912" y="2459947"/>
            <a:ext cx="4680041" cy="1765849"/>
          </a:xfrm>
          <a:prstGeom prst="rect">
            <a:avLst/>
          </a:prstGeom>
        </p:spPr>
      </p:pic>
      <p:sp>
        <p:nvSpPr>
          <p:cNvPr id="17" name="자유형 16"/>
          <p:cNvSpPr/>
          <p:nvPr/>
        </p:nvSpPr>
        <p:spPr>
          <a:xfrm>
            <a:off x="0" y="-1"/>
            <a:ext cx="4857750" cy="6858000"/>
          </a:xfrm>
          <a:custGeom>
            <a:avLst/>
            <a:gdLst>
              <a:gd name="connsiteX0" fmla="*/ 0 w 6000750"/>
              <a:gd name="connsiteY0" fmla="*/ 0 h 6858000"/>
              <a:gd name="connsiteX1" fmla="*/ 3105150 w 6000750"/>
              <a:gd name="connsiteY1" fmla="*/ 0 h 6858000"/>
              <a:gd name="connsiteX2" fmla="*/ 3105150 w 6000750"/>
              <a:gd name="connsiteY2" fmla="*/ 1 h 6858000"/>
              <a:gd name="connsiteX3" fmla="*/ 6000750 w 6000750"/>
              <a:gd name="connsiteY3" fmla="*/ 3409951 h 6858000"/>
              <a:gd name="connsiteX4" fmla="*/ 3105150 w 6000750"/>
              <a:gd name="connsiteY4" fmla="*/ 6857999 h 6858000"/>
              <a:gd name="connsiteX5" fmla="*/ 3105150 w 6000750"/>
              <a:gd name="connsiteY5" fmla="*/ 6858000 h 6858000"/>
              <a:gd name="connsiteX6" fmla="*/ 0 w 600075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00750" h="6858000">
                <a:moveTo>
                  <a:pt x="0" y="0"/>
                </a:moveTo>
                <a:lnTo>
                  <a:pt x="3105150" y="0"/>
                </a:lnTo>
                <a:lnTo>
                  <a:pt x="3105150" y="1"/>
                </a:lnTo>
                <a:lnTo>
                  <a:pt x="6000750" y="3409951"/>
                </a:lnTo>
                <a:lnTo>
                  <a:pt x="3105150" y="6857999"/>
                </a:lnTo>
                <a:lnTo>
                  <a:pt x="310515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1B2853">
                  <a:shade val="30000"/>
                  <a:satMod val="115000"/>
                </a:srgbClr>
              </a:gs>
              <a:gs pos="50000">
                <a:srgbClr val="1B2853">
                  <a:shade val="67500"/>
                  <a:satMod val="115000"/>
                </a:srgbClr>
              </a:gs>
              <a:gs pos="100000">
                <a:srgbClr val="1B2853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E0FFE9-D67C-E067-66AD-161DD3ECB3D8}"/>
              </a:ext>
            </a:extLst>
          </p:cNvPr>
          <p:cNvSpPr txBox="1"/>
          <p:nvPr/>
        </p:nvSpPr>
        <p:spPr>
          <a:xfrm>
            <a:off x="3810" y="3154679"/>
            <a:ext cx="57044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HD</a:t>
            </a:r>
            <a:r>
              <a:rPr lang="ko-KR" altLang="en-US" sz="28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현대마린솔루션</a:t>
            </a:r>
            <a:r>
              <a:rPr lang="en-US" altLang="ko-KR" sz="28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(443060.KS)</a:t>
            </a:r>
            <a:endParaRPr lang="ko-KR" altLang="en-US" sz="28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44114C-4005-E9F4-20BF-BDF3CFF19655}"/>
              </a:ext>
            </a:extLst>
          </p:cNvPr>
          <p:cNvSpPr txBox="1"/>
          <p:nvPr/>
        </p:nvSpPr>
        <p:spPr>
          <a:xfrm>
            <a:off x="-3810" y="3797684"/>
            <a:ext cx="452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Research Team 2</a:t>
            </a:r>
            <a:endParaRPr lang="ko-KR" altLang="en-US" sz="2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7358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05573-F3A0-5F59-63C3-3ACB892B4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그룹 20">
            <a:extLst>
              <a:ext uri="{FF2B5EF4-FFF2-40B4-BE49-F238E27FC236}">
                <a16:creationId xmlns:a16="http://schemas.microsoft.com/office/drawing/2014/main" id="{0412121E-D8D4-11E4-4EEC-E9467FB862FE}"/>
              </a:ext>
            </a:extLst>
          </p:cNvPr>
          <p:cNvGrpSpPr/>
          <p:nvPr/>
        </p:nvGrpSpPr>
        <p:grpSpPr>
          <a:xfrm>
            <a:off x="5298801" y="2834839"/>
            <a:ext cx="4607199" cy="4023160"/>
            <a:chOff x="7588612" y="2834840"/>
            <a:chExt cx="4607198" cy="4023160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B29F0D44-A9BE-1E76-9248-2CB5029973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116" b="19268"/>
            <a:stretch/>
          </p:blipFill>
          <p:spPr>
            <a:xfrm>
              <a:off x="7588612" y="2834840"/>
              <a:ext cx="4607198" cy="4023160"/>
            </a:xfrm>
            <a:prstGeom prst="rect">
              <a:avLst/>
            </a:prstGeom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AC6FF64-0B5A-6523-1F5D-7B65A0A53412}"/>
                </a:ext>
              </a:extLst>
            </p:cNvPr>
            <p:cNvSpPr/>
            <p:nvPr/>
          </p:nvSpPr>
          <p:spPr>
            <a:xfrm>
              <a:off x="8332470" y="3154680"/>
              <a:ext cx="3859530" cy="3703320"/>
            </a:xfrm>
            <a:prstGeom prst="rect">
              <a:avLst/>
            </a:prstGeom>
            <a:solidFill>
              <a:schemeClr val="bg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F658555C-40C2-2E55-6133-BF7FFCBCB3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912" y="2459947"/>
            <a:ext cx="4680041" cy="1765849"/>
          </a:xfrm>
          <a:prstGeom prst="rect">
            <a:avLst/>
          </a:prstGeom>
        </p:spPr>
      </p:pic>
      <p:sp>
        <p:nvSpPr>
          <p:cNvPr id="17" name="자유형 16">
            <a:extLst>
              <a:ext uri="{FF2B5EF4-FFF2-40B4-BE49-F238E27FC236}">
                <a16:creationId xmlns:a16="http://schemas.microsoft.com/office/drawing/2014/main" id="{3B73A606-6877-CFC3-E7C4-F28BB112DFD4}"/>
              </a:ext>
            </a:extLst>
          </p:cNvPr>
          <p:cNvSpPr/>
          <p:nvPr/>
        </p:nvSpPr>
        <p:spPr>
          <a:xfrm>
            <a:off x="0" y="-1"/>
            <a:ext cx="4857750" cy="6858000"/>
          </a:xfrm>
          <a:custGeom>
            <a:avLst/>
            <a:gdLst>
              <a:gd name="connsiteX0" fmla="*/ 0 w 6000750"/>
              <a:gd name="connsiteY0" fmla="*/ 0 h 6858000"/>
              <a:gd name="connsiteX1" fmla="*/ 3105150 w 6000750"/>
              <a:gd name="connsiteY1" fmla="*/ 0 h 6858000"/>
              <a:gd name="connsiteX2" fmla="*/ 3105150 w 6000750"/>
              <a:gd name="connsiteY2" fmla="*/ 1 h 6858000"/>
              <a:gd name="connsiteX3" fmla="*/ 6000750 w 6000750"/>
              <a:gd name="connsiteY3" fmla="*/ 3409951 h 6858000"/>
              <a:gd name="connsiteX4" fmla="*/ 3105150 w 6000750"/>
              <a:gd name="connsiteY4" fmla="*/ 6857999 h 6858000"/>
              <a:gd name="connsiteX5" fmla="*/ 3105150 w 6000750"/>
              <a:gd name="connsiteY5" fmla="*/ 6858000 h 6858000"/>
              <a:gd name="connsiteX6" fmla="*/ 0 w 600075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00750" h="6858000">
                <a:moveTo>
                  <a:pt x="0" y="0"/>
                </a:moveTo>
                <a:lnTo>
                  <a:pt x="3105150" y="0"/>
                </a:lnTo>
                <a:lnTo>
                  <a:pt x="3105150" y="1"/>
                </a:lnTo>
                <a:lnTo>
                  <a:pt x="6000750" y="3409951"/>
                </a:lnTo>
                <a:lnTo>
                  <a:pt x="3105150" y="6857999"/>
                </a:lnTo>
                <a:lnTo>
                  <a:pt x="310515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1B2853">
                  <a:shade val="30000"/>
                  <a:satMod val="115000"/>
                </a:srgbClr>
              </a:gs>
              <a:gs pos="50000">
                <a:srgbClr val="1B2853">
                  <a:shade val="67500"/>
                  <a:satMod val="115000"/>
                </a:srgbClr>
              </a:gs>
              <a:gs pos="100000">
                <a:srgbClr val="1B2853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9EECAC-2246-04EA-C74F-AC267B9CC6CB}"/>
              </a:ext>
            </a:extLst>
          </p:cNvPr>
          <p:cNvSpPr txBox="1"/>
          <p:nvPr/>
        </p:nvSpPr>
        <p:spPr>
          <a:xfrm>
            <a:off x="-878516" y="2353267"/>
            <a:ext cx="5704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Contents</a:t>
            </a:r>
            <a:endParaRPr lang="ko-KR" altLang="en-US" sz="4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8781D-D532-5597-AB36-4B4530ECAF5E}"/>
              </a:ext>
            </a:extLst>
          </p:cNvPr>
          <p:cNvSpPr txBox="1"/>
          <p:nvPr/>
        </p:nvSpPr>
        <p:spPr>
          <a:xfrm>
            <a:off x="776789" y="3236191"/>
            <a:ext cx="348450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4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Overview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4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Investment Point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4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Valuation</a:t>
            </a:r>
            <a:endParaRPr lang="ko-KR" altLang="en-US" sz="24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8731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40BCC-834A-F17A-AFFE-EB9C605F4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87AEC23B-1F6B-C047-D0E3-36A56103353E}"/>
              </a:ext>
            </a:extLst>
          </p:cNvPr>
          <p:cNvGrpSpPr/>
          <p:nvPr/>
        </p:nvGrpSpPr>
        <p:grpSpPr>
          <a:xfrm>
            <a:off x="5298801" y="2834840"/>
            <a:ext cx="4607199" cy="4023160"/>
            <a:chOff x="7588612" y="2834840"/>
            <a:chExt cx="4607198" cy="402316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9792E9C-9D56-A8E6-F305-DEBA3859A8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116" b="19268"/>
            <a:stretch/>
          </p:blipFill>
          <p:spPr>
            <a:xfrm>
              <a:off x="7588612" y="2834840"/>
              <a:ext cx="4607198" cy="402316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DF631BC-3275-1825-8962-B00388F633D2}"/>
                </a:ext>
              </a:extLst>
            </p:cNvPr>
            <p:cNvSpPr/>
            <p:nvPr/>
          </p:nvSpPr>
          <p:spPr>
            <a:xfrm>
              <a:off x="8332470" y="3154680"/>
              <a:ext cx="3859530" cy="3703320"/>
            </a:xfrm>
            <a:prstGeom prst="rect">
              <a:avLst/>
            </a:prstGeom>
            <a:solidFill>
              <a:schemeClr val="bg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74E93EC1-BB29-54A0-11C6-1C7CB898A311}"/>
              </a:ext>
            </a:extLst>
          </p:cNvPr>
          <p:cNvSpPr/>
          <p:nvPr/>
        </p:nvSpPr>
        <p:spPr>
          <a:xfrm rot="5400000">
            <a:off x="4163963" y="-4164315"/>
            <a:ext cx="1578078" cy="9906000"/>
          </a:xfrm>
          <a:prstGeom prst="rt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C70101F5-223A-294F-1C62-5E436A9B35A1}"/>
              </a:ext>
            </a:extLst>
          </p:cNvPr>
          <p:cNvSpPr/>
          <p:nvPr/>
        </p:nvSpPr>
        <p:spPr>
          <a:xfrm rot="5400000">
            <a:off x="-2862037" y="2862037"/>
            <a:ext cx="6858002" cy="1133927"/>
          </a:xfrm>
          <a:prstGeom prst="rtTriangle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5D80A9-9898-3DF5-1977-E30E7F25C39F}"/>
              </a:ext>
            </a:extLst>
          </p:cNvPr>
          <p:cNvSpPr txBox="1"/>
          <p:nvPr/>
        </p:nvSpPr>
        <p:spPr>
          <a:xfrm>
            <a:off x="920074" y="1761687"/>
            <a:ext cx="9517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spcAft>
                <a:spcPts val="800"/>
              </a:spcAft>
              <a:tabLst>
                <a:tab pos="1371566" algn="l"/>
              </a:tabLst>
            </a:pPr>
            <a:r>
              <a:rPr lang="en-US" altLang="ko-KR" sz="4000" b="1" kern="1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Ⅰ. Overview</a:t>
            </a:r>
            <a:endParaRPr lang="en-US" altLang="ko-KR" sz="4000" b="1" kern="100" spc="-60" dirty="0">
              <a:solidFill>
                <a:srgbClr val="00206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0A160-B8B0-152E-D218-50FF4B3940D5}"/>
              </a:ext>
            </a:extLst>
          </p:cNvPr>
          <p:cNvSpPr txBox="1"/>
          <p:nvPr/>
        </p:nvSpPr>
        <p:spPr>
          <a:xfrm>
            <a:off x="1070085" y="2996810"/>
            <a:ext cx="6615427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Coverage Proposal &amp; Financial Data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Top Pick</a:t>
            </a:r>
          </a:p>
          <a:p>
            <a:pPr>
              <a:lnSpc>
                <a:spcPct val="150000"/>
              </a:lnSpc>
            </a:pPr>
            <a:endParaRPr lang="en-US" altLang="ko-KR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9979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3A302-C9E4-51B1-2102-0CA19684E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EE204F5-39DD-2E0B-A025-CE1E9F72F658}"/>
              </a:ext>
            </a:extLst>
          </p:cNvPr>
          <p:cNvSpPr/>
          <p:nvPr/>
        </p:nvSpPr>
        <p:spPr>
          <a:xfrm>
            <a:off x="0" y="6629399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01D857-AC8F-AF18-4793-548BF3EB643A}"/>
              </a:ext>
            </a:extLst>
          </p:cNvPr>
          <p:cNvSpPr txBox="1"/>
          <p:nvPr/>
        </p:nvSpPr>
        <p:spPr>
          <a:xfrm>
            <a:off x="499537" y="1242703"/>
            <a:ext cx="9373061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ko-KR" sz="1200" dirty="0">
              <a:latin typeface="KoPubWorldDotum Bold" panose="00000800000000000000" pitchFamily="2" charset="-127"/>
              <a:ea typeface="KoPubWorldDotum Bold" panose="00000800000000000000" pitchFamily="2" charset="-127"/>
              <a:cs typeface="KoPubWorldDotum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‘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26E AM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솔루션 부문 매출액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조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1,250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억 원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(YoY +18.5%)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‘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26E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친환경 솔루션 부문 매출액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2,573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억 원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(YoY +51.4%)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‘26E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전체 매출액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조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1,170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억 원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(YoY +11.1%)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40EF81-E7DB-FA83-1AA7-AE07EF5B72CA}"/>
              </a:ext>
            </a:extLst>
          </p:cNvPr>
          <p:cNvSpPr txBox="1"/>
          <p:nvPr/>
        </p:nvSpPr>
        <p:spPr>
          <a:xfrm>
            <a:off x="742518" y="704891"/>
            <a:ext cx="389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Coverage Proposal &amp; Financial Data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1FF8EA8-CB5C-8A06-4EF9-25C1B665AE2D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301CCF-C025-F84A-FB73-28951ECEBD70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C0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목표주가 </a:t>
            </a:r>
            <a:r>
              <a:rPr lang="en-US" altLang="ko-KR" sz="1500" dirty="0">
                <a:solidFill>
                  <a:srgbClr val="C0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298,200</a:t>
            </a:r>
            <a:r>
              <a:rPr lang="ko-KR" altLang="en-US" sz="1500" dirty="0">
                <a:solidFill>
                  <a:srgbClr val="C0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원 </a:t>
            </a:r>
            <a:r>
              <a:rPr lang="en-US" altLang="ko-KR" sz="1500" dirty="0">
                <a:solidFill>
                  <a:srgbClr val="C0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</a:t>
            </a:r>
            <a:r>
              <a:rPr lang="ko-KR" altLang="en-US" sz="1500" dirty="0">
                <a:solidFill>
                  <a:srgbClr val="C0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상승여력 </a:t>
            </a:r>
            <a:r>
              <a:rPr lang="en-US" altLang="ko-KR" sz="1500" dirty="0">
                <a:solidFill>
                  <a:srgbClr val="C0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47%, </a:t>
            </a:r>
            <a:r>
              <a:rPr lang="ko-KR" altLang="en-US" sz="1500" dirty="0">
                <a:solidFill>
                  <a:srgbClr val="C0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투자의견 </a:t>
            </a:r>
            <a:r>
              <a:rPr lang="en-US" altLang="ko-KR" sz="1500" dirty="0">
                <a:solidFill>
                  <a:srgbClr val="C0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BUY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를 제시하며 커버리지 제안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61168BF0-34F6-5673-2911-F946B8D4206D}"/>
              </a:ext>
            </a:extLst>
          </p:cNvPr>
          <p:cNvSpPr/>
          <p:nvPr/>
        </p:nvSpPr>
        <p:spPr>
          <a:xfrm flipV="1">
            <a:off x="1" y="372394"/>
            <a:ext cx="9906000" cy="103856"/>
          </a:xfrm>
          <a:custGeom>
            <a:avLst/>
            <a:gdLst/>
            <a:ahLst/>
            <a:cxnLst/>
            <a:rect l="l" t="t" r="r" b="b"/>
            <a:pathLst>
              <a:path w="11421110">
                <a:moveTo>
                  <a:pt x="0" y="0"/>
                </a:moveTo>
                <a:lnTo>
                  <a:pt x="11420856" y="0"/>
                </a:lnTo>
              </a:path>
            </a:pathLst>
          </a:custGeom>
          <a:ln w="28575">
            <a:solidFill>
              <a:srgbClr val="002B5C"/>
            </a:solidFill>
          </a:ln>
        </p:spPr>
        <p:txBody>
          <a:bodyPr wrap="square" lIns="0" tIns="0" rIns="0" bIns="0" rtlCol="0"/>
          <a:lstStyle/>
          <a:p>
            <a:endParaRPr sz="135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B7FDA65-907F-4CB2-2EE7-87834EB49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212819"/>
              </p:ext>
            </p:extLst>
          </p:nvPr>
        </p:nvGraphicFramePr>
        <p:xfrm>
          <a:off x="399935" y="2752524"/>
          <a:ext cx="4500001" cy="3305450"/>
        </p:xfrm>
        <a:graphic>
          <a:graphicData uri="http://schemas.openxmlformats.org/drawingml/2006/table">
            <a:tbl>
              <a:tblPr firstRow="1" firstCol="1" bandRow="1"/>
              <a:tblGrid>
                <a:gridCol w="1323274">
                  <a:extLst>
                    <a:ext uri="{9D8B030D-6E8A-4147-A177-3AD203B41FA5}">
                      <a16:colId xmlns:a16="http://schemas.microsoft.com/office/drawing/2014/main" val="2989934762"/>
                    </a:ext>
                  </a:extLst>
                </a:gridCol>
                <a:gridCol w="795268">
                  <a:extLst>
                    <a:ext uri="{9D8B030D-6E8A-4147-A177-3AD203B41FA5}">
                      <a16:colId xmlns:a16="http://schemas.microsoft.com/office/drawing/2014/main" val="1506534499"/>
                    </a:ext>
                  </a:extLst>
                </a:gridCol>
                <a:gridCol w="795268">
                  <a:extLst>
                    <a:ext uri="{9D8B030D-6E8A-4147-A177-3AD203B41FA5}">
                      <a16:colId xmlns:a16="http://schemas.microsoft.com/office/drawing/2014/main" val="933848324"/>
                    </a:ext>
                  </a:extLst>
                </a:gridCol>
                <a:gridCol w="795268">
                  <a:extLst>
                    <a:ext uri="{9D8B030D-6E8A-4147-A177-3AD203B41FA5}">
                      <a16:colId xmlns:a16="http://schemas.microsoft.com/office/drawing/2014/main" val="3224082568"/>
                    </a:ext>
                  </a:extLst>
                </a:gridCol>
                <a:gridCol w="790923">
                  <a:extLst>
                    <a:ext uri="{9D8B030D-6E8A-4147-A177-3AD203B41FA5}">
                      <a16:colId xmlns:a16="http://schemas.microsoft.com/office/drawing/2014/main" val="211617096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단위</a:t>
                      </a: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: </a:t>
                      </a:r>
                      <a:r>
                        <a:rPr lang="ko-KR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억 원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1Q26E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2Q26E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3Q26E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4Q26E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819691"/>
                  </a:ext>
                </a:extLst>
              </a:tr>
              <a:tr h="294545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2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매출</a:t>
                      </a:r>
                      <a:endParaRPr lang="ko-KR" sz="1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5,086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5,193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5,388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5,503</a:t>
                      </a:r>
                      <a:endParaRPr lang="ko-KR" sz="1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572552"/>
                  </a:ext>
                </a:extLst>
              </a:tr>
              <a:tr h="294545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QoQ(%)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5.24%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2.09%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3.76%</a:t>
                      </a:r>
                      <a:endParaRPr lang="ko-KR" sz="1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2.14%</a:t>
                      </a:r>
                      <a:endParaRPr lang="ko-KR" sz="1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712949"/>
                  </a:ext>
                </a:extLst>
              </a:tr>
              <a:tr h="294545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AM </a:t>
                      </a:r>
                      <a:r>
                        <a:rPr lang="ko-KR" sz="12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솔루션</a:t>
                      </a:r>
                      <a:endParaRPr lang="ko-KR" sz="1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2,668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2,763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2,860</a:t>
                      </a:r>
                      <a:endParaRPr lang="ko-KR" sz="1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2,959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781738"/>
                  </a:ext>
                </a:extLst>
              </a:tr>
              <a:tr h="294545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of Revenue(%)</a:t>
                      </a:r>
                      <a:endParaRPr lang="ko-KR" sz="1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52.46%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53.21%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53.08%</a:t>
                      </a:r>
                      <a:endParaRPr lang="ko-KR" sz="1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53.77%</a:t>
                      </a:r>
                      <a:endParaRPr lang="ko-KR" sz="1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140725"/>
                  </a:ext>
                </a:extLst>
              </a:tr>
              <a:tr h="294545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2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친환경 솔루션</a:t>
                      </a:r>
                      <a:endParaRPr lang="ko-KR" sz="1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589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591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685</a:t>
                      </a:r>
                      <a:endParaRPr lang="ko-KR" sz="1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707</a:t>
                      </a:r>
                      <a:endParaRPr lang="ko-KR" sz="1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987879"/>
                  </a:ext>
                </a:extLst>
              </a:tr>
              <a:tr h="294545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of Revenue(%)</a:t>
                      </a:r>
                      <a:endParaRPr lang="ko-KR" sz="1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11.59%</a:t>
                      </a:r>
                      <a:endParaRPr lang="ko-KR" sz="1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11.38%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12.72%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12.85%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215257"/>
                  </a:ext>
                </a:extLst>
              </a:tr>
              <a:tr h="294545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2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디지털 솔루션</a:t>
                      </a:r>
                      <a:endParaRPr lang="ko-KR" sz="1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231</a:t>
                      </a:r>
                      <a:endParaRPr lang="ko-KR" sz="1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232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233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232</a:t>
                      </a:r>
                      <a:endParaRPr lang="ko-KR" sz="1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201652"/>
                  </a:ext>
                </a:extLst>
              </a:tr>
              <a:tr h="294545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of Revenue(%)</a:t>
                      </a:r>
                      <a:endParaRPr lang="ko-KR" sz="1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4.54%</a:t>
                      </a:r>
                      <a:endParaRPr lang="ko-KR" sz="1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4.48%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4.32%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4.22%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129522"/>
                  </a:ext>
                </a:extLst>
              </a:tr>
              <a:tr h="294545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2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벙커링</a:t>
                      </a:r>
                      <a:endParaRPr lang="ko-KR" sz="1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1,598</a:t>
                      </a:r>
                      <a:endParaRPr lang="ko-KR" sz="1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1,607</a:t>
                      </a:r>
                      <a:endParaRPr lang="ko-KR" sz="1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1,611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1,605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873777"/>
                  </a:ext>
                </a:extLst>
              </a:tr>
              <a:tr h="294545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of Revenue(%)</a:t>
                      </a:r>
                      <a:endParaRPr lang="ko-KR" sz="1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31.41%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30.94%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29.89%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29.16%</a:t>
                      </a:r>
                      <a:endParaRPr lang="ko-KR" sz="18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535636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CDD6EBBA-F094-7B58-6246-59D3B8A525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05883"/>
              </p:ext>
            </p:extLst>
          </p:nvPr>
        </p:nvGraphicFramePr>
        <p:xfrm>
          <a:off x="5186067" y="2752525"/>
          <a:ext cx="4499998" cy="3305451"/>
        </p:xfrm>
        <a:graphic>
          <a:graphicData uri="http://schemas.openxmlformats.org/drawingml/2006/table">
            <a:tbl>
              <a:tblPr firstRow="1" firstCol="1" bandRow="1"/>
              <a:tblGrid>
                <a:gridCol w="962148">
                  <a:extLst>
                    <a:ext uri="{9D8B030D-6E8A-4147-A177-3AD203B41FA5}">
                      <a16:colId xmlns:a16="http://schemas.microsoft.com/office/drawing/2014/main" val="4214800210"/>
                    </a:ext>
                  </a:extLst>
                </a:gridCol>
                <a:gridCol w="707570">
                  <a:extLst>
                    <a:ext uri="{9D8B030D-6E8A-4147-A177-3AD203B41FA5}">
                      <a16:colId xmlns:a16="http://schemas.microsoft.com/office/drawing/2014/main" val="962277687"/>
                    </a:ext>
                  </a:extLst>
                </a:gridCol>
                <a:gridCol w="707570">
                  <a:extLst>
                    <a:ext uri="{9D8B030D-6E8A-4147-A177-3AD203B41FA5}">
                      <a16:colId xmlns:a16="http://schemas.microsoft.com/office/drawing/2014/main" val="4085962824"/>
                    </a:ext>
                  </a:extLst>
                </a:gridCol>
                <a:gridCol w="707570">
                  <a:extLst>
                    <a:ext uri="{9D8B030D-6E8A-4147-A177-3AD203B41FA5}">
                      <a16:colId xmlns:a16="http://schemas.microsoft.com/office/drawing/2014/main" val="484512908"/>
                    </a:ext>
                  </a:extLst>
                </a:gridCol>
                <a:gridCol w="707570">
                  <a:extLst>
                    <a:ext uri="{9D8B030D-6E8A-4147-A177-3AD203B41FA5}">
                      <a16:colId xmlns:a16="http://schemas.microsoft.com/office/drawing/2014/main" val="615917109"/>
                    </a:ext>
                  </a:extLst>
                </a:gridCol>
                <a:gridCol w="707570">
                  <a:extLst>
                    <a:ext uri="{9D8B030D-6E8A-4147-A177-3AD203B41FA5}">
                      <a16:colId xmlns:a16="http://schemas.microsoft.com/office/drawing/2014/main" val="3438857320"/>
                    </a:ext>
                  </a:extLst>
                </a:gridCol>
              </a:tblGrid>
              <a:tr h="36741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 dirty="0">
                          <a:solidFill>
                            <a:schemeClr val="bg1"/>
                          </a:solidFill>
                          <a:effectLst/>
                          <a:latin typeface="KoPubWorldDotum Bold" panose="00000800000000000000" pitchFamily="2" charset="-127"/>
                          <a:ea typeface="KoPubWorldDotum Bold" panose="00000800000000000000" pitchFamily="2" charset="-127"/>
                          <a:cs typeface="KoPubWorldDotum Bold" panose="00000800000000000000" pitchFamily="2" charset="-127"/>
                        </a:rPr>
                        <a:t>FYE Dec</a:t>
                      </a:r>
                      <a:endParaRPr lang="ko-KR" sz="1200" kern="100" spc="-60" dirty="0">
                        <a:solidFill>
                          <a:schemeClr val="bg1"/>
                        </a:solidFill>
                        <a:effectLst/>
                        <a:latin typeface="KoPubWorldDotum Bold" panose="00000800000000000000" pitchFamily="2" charset="-127"/>
                        <a:ea typeface="KoPubWorldDotum Bold" panose="00000800000000000000" pitchFamily="2" charset="-127"/>
                        <a:cs typeface="KoPubWorldDotum Bold" panose="000008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 dirty="0">
                          <a:solidFill>
                            <a:schemeClr val="bg1"/>
                          </a:solidFill>
                          <a:effectLst/>
                          <a:latin typeface="KoPubWorldDotum Bold" panose="00000800000000000000" pitchFamily="2" charset="-127"/>
                          <a:ea typeface="KoPubWorldDotum Bold" panose="00000800000000000000" pitchFamily="2" charset="-127"/>
                          <a:cs typeface="KoPubWorldDotum Bold" panose="00000800000000000000" pitchFamily="2" charset="-127"/>
                        </a:rPr>
                        <a:t>2022A</a:t>
                      </a:r>
                      <a:endParaRPr lang="ko-KR" sz="1200" kern="100" spc="-60" dirty="0">
                        <a:solidFill>
                          <a:schemeClr val="bg1"/>
                        </a:solidFill>
                        <a:effectLst/>
                        <a:latin typeface="KoPubWorldDotum Bold" panose="00000800000000000000" pitchFamily="2" charset="-127"/>
                        <a:ea typeface="KoPubWorldDotum Bold" panose="00000800000000000000" pitchFamily="2" charset="-127"/>
                        <a:cs typeface="KoPubWorldDotum Bold" panose="000008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 dirty="0">
                          <a:solidFill>
                            <a:schemeClr val="bg1"/>
                          </a:solidFill>
                          <a:effectLst/>
                          <a:latin typeface="KoPubWorldDotum Bold" panose="00000800000000000000" pitchFamily="2" charset="-127"/>
                          <a:ea typeface="KoPubWorldDotum Bold" panose="00000800000000000000" pitchFamily="2" charset="-127"/>
                          <a:cs typeface="KoPubWorldDotum Bold" panose="00000800000000000000" pitchFamily="2" charset="-127"/>
                        </a:rPr>
                        <a:t>2023A</a:t>
                      </a:r>
                      <a:endParaRPr lang="ko-KR" sz="1200" kern="100" spc="-60" dirty="0">
                        <a:solidFill>
                          <a:schemeClr val="bg1"/>
                        </a:solidFill>
                        <a:effectLst/>
                        <a:latin typeface="KoPubWorldDotum Bold" panose="00000800000000000000" pitchFamily="2" charset="-127"/>
                        <a:ea typeface="KoPubWorldDotum Bold" panose="00000800000000000000" pitchFamily="2" charset="-127"/>
                        <a:cs typeface="KoPubWorldDotum Bold" panose="000008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 dirty="0">
                          <a:solidFill>
                            <a:schemeClr val="bg1"/>
                          </a:solidFill>
                          <a:effectLst/>
                          <a:latin typeface="KoPubWorldDotum Bold" panose="00000800000000000000" pitchFamily="2" charset="-127"/>
                          <a:ea typeface="KoPubWorldDotum Bold" panose="00000800000000000000" pitchFamily="2" charset="-127"/>
                          <a:cs typeface="KoPubWorldDotum Bold" panose="00000800000000000000" pitchFamily="2" charset="-127"/>
                        </a:rPr>
                        <a:t>2024A</a:t>
                      </a:r>
                      <a:endParaRPr lang="ko-KR" sz="1200" kern="100" spc="-60" dirty="0">
                        <a:solidFill>
                          <a:schemeClr val="bg1"/>
                        </a:solidFill>
                        <a:effectLst/>
                        <a:latin typeface="KoPubWorldDotum Bold" panose="00000800000000000000" pitchFamily="2" charset="-127"/>
                        <a:ea typeface="KoPubWorldDotum Bold" panose="00000800000000000000" pitchFamily="2" charset="-127"/>
                        <a:cs typeface="KoPubWorldDotum Bold" panose="000008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 dirty="0">
                          <a:solidFill>
                            <a:schemeClr val="bg1"/>
                          </a:solidFill>
                          <a:effectLst/>
                          <a:latin typeface="KoPubWorldDotum Bold" panose="00000800000000000000" pitchFamily="2" charset="-127"/>
                          <a:ea typeface="KoPubWorldDotum Bold" panose="00000800000000000000" pitchFamily="2" charset="-127"/>
                          <a:cs typeface="KoPubWorldDotum Bold" panose="00000800000000000000" pitchFamily="2" charset="-127"/>
                        </a:rPr>
                        <a:t>2025E</a:t>
                      </a:r>
                      <a:endParaRPr lang="ko-KR" sz="1200" kern="100" spc="-60" dirty="0">
                        <a:solidFill>
                          <a:schemeClr val="bg1"/>
                        </a:solidFill>
                        <a:effectLst/>
                        <a:latin typeface="KoPubWorldDotum Bold" panose="00000800000000000000" pitchFamily="2" charset="-127"/>
                        <a:ea typeface="KoPubWorldDotum Bold" panose="00000800000000000000" pitchFamily="2" charset="-127"/>
                        <a:cs typeface="KoPubWorldDotum Bold" panose="000008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R="24765"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 dirty="0">
                          <a:solidFill>
                            <a:schemeClr val="bg1"/>
                          </a:solidFill>
                          <a:effectLst/>
                          <a:latin typeface="KoPubWorldDotum Bold" panose="00000800000000000000" pitchFamily="2" charset="-127"/>
                          <a:ea typeface="KoPubWorldDotum Bold" panose="00000800000000000000" pitchFamily="2" charset="-127"/>
                          <a:cs typeface="KoPubWorldDotum Bold" panose="00000800000000000000" pitchFamily="2" charset="-127"/>
                        </a:rPr>
                        <a:t>2026E</a:t>
                      </a:r>
                      <a:endParaRPr lang="ko-KR" sz="1200" kern="100" spc="-60" dirty="0">
                        <a:solidFill>
                          <a:schemeClr val="bg1"/>
                        </a:solidFill>
                        <a:effectLst/>
                        <a:latin typeface="KoPubWorldDotum Bold" panose="00000800000000000000" pitchFamily="2" charset="-127"/>
                        <a:ea typeface="KoPubWorldDotum Bold" panose="00000800000000000000" pitchFamily="2" charset="-127"/>
                        <a:cs typeface="KoPubWorldDotum Bold" panose="000008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181387"/>
                  </a:ext>
                </a:extLst>
              </a:tr>
              <a:tr h="366123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ko-KR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매출액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1,334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1,430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1,745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1,906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2,117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036945"/>
                  </a:ext>
                </a:extLst>
              </a:tr>
              <a:tr h="36741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ko-KR" sz="12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영업이익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113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201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272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325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368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064078"/>
                  </a:ext>
                </a:extLst>
              </a:tr>
              <a:tr h="36741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ko-KR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당기순이익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90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151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228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240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279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263507"/>
                  </a:ext>
                </a:extLst>
              </a:tr>
              <a:tr h="36741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EPS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2.239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3,778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5,304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5,357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6,215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519363"/>
                  </a:ext>
                </a:extLst>
              </a:tr>
              <a:tr h="36741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PER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N/R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30.4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39.2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47.98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581273"/>
                  </a:ext>
                </a:extLst>
              </a:tr>
              <a:tr h="36741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PBR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N/R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9.4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10.2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9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967525"/>
                  </a:ext>
                </a:extLst>
              </a:tr>
              <a:tr h="36741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OPM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8.5%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14%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16%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17%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17.4%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203255"/>
                  </a:ext>
                </a:extLst>
              </a:tr>
              <a:tr h="36741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ROE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71.6%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45%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26.9%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2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27.6%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645510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82F20181-CC2E-C864-6920-F4646C8FB33F}"/>
              </a:ext>
            </a:extLst>
          </p:cNvPr>
          <p:cNvSpPr txBox="1"/>
          <p:nvPr/>
        </p:nvSpPr>
        <p:spPr>
          <a:xfrm>
            <a:off x="399935" y="2419393"/>
            <a:ext cx="440645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’26E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전체 매출액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Table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F398BE-5DA6-0B42-771F-E3959CE09594}"/>
              </a:ext>
            </a:extLst>
          </p:cNvPr>
          <p:cNvSpPr txBox="1"/>
          <p:nvPr/>
        </p:nvSpPr>
        <p:spPr>
          <a:xfrm>
            <a:off x="5186064" y="2419393"/>
            <a:ext cx="4500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Financial 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54F36C-E5FA-7840-D9F6-A1579FB2B051}"/>
              </a:ext>
            </a:extLst>
          </p:cNvPr>
          <p:cNvSpPr txBox="1"/>
          <p:nvPr/>
        </p:nvSpPr>
        <p:spPr>
          <a:xfrm>
            <a:off x="273050" y="49730"/>
            <a:ext cx="582730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3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Overview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CD4996-5E65-2982-49EC-3501036E5C85}"/>
              </a:ext>
            </a:extLst>
          </p:cNvPr>
          <p:cNvSpPr txBox="1"/>
          <p:nvPr/>
        </p:nvSpPr>
        <p:spPr>
          <a:xfrm>
            <a:off x="5040485" y="6159999"/>
            <a:ext cx="41377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                                             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9BA9FC-9E5C-FF7C-261A-AD1DE34E1DB3}"/>
              </a:ext>
            </a:extLst>
          </p:cNvPr>
          <p:cNvSpPr txBox="1"/>
          <p:nvPr/>
        </p:nvSpPr>
        <p:spPr>
          <a:xfrm>
            <a:off x="399935" y="6158063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RFS Team 2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921717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C54ED-8773-5C2B-A507-132EB9391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F8E2250-6CFF-DCC6-9F74-D590D527C1BA}"/>
              </a:ext>
            </a:extLst>
          </p:cNvPr>
          <p:cNvSpPr/>
          <p:nvPr/>
        </p:nvSpPr>
        <p:spPr>
          <a:xfrm>
            <a:off x="0" y="6629399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D9AF8B-31AE-1A3D-CDE0-203B35CCFCF6}"/>
              </a:ext>
            </a:extLst>
          </p:cNvPr>
          <p:cNvSpPr txBox="1"/>
          <p:nvPr/>
        </p:nvSpPr>
        <p:spPr>
          <a:xfrm>
            <a:off x="742518" y="704891"/>
            <a:ext cx="8519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Top Pick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51443B6-18A3-64C6-68FC-38C901539979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3FBBD865-DF84-CFD0-2344-495B68A56EBF}"/>
              </a:ext>
            </a:extLst>
          </p:cNvPr>
          <p:cNvSpPr/>
          <p:nvPr/>
        </p:nvSpPr>
        <p:spPr>
          <a:xfrm flipV="1">
            <a:off x="1" y="372394"/>
            <a:ext cx="9906000" cy="103856"/>
          </a:xfrm>
          <a:custGeom>
            <a:avLst/>
            <a:gdLst/>
            <a:ahLst/>
            <a:cxnLst/>
            <a:rect l="l" t="t" r="r" b="b"/>
            <a:pathLst>
              <a:path w="11421110">
                <a:moveTo>
                  <a:pt x="0" y="0"/>
                </a:moveTo>
                <a:lnTo>
                  <a:pt x="11420856" y="0"/>
                </a:lnTo>
              </a:path>
            </a:pathLst>
          </a:custGeom>
          <a:ln w="28575">
            <a:solidFill>
              <a:srgbClr val="002B5C"/>
            </a:solidFill>
          </a:ln>
        </p:spPr>
        <p:txBody>
          <a:bodyPr wrap="square" lIns="0" tIns="0" rIns="0" bIns="0" rtlCol="0"/>
          <a:lstStyle/>
          <a:p>
            <a:endParaRPr sz="135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F627FE5-91C3-5D87-6E1F-5C191149110C}"/>
              </a:ext>
            </a:extLst>
          </p:cNvPr>
          <p:cNvSpPr/>
          <p:nvPr/>
        </p:nvSpPr>
        <p:spPr>
          <a:xfrm>
            <a:off x="452737" y="1121338"/>
            <a:ext cx="9001124" cy="533024"/>
          </a:xfrm>
          <a:prstGeom prst="round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친환경 규제 → 기존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노후화 물량에 대한 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Retrofit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수요 폭증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2E6B3A4-70FF-6961-046D-F3D078886FEA}"/>
              </a:ext>
            </a:extLst>
          </p:cNvPr>
          <p:cNvSpPr/>
          <p:nvPr/>
        </p:nvSpPr>
        <p:spPr>
          <a:xfrm>
            <a:off x="442332" y="2256097"/>
            <a:ext cx="9021935" cy="533024"/>
          </a:xfrm>
          <a:prstGeom prst="round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After-Market/MRO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사업 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-&gt;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업종 사이클에 관계없이 지속적 수요 발생</a:t>
            </a:r>
            <a:endParaRPr lang="ko-KR" altLang="en-US" dirty="0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2F051B6B-BFEE-2F8C-CCC0-5189D7C0C110}"/>
              </a:ext>
            </a:extLst>
          </p:cNvPr>
          <p:cNvSpPr/>
          <p:nvPr/>
        </p:nvSpPr>
        <p:spPr>
          <a:xfrm>
            <a:off x="410812" y="3056603"/>
            <a:ext cx="9021935" cy="533024"/>
          </a:xfrm>
          <a:prstGeom prst="downArrow">
            <a:avLst>
              <a:gd name="adj1" fmla="val 89110"/>
              <a:gd name="adj2" fmla="val 50000"/>
            </a:avLst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EA20F1-FE6B-9897-77BC-0E51DD93A706}"/>
              </a:ext>
            </a:extLst>
          </p:cNvPr>
          <p:cNvSpPr txBox="1"/>
          <p:nvPr/>
        </p:nvSpPr>
        <p:spPr>
          <a:xfrm>
            <a:off x="1807907" y="3030756"/>
            <a:ext cx="6290785" cy="4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Retrofit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수요와 전통 선박 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AM·MRO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사업을 모두 수행할 수 있는 기업에 주목</a:t>
            </a:r>
            <a:endParaRPr lang="en-US" altLang="ko-KR" sz="15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3" name="액자 12">
            <a:extLst>
              <a:ext uri="{FF2B5EF4-FFF2-40B4-BE49-F238E27FC236}">
                <a16:creationId xmlns:a16="http://schemas.microsoft.com/office/drawing/2014/main" id="{B5A5C2CF-F005-006B-FE05-218E41A282F9}"/>
              </a:ext>
            </a:extLst>
          </p:cNvPr>
          <p:cNvSpPr/>
          <p:nvPr/>
        </p:nvSpPr>
        <p:spPr>
          <a:xfrm>
            <a:off x="633860" y="3892119"/>
            <a:ext cx="8638879" cy="1869491"/>
          </a:xfrm>
          <a:prstGeom prst="frame">
            <a:avLst>
              <a:gd name="adj1" fmla="val 6645"/>
            </a:avLst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D4E825B-4F58-110C-1E47-3A658A9F4414}"/>
              </a:ext>
            </a:extLst>
          </p:cNvPr>
          <p:cNvSpPr/>
          <p:nvPr/>
        </p:nvSpPr>
        <p:spPr>
          <a:xfrm>
            <a:off x="2669749" y="3702070"/>
            <a:ext cx="4567101" cy="50823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선박 사후관리 기업 중 상장사가 매우 적은 업황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99696C3-1520-AA4E-D54E-26F248448ED5}"/>
              </a:ext>
            </a:extLst>
          </p:cNvPr>
          <p:cNvSpPr/>
          <p:nvPr/>
        </p:nvSpPr>
        <p:spPr>
          <a:xfrm>
            <a:off x="1483958" y="4204358"/>
            <a:ext cx="6938682" cy="398803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기술력과 수주 소화력을 겸비한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유일무이한 정품 사업자의 지위</a:t>
            </a:r>
            <a:endParaRPr lang="ko-KR" altLang="en-US" sz="1200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4E6AD81B-D8CC-FA99-988A-DFFB9AE04B9A}"/>
              </a:ext>
            </a:extLst>
          </p:cNvPr>
          <p:cNvSpPr/>
          <p:nvPr/>
        </p:nvSpPr>
        <p:spPr>
          <a:xfrm>
            <a:off x="1483958" y="4663956"/>
            <a:ext cx="6938682" cy="398803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HD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현대그룹의 신조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&amp;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기인도 물량이 시장 내 압도적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위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-&gt;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잠재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고객 확보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5ECF2C77-0056-DF2B-9E0C-3AE52DBE391C}"/>
              </a:ext>
            </a:extLst>
          </p:cNvPr>
          <p:cNvSpPr/>
          <p:nvPr/>
        </p:nvSpPr>
        <p:spPr>
          <a:xfrm>
            <a:off x="1483958" y="5123554"/>
            <a:ext cx="6938682" cy="398803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모그룹과의 시너지 → 우호적인 영업환경과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안정적인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매출원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endParaRPr lang="ko-KR" altLang="en-US" sz="1200" dirty="0"/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99A32C0A-8F5B-78C8-9DF1-55A0DC63D7DF}"/>
              </a:ext>
            </a:extLst>
          </p:cNvPr>
          <p:cNvSpPr/>
          <p:nvPr/>
        </p:nvSpPr>
        <p:spPr>
          <a:xfrm rot="10800000">
            <a:off x="3544913" y="5822405"/>
            <a:ext cx="2816773" cy="204096"/>
          </a:xfrm>
          <a:prstGeom prst="triangle">
            <a:avLst>
              <a:gd name="adj" fmla="val 49627"/>
            </a:avLst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761F69-9AFF-15CC-4719-801E7C546A45}"/>
              </a:ext>
            </a:extLst>
          </p:cNvPr>
          <p:cNvSpPr txBox="1"/>
          <p:nvPr/>
        </p:nvSpPr>
        <p:spPr>
          <a:xfrm>
            <a:off x="851456" y="6149063"/>
            <a:ext cx="820368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2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Top Pick : </a:t>
            </a:r>
            <a:r>
              <a:rPr lang="ko-KR" altLang="en-US" sz="22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선박 관리 전 과목 </a:t>
            </a:r>
            <a:r>
              <a:rPr lang="en-US" altLang="ko-KR" sz="22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22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타 강사</a:t>
            </a:r>
            <a:r>
              <a:rPr lang="en-US" altLang="ko-KR" sz="22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HD</a:t>
            </a:r>
            <a:r>
              <a:rPr lang="ko-KR" altLang="en-US" sz="2200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현대마린솔루션</a:t>
            </a:r>
            <a:r>
              <a:rPr lang="en-US" altLang="ko-KR" sz="22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(443060.KS)</a:t>
            </a:r>
          </a:p>
        </p:txBody>
      </p:sp>
      <p:sp>
        <p:nvSpPr>
          <p:cNvPr id="9" name="더하기 기호 8">
            <a:extLst>
              <a:ext uri="{FF2B5EF4-FFF2-40B4-BE49-F238E27FC236}">
                <a16:creationId xmlns:a16="http://schemas.microsoft.com/office/drawing/2014/main" id="{F20049CB-4D1E-14C3-9510-479F2EC61480}"/>
              </a:ext>
            </a:extLst>
          </p:cNvPr>
          <p:cNvSpPr/>
          <p:nvPr/>
        </p:nvSpPr>
        <p:spPr>
          <a:xfrm>
            <a:off x="4719299" y="1721644"/>
            <a:ext cx="468000" cy="468000"/>
          </a:xfrm>
          <a:prstGeom prst="mathPlus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BDF024-5D0F-CD5B-9C71-5522DDA06672}"/>
              </a:ext>
            </a:extLst>
          </p:cNvPr>
          <p:cNvSpPr txBox="1"/>
          <p:nvPr/>
        </p:nvSpPr>
        <p:spPr>
          <a:xfrm>
            <a:off x="273050" y="49730"/>
            <a:ext cx="582730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3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763287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/>
          <p:cNvGrpSpPr/>
          <p:nvPr/>
        </p:nvGrpSpPr>
        <p:grpSpPr>
          <a:xfrm>
            <a:off x="5298801" y="2834840"/>
            <a:ext cx="4607199" cy="4023160"/>
            <a:chOff x="7588612" y="2834840"/>
            <a:chExt cx="4607198" cy="402316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116" b="19268"/>
            <a:stretch/>
          </p:blipFill>
          <p:spPr>
            <a:xfrm>
              <a:off x="7588612" y="2834840"/>
              <a:ext cx="4607198" cy="4023160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8332470" y="3154680"/>
              <a:ext cx="3859530" cy="3703320"/>
            </a:xfrm>
            <a:prstGeom prst="rect">
              <a:avLst/>
            </a:prstGeom>
            <a:solidFill>
              <a:schemeClr val="bg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" name="직각 삼각형 5"/>
          <p:cNvSpPr/>
          <p:nvPr/>
        </p:nvSpPr>
        <p:spPr>
          <a:xfrm rot="5400000">
            <a:off x="4163963" y="-4164315"/>
            <a:ext cx="1578078" cy="9906000"/>
          </a:xfrm>
          <a:prstGeom prst="rt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각 삼각형 6"/>
          <p:cNvSpPr/>
          <p:nvPr/>
        </p:nvSpPr>
        <p:spPr>
          <a:xfrm rot="5400000">
            <a:off x="-2862037" y="2862037"/>
            <a:ext cx="6858002" cy="1133927"/>
          </a:xfrm>
          <a:prstGeom prst="rtTriangle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E480F9-D911-DFBA-18E3-B49FDC1DF3A6}"/>
              </a:ext>
            </a:extLst>
          </p:cNvPr>
          <p:cNvSpPr txBox="1"/>
          <p:nvPr/>
        </p:nvSpPr>
        <p:spPr>
          <a:xfrm>
            <a:off x="920074" y="1761687"/>
            <a:ext cx="9517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spcAft>
                <a:spcPts val="800"/>
              </a:spcAft>
              <a:tabLst>
                <a:tab pos="1371566" algn="l"/>
              </a:tabLst>
            </a:pPr>
            <a:r>
              <a:rPr lang="ko-KR" altLang="ko-KR" sz="4000" b="1" kern="100" dirty="0" err="1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r>
              <a:rPr lang="en-US" altLang="ko-KR" sz="40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Investment Point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C2581A-431A-F7DC-F8DC-59B843371026}"/>
              </a:ext>
            </a:extLst>
          </p:cNvPr>
          <p:cNvSpPr txBox="1"/>
          <p:nvPr/>
        </p:nvSpPr>
        <p:spPr>
          <a:xfrm>
            <a:off x="1070085" y="2996810"/>
            <a:ext cx="6615427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내게 꼭 맞는 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Fit, “Retrofit”</a:t>
            </a:r>
          </a:p>
          <a:p>
            <a:endParaRPr lang="en-US" altLang="ko-KR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2. I “AM” </a:t>
            </a:r>
            <a:r>
              <a:rPr lang="ko-KR" altLang="en-US" sz="24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신뢰에요</a:t>
            </a:r>
            <a:endParaRPr lang="en-US" altLang="ko-KR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3318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C6A0B-EF7E-D503-444D-FFF3E92BD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162FE6B-61B8-E90A-BC34-C8105CE3857C}"/>
              </a:ext>
            </a:extLst>
          </p:cNvPr>
          <p:cNvSpPr/>
          <p:nvPr/>
        </p:nvSpPr>
        <p:spPr>
          <a:xfrm>
            <a:off x="0" y="6629399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32DE72-C8C4-C607-3919-038DA77DC7F3}"/>
              </a:ext>
            </a:extLst>
          </p:cNvPr>
          <p:cNvSpPr txBox="1"/>
          <p:nvPr/>
        </p:nvSpPr>
        <p:spPr>
          <a:xfrm>
            <a:off x="446293" y="1417618"/>
            <a:ext cx="9001125" cy="1685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LNG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업황의 성장 →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LNG </a:t>
            </a: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운반량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상승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+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환경 규제 강화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=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재액화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FSU, FSRU</a:t>
            </a:r>
          </a:p>
          <a:p>
            <a:pPr>
              <a:lnSpc>
                <a:spcPct val="150000"/>
              </a:lnSpc>
            </a:pPr>
            <a:endParaRPr lang="en-US" altLang="ko-KR" sz="7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  </a:t>
            </a:r>
            <a:r>
              <a:rPr lang="ko-KR" altLang="en-US" sz="15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① 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재액화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’26E 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매출액 </a:t>
            </a:r>
            <a:r>
              <a:rPr lang="en-US" altLang="ko-KR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857</a:t>
            </a:r>
            <a:r>
              <a:rPr lang="ko-KR" altLang="en-US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억 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원</a:t>
            </a:r>
            <a:endParaRPr lang="en-US" altLang="ko-KR" sz="12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3/4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세대 디젤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D/F, T/F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운항 선대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218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척 중 약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70%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가 ‘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26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년부터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CII C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등급 이하에 해당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→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D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등급 이하부터는 개선 계획 제출과 이행 의무화</a:t>
            </a: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 → 연간효율성지수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(AER)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9%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이상 개선이 가능한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재액화 개조 수요 증가 전망</a:t>
            </a: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10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척의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LNGC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재액화 수주 중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척을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4Q24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에 완료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현재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7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척이 진행 중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동사의 재액화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CAPA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는 충분</a:t>
            </a: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7F32B8-8639-9663-1354-F33454FEDF48}"/>
              </a:ext>
            </a:extLst>
          </p:cNvPr>
          <p:cNvSpPr txBox="1"/>
          <p:nvPr/>
        </p:nvSpPr>
        <p:spPr>
          <a:xfrm>
            <a:off x="742518" y="704891"/>
            <a:ext cx="5781374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spcAft>
                <a:spcPts val="800"/>
              </a:spcAft>
              <a:tabLst>
                <a:tab pos="1371566" algn="l"/>
              </a:tabLst>
            </a:pPr>
            <a:r>
              <a:rPr lang="en-US" altLang="ko-KR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Investment Point 1. </a:t>
            </a:r>
            <a:r>
              <a:rPr lang="ko-KR" altLang="en-US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내게 꼭 맞는 </a:t>
            </a:r>
            <a:r>
              <a:rPr lang="en-US" altLang="ko-KR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Fit, “Retrofit”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DA47D91-ABFF-EF48-87A2-FF1D563E06ED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DD9F3C-A7BF-5A0C-A670-34A5825BFF01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1.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LNGC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에도 친환경 붐은 온다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8BDA6C-E1BA-6661-DCB1-9891A28B82DC}"/>
              </a:ext>
            </a:extLst>
          </p:cNvPr>
          <p:cNvSpPr txBox="1"/>
          <p:nvPr/>
        </p:nvSpPr>
        <p:spPr>
          <a:xfrm>
            <a:off x="5081060" y="6275124"/>
            <a:ext cx="41377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IMO,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                       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E3C96-5165-0291-5AE4-ED7980E7EBBB}"/>
              </a:ext>
            </a:extLst>
          </p:cNvPr>
          <p:cNvSpPr txBox="1"/>
          <p:nvPr/>
        </p:nvSpPr>
        <p:spPr>
          <a:xfrm>
            <a:off x="440510" y="6273188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RFS Team 2                                                              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242E2B63-E53B-662B-3AF7-53EB4FAD6308}"/>
              </a:ext>
            </a:extLst>
          </p:cNvPr>
          <p:cNvSpPr/>
          <p:nvPr/>
        </p:nvSpPr>
        <p:spPr>
          <a:xfrm flipV="1">
            <a:off x="1" y="372394"/>
            <a:ext cx="9906000" cy="103856"/>
          </a:xfrm>
          <a:custGeom>
            <a:avLst/>
            <a:gdLst/>
            <a:ahLst/>
            <a:cxnLst/>
            <a:rect l="l" t="t" r="r" b="b"/>
            <a:pathLst>
              <a:path w="11421110">
                <a:moveTo>
                  <a:pt x="0" y="0"/>
                </a:moveTo>
                <a:lnTo>
                  <a:pt x="11420856" y="0"/>
                </a:lnTo>
              </a:path>
            </a:pathLst>
          </a:custGeom>
          <a:ln w="28575">
            <a:solidFill>
              <a:srgbClr val="002B5C"/>
            </a:solidFill>
          </a:ln>
        </p:spPr>
        <p:txBody>
          <a:bodyPr wrap="square" lIns="0" tIns="0" rIns="0" bIns="0" rtlCol="0"/>
          <a:lstStyle/>
          <a:p>
            <a:endParaRPr sz="135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F94031A-0656-EE25-43E4-EB774CB2F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470383"/>
              </p:ext>
            </p:extLst>
          </p:nvPr>
        </p:nvGraphicFramePr>
        <p:xfrm>
          <a:off x="346960" y="3517635"/>
          <a:ext cx="4500001" cy="2332745"/>
        </p:xfrm>
        <a:graphic>
          <a:graphicData uri="http://schemas.openxmlformats.org/drawingml/2006/table">
            <a:tbl>
              <a:tblPr firstRow="1" firstCol="1" bandRow="1"/>
              <a:tblGrid>
                <a:gridCol w="1798860">
                  <a:extLst>
                    <a:ext uri="{9D8B030D-6E8A-4147-A177-3AD203B41FA5}">
                      <a16:colId xmlns:a16="http://schemas.microsoft.com/office/drawing/2014/main" val="10041898"/>
                    </a:ext>
                  </a:extLst>
                </a:gridCol>
                <a:gridCol w="676271">
                  <a:extLst>
                    <a:ext uri="{9D8B030D-6E8A-4147-A177-3AD203B41FA5}">
                      <a16:colId xmlns:a16="http://schemas.microsoft.com/office/drawing/2014/main" val="4003775001"/>
                    </a:ext>
                  </a:extLst>
                </a:gridCol>
                <a:gridCol w="676271">
                  <a:extLst>
                    <a:ext uri="{9D8B030D-6E8A-4147-A177-3AD203B41FA5}">
                      <a16:colId xmlns:a16="http://schemas.microsoft.com/office/drawing/2014/main" val="3506840276"/>
                    </a:ext>
                  </a:extLst>
                </a:gridCol>
                <a:gridCol w="676271">
                  <a:extLst>
                    <a:ext uri="{9D8B030D-6E8A-4147-A177-3AD203B41FA5}">
                      <a16:colId xmlns:a16="http://schemas.microsoft.com/office/drawing/2014/main" val="1885637749"/>
                    </a:ext>
                  </a:extLst>
                </a:gridCol>
                <a:gridCol w="672328">
                  <a:extLst>
                    <a:ext uri="{9D8B030D-6E8A-4147-A177-3AD203B41FA5}">
                      <a16:colId xmlns:a16="http://schemas.microsoft.com/office/drawing/2014/main" val="50975174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단위</a:t>
                      </a: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: </a:t>
                      </a:r>
                      <a:r>
                        <a:rPr lang="ko-KR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억 원</a:t>
                      </a: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/Mn $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1Q26E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2Q26E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3Q26E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4Q26E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056269"/>
                  </a:ext>
                </a:extLst>
              </a:tr>
              <a:tr h="547253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재액화 매출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(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억 원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)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184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209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232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232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133485"/>
                  </a:ext>
                </a:extLst>
              </a:tr>
              <a:tr h="547253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of Retrofit Revenue(%)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31.3%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35.4%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33.9%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32.8%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60234"/>
                  </a:ext>
                </a:extLst>
              </a:tr>
              <a:tr h="547253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재액화 수주 잔고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(Mn $)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53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58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62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65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604162"/>
                  </a:ext>
                </a:extLst>
              </a:tr>
              <a:tr h="330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매출 전환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(Mn $)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13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15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17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17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977198"/>
                  </a:ext>
                </a:extLst>
              </a:tr>
            </a:tbl>
          </a:graphicData>
        </a:graphic>
      </p:graphicFrame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F9052909-60CC-8844-678D-7FF4695B3A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3846447"/>
              </p:ext>
            </p:extLst>
          </p:nvPr>
        </p:nvGraphicFramePr>
        <p:xfrm>
          <a:off x="5193166" y="3286897"/>
          <a:ext cx="4556314" cy="28908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3D20BC3-E83B-73A9-D0C1-C1136FD5CE6E}"/>
              </a:ext>
            </a:extLst>
          </p:cNvPr>
          <p:cNvSpPr txBox="1"/>
          <p:nvPr/>
        </p:nvSpPr>
        <p:spPr>
          <a:xfrm>
            <a:off x="270760" y="3242994"/>
            <a:ext cx="4500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’26E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재액화 매출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4D48E2-BBDD-7B75-E404-39F71BCEF9B6}"/>
              </a:ext>
            </a:extLst>
          </p:cNvPr>
          <p:cNvSpPr txBox="1"/>
          <p:nvPr/>
        </p:nvSpPr>
        <p:spPr>
          <a:xfrm>
            <a:off x="5161063" y="3239614"/>
            <a:ext cx="4500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’24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전체 선박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CII 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검증 결과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677B76-F6AB-7037-EEAF-55AD0E6ABCB3}"/>
              </a:ext>
            </a:extLst>
          </p:cNvPr>
          <p:cNvSpPr txBox="1"/>
          <p:nvPr/>
        </p:nvSpPr>
        <p:spPr>
          <a:xfrm>
            <a:off x="273050" y="49730"/>
            <a:ext cx="582730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3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Investment Point </a:t>
            </a:r>
          </a:p>
        </p:txBody>
      </p:sp>
    </p:spTree>
    <p:extLst>
      <p:ext uri="{BB962C8B-B14F-4D97-AF65-F5344CB8AC3E}">
        <p14:creationId xmlns:p14="http://schemas.microsoft.com/office/powerpoint/2010/main" val="455058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947DC-C3F7-AF59-DE85-BE1AF7B13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EDDF9CB-B294-2524-6C36-7726F0EF71F1}"/>
              </a:ext>
            </a:extLst>
          </p:cNvPr>
          <p:cNvSpPr/>
          <p:nvPr/>
        </p:nvSpPr>
        <p:spPr>
          <a:xfrm>
            <a:off x="0" y="6629399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9EAAB2-E8D9-2BC6-581D-0A871C39BB34}"/>
              </a:ext>
            </a:extLst>
          </p:cNvPr>
          <p:cNvSpPr txBox="1"/>
          <p:nvPr/>
        </p:nvSpPr>
        <p:spPr>
          <a:xfrm>
            <a:off x="394530" y="1403448"/>
            <a:ext cx="9281905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연간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척의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FSU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 소화할 수 있는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CAPA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 보유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/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이미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척의 수주를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9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개월만에 조기 완공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/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현재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척의 수주 잔고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FSU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는 단순 액화저장 기능만 수행하기에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상대적으로 짧은 공기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→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발주 리드타임을 줄이는 요소로 작용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FSU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부문의 성장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8499989-2383-F461-945A-DFE96F431BFB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958708-C1CD-6051-36C0-DCA916527799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② FSU: ’26E 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매출액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185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억 원</a:t>
            </a: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A774A9-9EF3-F24A-F68F-F85665189515}"/>
              </a:ext>
            </a:extLst>
          </p:cNvPr>
          <p:cNvSpPr txBox="1"/>
          <p:nvPr/>
        </p:nvSpPr>
        <p:spPr>
          <a:xfrm>
            <a:off x="5081061" y="6167402"/>
            <a:ext cx="41377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                                       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653387-FFCB-B513-423A-3F72514DC452}"/>
              </a:ext>
            </a:extLst>
          </p:cNvPr>
          <p:cNvSpPr txBox="1"/>
          <p:nvPr/>
        </p:nvSpPr>
        <p:spPr>
          <a:xfrm>
            <a:off x="407032" y="6153109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RFS Team 2                                                                       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46FB03-244B-C59B-7BE7-7DF35D147540}"/>
              </a:ext>
            </a:extLst>
          </p:cNvPr>
          <p:cNvSpPr txBox="1"/>
          <p:nvPr/>
        </p:nvSpPr>
        <p:spPr>
          <a:xfrm>
            <a:off x="394530" y="2409801"/>
            <a:ext cx="9281905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동사의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ASP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는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억 달러 내외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연간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척의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FSRU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시공 가능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단기적 관점에서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FSRU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보다는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FSU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개조와 재액화 개조 사업 성장을 기대하는 것이 더 현실적이지만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중장기적 관점에서 글로벌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LNGC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투자 확대 모멘텀에 따라 선주들의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FSRU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개조 사업 수주 기대</a:t>
            </a: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0D5A7-266D-661A-5A71-DBF0C3D09EAA}"/>
              </a:ext>
            </a:extLst>
          </p:cNvPr>
          <p:cNvSpPr txBox="1"/>
          <p:nvPr/>
        </p:nvSpPr>
        <p:spPr>
          <a:xfrm>
            <a:off x="504392" y="2168601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③ FSRU: ’26E 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매출액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816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억 원</a:t>
            </a: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87EB95-92CE-5C85-9362-AB722FC478B4}"/>
              </a:ext>
            </a:extLst>
          </p:cNvPr>
          <p:cNvSpPr/>
          <p:nvPr/>
        </p:nvSpPr>
        <p:spPr>
          <a:xfrm flipV="1">
            <a:off x="1" y="372394"/>
            <a:ext cx="9906000" cy="103856"/>
          </a:xfrm>
          <a:custGeom>
            <a:avLst/>
            <a:gdLst/>
            <a:ahLst/>
            <a:cxnLst/>
            <a:rect l="l" t="t" r="r" b="b"/>
            <a:pathLst>
              <a:path w="11421110">
                <a:moveTo>
                  <a:pt x="0" y="0"/>
                </a:moveTo>
                <a:lnTo>
                  <a:pt x="11420856" y="0"/>
                </a:lnTo>
              </a:path>
            </a:pathLst>
          </a:custGeom>
          <a:ln w="28575">
            <a:solidFill>
              <a:srgbClr val="002B5C"/>
            </a:solidFill>
          </a:ln>
        </p:spPr>
        <p:txBody>
          <a:bodyPr wrap="square" lIns="0" tIns="0" rIns="0" bIns="0" rtlCol="0"/>
          <a:lstStyle/>
          <a:p>
            <a:endParaRPr sz="135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A61013-15B4-D952-1EF9-37DF47E33E21}"/>
              </a:ext>
            </a:extLst>
          </p:cNvPr>
          <p:cNvSpPr txBox="1"/>
          <p:nvPr/>
        </p:nvSpPr>
        <p:spPr>
          <a:xfrm>
            <a:off x="273050" y="49730"/>
            <a:ext cx="582730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3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Investment Point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CCC6A9-578D-6640-2BB4-D058771CA54D}"/>
              </a:ext>
            </a:extLst>
          </p:cNvPr>
          <p:cNvSpPr txBox="1"/>
          <p:nvPr/>
        </p:nvSpPr>
        <p:spPr>
          <a:xfrm>
            <a:off x="742518" y="704891"/>
            <a:ext cx="5781374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spcAft>
                <a:spcPts val="800"/>
              </a:spcAft>
              <a:tabLst>
                <a:tab pos="1371566" algn="l"/>
              </a:tabLst>
            </a:pPr>
            <a:r>
              <a:rPr lang="en-US" altLang="ko-KR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Investment Point 1. </a:t>
            </a:r>
            <a:r>
              <a:rPr lang="ko-KR" altLang="en-US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내게 꼭 맞는 </a:t>
            </a:r>
            <a:r>
              <a:rPr lang="en-US" altLang="ko-KR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Fit, “Retrofit”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3B114CF-56C0-E24F-0B2B-88134FEB7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438767"/>
              </p:ext>
            </p:extLst>
          </p:nvPr>
        </p:nvGraphicFramePr>
        <p:xfrm>
          <a:off x="305688" y="3647402"/>
          <a:ext cx="4499999" cy="2376000"/>
        </p:xfrm>
        <a:graphic>
          <a:graphicData uri="http://schemas.openxmlformats.org/drawingml/2006/table">
            <a:tbl>
              <a:tblPr firstRow="1" firstCol="1" bandRow="1"/>
              <a:tblGrid>
                <a:gridCol w="1583728">
                  <a:extLst>
                    <a:ext uri="{9D8B030D-6E8A-4147-A177-3AD203B41FA5}">
                      <a16:colId xmlns:a16="http://schemas.microsoft.com/office/drawing/2014/main" val="4144816354"/>
                    </a:ext>
                  </a:extLst>
                </a:gridCol>
                <a:gridCol w="730132">
                  <a:extLst>
                    <a:ext uri="{9D8B030D-6E8A-4147-A177-3AD203B41FA5}">
                      <a16:colId xmlns:a16="http://schemas.microsoft.com/office/drawing/2014/main" val="3486711482"/>
                    </a:ext>
                  </a:extLst>
                </a:gridCol>
                <a:gridCol w="730132">
                  <a:extLst>
                    <a:ext uri="{9D8B030D-6E8A-4147-A177-3AD203B41FA5}">
                      <a16:colId xmlns:a16="http://schemas.microsoft.com/office/drawing/2014/main" val="1417682478"/>
                    </a:ext>
                  </a:extLst>
                </a:gridCol>
                <a:gridCol w="730132">
                  <a:extLst>
                    <a:ext uri="{9D8B030D-6E8A-4147-A177-3AD203B41FA5}">
                      <a16:colId xmlns:a16="http://schemas.microsoft.com/office/drawing/2014/main" val="3522009816"/>
                    </a:ext>
                  </a:extLst>
                </a:gridCol>
                <a:gridCol w="725875">
                  <a:extLst>
                    <a:ext uri="{9D8B030D-6E8A-4147-A177-3AD203B41FA5}">
                      <a16:colId xmlns:a16="http://schemas.microsoft.com/office/drawing/2014/main" val="218331898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단위</a:t>
                      </a: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: </a:t>
                      </a:r>
                      <a:r>
                        <a:rPr lang="ko-KR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억 원</a:t>
                      </a: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/Mn $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1Q26E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2Q26E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3Q26E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4Q26E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7877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FSU </a:t>
                      </a:r>
                      <a:r>
                        <a:rPr lang="ko-KR" sz="12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매출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(</a:t>
                      </a:r>
                      <a:r>
                        <a:rPr lang="ko-KR" sz="12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억 원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)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23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46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46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69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62965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of Retrofit Revenue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3.9%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7.9%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6.8%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9.8%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10459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FSU 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수주 잔고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16.7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28.3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23.3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66775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2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매출 전환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(Mn $)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1.7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3.3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3.3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836283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DF9C128-F60B-53B6-41E6-A8C8C297C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828972"/>
              </p:ext>
            </p:extLst>
          </p:nvPr>
        </p:nvGraphicFramePr>
        <p:xfrm>
          <a:off x="5004954" y="3638151"/>
          <a:ext cx="4499999" cy="2376000"/>
        </p:xfrm>
        <a:graphic>
          <a:graphicData uri="http://schemas.openxmlformats.org/drawingml/2006/table">
            <a:tbl>
              <a:tblPr firstRow="1" firstCol="1" bandRow="1"/>
              <a:tblGrid>
                <a:gridCol w="1583728">
                  <a:extLst>
                    <a:ext uri="{9D8B030D-6E8A-4147-A177-3AD203B41FA5}">
                      <a16:colId xmlns:a16="http://schemas.microsoft.com/office/drawing/2014/main" val="557559749"/>
                    </a:ext>
                  </a:extLst>
                </a:gridCol>
                <a:gridCol w="730132">
                  <a:extLst>
                    <a:ext uri="{9D8B030D-6E8A-4147-A177-3AD203B41FA5}">
                      <a16:colId xmlns:a16="http://schemas.microsoft.com/office/drawing/2014/main" val="1209913115"/>
                    </a:ext>
                  </a:extLst>
                </a:gridCol>
                <a:gridCol w="730132">
                  <a:extLst>
                    <a:ext uri="{9D8B030D-6E8A-4147-A177-3AD203B41FA5}">
                      <a16:colId xmlns:a16="http://schemas.microsoft.com/office/drawing/2014/main" val="574804130"/>
                    </a:ext>
                  </a:extLst>
                </a:gridCol>
                <a:gridCol w="730132">
                  <a:extLst>
                    <a:ext uri="{9D8B030D-6E8A-4147-A177-3AD203B41FA5}">
                      <a16:colId xmlns:a16="http://schemas.microsoft.com/office/drawing/2014/main" val="1630255605"/>
                    </a:ext>
                  </a:extLst>
                </a:gridCol>
                <a:gridCol w="725875">
                  <a:extLst>
                    <a:ext uri="{9D8B030D-6E8A-4147-A177-3AD203B41FA5}">
                      <a16:colId xmlns:a16="http://schemas.microsoft.com/office/drawing/2014/main" val="26870004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단위</a:t>
                      </a: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: </a:t>
                      </a:r>
                      <a:r>
                        <a:rPr lang="ko-KR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억 원</a:t>
                      </a: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/Mn $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1Q26E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2Q26E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3Q26E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4Q26E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59418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FSRU 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매출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(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억 원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)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239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191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193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193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78154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of Retrofit Revenue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40.5%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32.4%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28.1%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27.3%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44786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FSRU 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수주 잔고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83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69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55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142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2169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2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매출 전환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(Mn $)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17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14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14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14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16120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FC63116-ED99-7809-A090-845F59EF5FF5}"/>
              </a:ext>
            </a:extLst>
          </p:cNvPr>
          <p:cNvSpPr txBox="1"/>
          <p:nvPr/>
        </p:nvSpPr>
        <p:spPr>
          <a:xfrm>
            <a:off x="167989" y="3369987"/>
            <a:ext cx="4500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’26E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FSU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매출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7C7391-FD51-9EC4-F31C-318EA2F0758D}"/>
              </a:ext>
            </a:extLst>
          </p:cNvPr>
          <p:cNvSpPr txBox="1"/>
          <p:nvPr/>
        </p:nvSpPr>
        <p:spPr>
          <a:xfrm>
            <a:off x="4989712" y="3374227"/>
            <a:ext cx="4500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’26E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FSRU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매출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2236105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45624-11D2-D2B9-C0BC-CCB5BB2C6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3E3D452-5693-2FF8-DFE2-9ED956D03C63}"/>
              </a:ext>
            </a:extLst>
          </p:cNvPr>
          <p:cNvSpPr/>
          <p:nvPr/>
        </p:nvSpPr>
        <p:spPr>
          <a:xfrm>
            <a:off x="0" y="6629399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25A454D-B29C-C27D-3AB8-374C3F7CBC1D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3FABEB-C6FD-127D-31EE-303451D3BC45}"/>
              </a:ext>
            </a:extLst>
          </p:cNvPr>
          <p:cNvSpPr txBox="1"/>
          <p:nvPr/>
        </p:nvSpPr>
        <p:spPr>
          <a:xfrm>
            <a:off x="504393" y="1079142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2. 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엔진 개조 사업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UP! UP! UP! It’s Our Moment!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009C89-75E3-61E3-2F9C-B9FA7DEA5647}"/>
              </a:ext>
            </a:extLst>
          </p:cNvPr>
          <p:cNvSpPr txBox="1"/>
          <p:nvPr/>
        </p:nvSpPr>
        <p:spPr>
          <a:xfrm>
            <a:off x="5081061" y="6167402"/>
            <a:ext cx="41377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B58941-6843-CEF1-6145-2B451A147402}"/>
              </a:ext>
            </a:extLst>
          </p:cNvPr>
          <p:cNvSpPr txBox="1"/>
          <p:nvPr/>
        </p:nvSpPr>
        <p:spPr>
          <a:xfrm>
            <a:off x="460147" y="6153109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RFS Team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D36758-00D2-5C06-7264-63C32F8C360B}"/>
              </a:ext>
            </a:extLst>
          </p:cNvPr>
          <p:cNvSpPr txBox="1"/>
          <p:nvPr/>
        </p:nvSpPr>
        <p:spPr>
          <a:xfrm>
            <a:off x="580498" y="1460134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① EPLO: ’26E 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매출액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297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억 원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82CAB7-B324-FAC7-7B4B-0F92A1CD501B}"/>
              </a:ext>
            </a:extLst>
          </p:cNvPr>
          <p:cNvSpPr txBox="1"/>
          <p:nvPr/>
        </p:nvSpPr>
        <p:spPr>
          <a:xfrm>
            <a:off x="742518" y="1730730"/>
            <a:ext cx="9281905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IMO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 환경 규제 강화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(EEXI)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인해 많은 선박들이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EPL(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엔진 출력 제한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을 적용 →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EPLO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수요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증가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ROI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가 빠르기에 선주들의 의사결정 속도도 빠른 편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/‘27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이후에는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탄소세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부과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규제 강화와 함께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Q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성장세도 가속화될 것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61A2F6-90F6-DA3A-FD56-8C779103D70A}"/>
              </a:ext>
            </a:extLst>
          </p:cNvPr>
          <p:cNvSpPr txBox="1"/>
          <p:nvPr/>
        </p:nvSpPr>
        <p:spPr>
          <a:xfrm>
            <a:off x="580498" y="2383963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② D/F 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엔진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’26E 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매출액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139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억 원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8E5BEA-D597-CFD6-1FDA-3E5F955D4FEE}"/>
              </a:ext>
            </a:extLst>
          </p:cNvPr>
          <p:cNvSpPr txBox="1"/>
          <p:nvPr/>
        </p:nvSpPr>
        <p:spPr>
          <a:xfrm>
            <a:off x="742519" y="2656758"/>
            <a:ext cx="9281905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‘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26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하반기부터는 수주가 본격화되고 ‘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27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년부터 그 수주가 급등하며 동사의 성장을 견인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D/F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엔진 개조 사업은 디젤 엔진 대비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1.5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배 이상의 높은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ASP</a:t>
            </a: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A91492B5-989A-907C-C0FC-9CBB646D6709}"/>
              </a:ext>
            </a:extLst>
          </p:cNvPr>
          <p:cNvSpPr/>
          <p:nvPr/>
        </p:nvSpPr>
        <p:spPr>
          <a:xfrm flipV="1">
            <a:off x="1" y="372394"/>
            <a:ext cx="9906000" cy="103856"/>
          </a:xfrm>
          <a:custGeom>
            <a:avLst/>
            <a:gdLst/>
            <a:ahLst/>
            <a:cxnLst/>
            <a:rect l="l" t="t" r="r" b="b"/>
            <a:pathLst>
              <a:path w="11421110">
                <a:moveTo>
                  <a:pt x="0" y="0"/>
                </a:moveTo>
                <a:lnTo>
                  <a:pt x="11420856" y="0"/>
                </a:lnTo>
              </a:path>
            </a:pathLst>
          </a:custGeom>
          <a:ln w="28575">
            <a:solidFill>
              <a:srgbClr val="002B5C"/>
            </a:solidFill>
          </a:ln>
        </p:spPr>
        <p:txBody>
          <a:bodyPr wrap="square" lIns="0" tIns="0" rIns="0" bIns="0" rtlCol="0"/>
          <a:lstStyle/>
          <a:p>
            <a:endParaRPr sz="135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465226-5C31-9FFC-DFC2-008522E85A47}"/>
              </a:ext>
            </a:extLst>
          </p:cNvPr>
          <p:cNvSpPr txBox="1"/>
          <p:nvPr/>
        </p:nvSpPr>
        <p:spPr>
          <a:xfrm>
            <a:off x="273050" y="49730"/>
            <a:ext cx="582730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3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Investment Point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5567FC-3134-0E9E-97E7-6B26C14EE21A}"/>
              </a:ext>
            </a:extLst>
          </p:cNvPr>
          <p:cNvSpPr txBox="1"/>
          <p:nvPr/>
        </p:nvSpPr>
        <p:spPr>
          <a:xfrm>
            <a:off x="742518" y="704891"/>
            <a:ext cx="5781374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spcAft>
                <a:spcPts val="800"/>
              </a:spcAft>
              <a:tabLst>
                <a:tab pos="1371566" algn="l"/>
              </a:tabLst>
            </a:pPr>
            <a:r>
              <a:rPr lang="en-US" altLang="ko-KR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Investment Point 1. </a:t>
            </a:r>
            <a:r>
              <a:rPr lang="ko-KR" altLang="en-US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내게 꼭 맞는 </a:t>
            </a:r>
            <a:r>
              <a:rPr lang="en-US" altLang="ko-KR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Fit, “Retrofit”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9E30B8-6334-EB5B-332B-5934D66B8E88}"/>
              </a:ext>
            </a:extLst>
          </p:cNvPr>
          <p:cNvSpPr txBox="1"/>
          <p:nvPr/>
        </p:nvSpPr>
        <p:spPr>
          <a:xfrm>
            <a:off x="167989" y="3369987"/>
            <a:ext cx="4500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’26E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EPLO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매출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Table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B596E2-E6C0-2DB6-B40E-E21F7677E344}"/>
              </a:ext>
            </a:extLst>
          </p:cNvPr>
          <p:cNvSpPr txBox="1"/>
          <p:nvPr/>
        </p:nvSpPr>
        <p:spPr>
          <a:xfrm>
            <a:off x="4989712" y="3374227"/>
            <a:ext cx="4500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’26E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D/F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매출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Table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7ED79277-83D2-8D13-7383-D327FC5C52DC}"/>
              </a:ext>
            </a:extLst>
          </p:cNvPr>
          <p:cNvGraphicFramePr>
            <a:graphicFrameLocks noGrp="1"/>
          </p:cNvGraphicFramePr>
          <p:nvPr/>
        </p:nvGraphicFramePr>
        <p:xfrm>
          <a:off x="273050" y="3652474"/>
          <a:ext cx="4500000" cy="2460000"/>
        </p:xfrm>
        <a:graphic>
          <a:graphicData uri="http://schemas.openxmlformats.org/drawingml/2006/table">
            <a:tbl>
              <a:tblPr firstRow="1" firstCol="1" bandRow="1"/>
              <a:tblGrid>
                <a:gridCol w="1663662">
                  <a:extLst>
                    <a:ext uri="{9D8B030D-6E8A-4147-A177-3AD203B41FA5}">
                      <a16:colId xmlns:a16="http://schemas.microsoft.com/office/drawing/2014/main" val="2805413136"/>
                    </a:ext>
                  </a:extLst>
                </a:gridCol>
                <a:gridCol w="707988">
                  <a:extLst>
                    <a:ext uri="{9D8B030D-6E8A-4147-A177-3AD203B41FA5}">
                      <a16:colId xmlns:a16="http://schemas.microsoft.com/office/drawing/2014/main" val="4253946430"/>
                    </a:ext>
                  </a:extLst>
                </a:gridCol>
                <a:gridCol w="712372">
                  <a:extLst>
                    <a:ext uri="{9D8B030D-6E8A-4147-A177-3AD203B41FA5}">
                      <a16:colId xmlns:a16="http://schemas.microsoft.com/office/drawing/2014/main" val="1501113669"/>
                    </a:ext>
                  </a:extLst>
                </a:gridCol>
                <a:gridCol w="712372">
                  <a:extLst>
                    <a:ext uri="{9D8B030D-6E8A-4147-A177-3AD203B41FA5}">
                      <a16:colId xmlns:a16="http://schemas.microsoft.com/office/drawing/2014/main" val="432565507"/>
                    </a:ext>
                  </a:extLst>
                </a:gridCol>
                <a:gridCol w="703606">
                  <a:extLst>
                    <a:ext uri="{9D8B030D-6E8A-4147-A177-3AD203B41FA5}">
                      <a16:colId xmlns:a16="http://schemas.microsoft.com/office/drawing/2014/main" val="163809173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단위</a:t>
                      </a: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: </a:t>
                      </a:r>
                      <a:r>
                        <a:rPr lang="ko-KR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억 원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1Q26E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2Q26E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3Q26E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4Q26E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52318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EPLO </a:t>
                      </a:r>
                      <a:r>
                        <a:rPr lang="ko-KR" sz="12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매출</a:t>
                      </a: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(</a:t>
                      </a:r>
                      <a:r>
                        <a:rPr lang="ko-KR" sz="12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억 원</a:t>
                      </a: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)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74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74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74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74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26925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10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of Retrofit Revenue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10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12.5%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10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12.6%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10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10.9%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10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10.5%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738756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EPLO </a:t>
                      </a:r>
                      <a:r>
                        <a:rPr lang="ko-KR" sz="12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수주 잔고</a:t>
                      </a: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(Mn $)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91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106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120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135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99131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선박 수</a:t>
                      </a: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(</a:t>
                      </a:r>
                      <a:r>
                        <a:rPr lang="ko-KR" sz="12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척</a:t>
                      </a: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)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148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168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188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208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89062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매출 전환</a:t>
                      </a:r>
                      <a:r>
                        <a:rPr lang="en-US" sz="1200" kern="10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(Mn $)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5.3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5.3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5.3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5.3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364574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74F7BEB2-3AEE-106C-4D89-660A6BE23270}"/>
              </a:ext>
            </a:extLst>
          </p:cNvPr>
          <p:cNvGraphicFramePr>
            <a:graphicFrameLocks noGrp="1"/>
          </p:cNvGraphicFramePr>
          <p:nvPr/>
        </p:nvGraphicFramePr>
        <p:xfrm>
          <a:off x="5041516" y="3652474"/>
          <a:ext cx="4464001" cy="2461332"/>
        </p:xfrm>
        <a:graphic>
          <a:graphicData uri="http://schemas.openxmlformats.org/drawingml/2006/table">
            <a:tbl>
              <a:tblPr firstRow="1" firstCol="1" bandRow="1"/>
              <a:tblGrid>
                <a:gridCol w="1536179">
                  <a:extLst>
                    <a:ext uri="{9D8B030D-6E8A-4147-A177-3AD203B41FA5}">
                      <a16:colId xmlns:a16="http://schemas.microsoft.com/office/drawing/2014/main" val="3793053177"/>
                    </a:ext>
                  </a:extLst>
                </a:gridCol>
                <a:gridCol w="730923">
                  <a:extLst>
                    <a:ext uri="{9D8B030D-6E8A-4147-A177-3AD203B41FA5}">
                      <a16:colId xmlns:a16="http://schemas.microsoft.com/office/drawing/2014/main" val="3360892984"/>
                    </a:ext>
                  </a:extLst>
                </a:gridCol>
                <a:gridCol w="732988">
                  <a:extLst>
                    <a:ext uri="{9D8B030D-6E8A-4147-A177-3AD203B41FA5}">
                      <a16:colId xmlns:a16="http://schemas.microsoft.com/office/drawing/2014/main" val="2804911049"/>
                    </a:ext>
                  </a:extLst>
                </a:gridCol>
                <a:gridCol w="732988">
                  <a:extLst>
                    <a:ext uri="{9D8B030D-6E8A-4147-A177-3AD203B41FA5}">
                      <a16:colId xmlns:a16="http://schemas.microsoft.com/office/drawing/2014/main" val="1654886642"/>
                    </a:ext>
                  </a:extLst>
                </a:gridCol>
                <a:gridCol w="730923">
                  <a:extLst>
                    <a:ext uri="{9D8B030D-6E8A-4147-A177-3AD203B41FA5}">
                      <a16:colId xmlns:a16="http://schemas.microsoft.com/office/drawing/2014/main" val="262639163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단위</a:t>
                      </a: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: </a:t>
                      </a:r>
                      <a:r>
                        <a:rPr lang="ko-KR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억 원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1Q26E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2Q26E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3Q26E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4Q26E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778669"/>
                  </a:ext>
                </a:extLst>
              </a:tr>
              <a:tr h="525333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D/F </a:t>
                      </a:r>
                      <a:r>
                        <a:rPr lang="ko-KR" sz="12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매출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(</a:t>
                      </a:r>
                      <a:r>
                        <a:rPr lang="ko-KR" sz="12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억 원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)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 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 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70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69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202893"/>
                  </a:ext>
                </a:extLst>
              </a:tr>
              <a:tr h="525333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of Retrofit Revenue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 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 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10.2%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9.8%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637525"/>
                  </a:ext>
                </a:extLst>
              </a:tr>
              <a:tr h="525333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D/F </a:t>
                      </a:r>
                      <a:r>
                        <a:rPr lang="ko-KR" sz="12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수주 잔고</a:t>
                      </a: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(Mn $)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 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 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30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25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396316"/>
                  </a:ext>
                </a:extLst>
              </a:tr>
              <a:tr h="525333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매출 전환</a:t>
                      </a:r>
                      <a:r>
                        <a:rPr lang="en-US" sz="1200" kern="10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(Mn $)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 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kern="0" spc="0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 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242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456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D7226-2404-FEA3-E217-6B2800C72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42F64F1-6A70-486D-4FD4-8D79CE57A3CD}"/>
              </a:ext>
            </a:extLst>
          </p:cNvPr>
          <p:cNvSpPr/>
          <p:nvPr/>
        </p:nvSpPr>
        <p:spPr>
          <a:xfrm>
            <a:off x="0" y="6629399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AF666FDB-199A-E099-9A41-908CD608B5C0}"/>
              </a:ext>
            </a:extLst>
          </p:cNvPr>
          <p:cNvSpPr/>
          <p:nvPr/>
        </p:nvSpPr>
        <p:spPr>
          <a:xfrm flipV="1">
            <a:off x="1" y="372394"/>
            <a:ext cx="9906000" cy="103856"/>
          </a:xfrm>
          <a:custGeom>
            <a:avLst/>
            <a:gdLst/>
            <a:ahLst/>
            <a:cxnLst/>
            <a:rect l="l" t="t" r="r" b="b"/>
            <a:pathLst>
              <a:path w="11421110">
                <a:moveTo>
                  <a:pt x="0" y="0"/>
                </a:moveTo>
                <a:lnTo>
                  <a:pt x="11420856" y="0"/>
                </a:lnTo>
              </a:path>
            </a:pathLst>
          </a:custGeom>
          <a:ln w="28575">
            <a:solidFill>
              <a:srgbClr val="002B5C"/>
            </a:solidFill>
          </a:ln>
        </p:spPr>
        <p:txBody>
          <a:bodyPr wrap="square" lIns="0" tIns="0" rIns="0" bIns="0" rtlCol="0"/>
          <a:lstStyle/>
          <a:p>
            <a:endParaRPr sz="135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270C05-908D-4584-6C17-5C1AF845D1DF}"/>
              </a:ext>
            </a:extLst>
          </p:cNvPr>
          <p:cNvSpPr txBox="1"/>
          <p:nvPr/>
        </p:nvSpPr>
        <p:spPr>
          <a:xfrm>
            <a:off x="273050" y="49730"/>
            <a:ext cx="582730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3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Investment Point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07C705-8A25-7983-C372-AA8AAD38B004}"/>
              </a:ext>
            </a:extLst>
          </p:cNvPr>
          <p:cNvSpPr txBox="1"/>
          <p:nvPr/>
        </p:nvSpPr>
        <p:spPr>
          <a:xfrm>
            <a:off x="408862" y="3536257"/>
            <a:ext cx="4500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’26E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엔진 매출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Table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CC03A5-84B9-8FCF-FA11-02A5FC6B9AEE}"/>
              </a:ext>
            </a:extLst>
          </p:cNvPr>
          <p:cNvSpPr/>
          <p:nvPr/>
        </p:nvSpPr>
        <p:spPr>
          <a:xfrm>
            <a:off x="498158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4FC620-0F0F-0008-262E-63BFD6A20781}"/>
              </a:ext>
            </a:extLst>
          </p:cNvPr>
          <p:cNvSpPr txBox="1"/>
          <p:nvPr/>
        </p:nvSpPr>
        <p:spPr>
          <a:xfrm>
            <a:off x="470905" y="1639335"/>
            <a:ext cx="9001125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4E8EF0-8ADB-7795-63A3-2F06D4EF1F94}"/>
              </a:ext>
            </a:extLst>
          </p:cNvPr>
          <p:cNvSpPr txBox="1"/>
          <p:nvPr/>
        </p:nvSpPr>
        <p:spPr>
          <a:xfrm>
            <a:off x="406717" y="1180577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HD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현대그룹의 시너지는 곧 동사의 매출 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48C919-CF07-1C19-3003-C41ECD6726CE}"/>
              </a:ext>
            </a:extLst>
          </p:cNvPr>
          <p:cNvSpPr txBox="1"/>
          <p:nvPr/>
        </p:nvSpPr>
        <p:spPr>
          <a:xfrm>
            <a:off x="498158" y="1478557"/>
            <a:ext cx="9202738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HD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현대그룹이 과거 인도한 선박들은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동사의 잠재적 고객 확대 기반으로 작용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그룹 내 조선사들을 모두 합할 경우 시장 내 압도적 선박 수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막대한 규모의 선단에 대해 반복적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AM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수요 흡수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지속적 매출 발생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모그룹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M/S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에 비해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동사의 시장 점유율은 아직 낮은 수준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(13%/5~6%)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향후 고객 확대와 함께 시너지 효과 극대화 전망</a:t>
            </a: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AD2A66-3237-DC16-2CB5-5522BB153F30}"/>
              </a:ext>
            </a:extLst>
          </p:cNvPr>
          <p:cNvSpPr txBox="1"/>
          <p:nvPr/>
        </p:nvSpPr>
        <p:spPr>
          <a:xfrm>
            <a:off x="742518" y="704891"/>
            <a:ext cx="5781374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spcAft>
                <a:spcPts val="800"/>
              </a:spcAft>
              <a:tabLst>
                <a:tab pos="1371566" algn="l"/>
              </a:tabLst>
            </a:pPr>
            <a:r>
              <a:rPr lang="en-US" altLang="ko-KR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Investment Point 2. I</a:t>
            </a:r>
            <a:r>
              <a:rPr lang="ko-KR" altLang="en-US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“AM”</a:t>
            </a:r>
            <a:r>
              <a:rPr lang="ko-KR" altLang="en-US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b="1" kern="100" spc="-60" dirty="0" err="1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신뢰에요</a:t>
            </a:r>
            <a:endParaRPr lang="en-US" altLang="ko-KR" b="1" kern="100" spc="-60" dirty="0">
              <a:solidFill>
                <a:srgbClr val="00206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7A69E2-0D72-15DF-4114-8DC5780E5991}"/>
              </a:ext>
            </a:extLst>
          </p:cNvPr>
          <p:cNvSpPr txBox="1"/>
          <p:nvPr/>
        </p:nvSpPr>
        <p:spPr>
          <a:xfrm>
            <a:off x="498158" y="2490039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엔진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AM: ’26E 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매출액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8,090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억 원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98CA93-7411-F33B-4C53-E8A2BB51A8DD}"/>
              </a:ext>
            </a:extLst>
          </p:cNvPr>
          <p:cNvSpPr txBox="1"/>
          <p:nvPr/>
        </p:nvSpPr>
        <p:spPr>
          <a:xfrm>
            <a:off x="660179" y="2762834"/>
            <a:ext cx="9281905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2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행정 엔진 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: ’26E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 매출액 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2,944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억 원</a:t>
            </a:r>
            <a:endParaRPr lang="en-US" altLang="ko-KR" sz="1200" dirty="0">
              <a:latin typeface="KoPubWorldDotum Bold" panose="00000800000000000000" pitchFamily="2" charset="-127"/>
              <a:ea typeface="KoPubWorldDotum Bold" panose="00000800000000000000" pitchFamily="2" charset="-127"/>
              <a:cs typeface="KoPubWorldDotum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4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행정 엔진 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: ‘26E 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매출액 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5,146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억 원</a:t>
            </a:r>
            <a:endParaRPr lang="en-US" altLang="ko-KR" sz="1200" dirty="0">
              <a:latin typeface="KoPubWorldDotum Bold" panose="00000800000000000000" pitchFamily="2" charset="-127"/>
              <a:ea typeface="KoPubWorldDotum Bold" panose="00000800000000000000" pitchFamily="2" charset="-127"/>
              <a:cs typeface="KoPubWorldDotum Bold" panose="00000800000000000000" pitchFamily="2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DBC4242C-C300-2A16-B551-4705E2D99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948754"/>
              </p:ext>
            </p:extLst>
          </p:nvPr>
        </p:nvGraphicFramePr>
        <p:xfrm>
          <a:off x="519779" y="3860501"/>
          <a:ext cx="8772330" cy="2083711"/>
        </p:xfrm>
        <a:graphic>
          <a:graphicData uri="http://schemas.openxmlformats.org/drawingml/2006/table">
            <a:tbl>
              <a:tblPr/>
              <a:tblGrid>
                <a:gridCol w="2449797">
                  <a:extLst>
                    <a:ext uri="{9D8B030D-6E8A-4147-A177-3AD203B41FA5}">
                      <a16:colId xmlns:a16="http://schemas.microsoft.com/office/drawing/2014/main" val="190642193"/>
                    </a:ext>
                  </a:extLst>
                </a:gridCol>
                <a:gridCol w="777481">
                  <a:extLst>
                    <a:ext uri="{9D8B030D-6E8A-4147-A177-3AD203B41FA5}">
                      <a16:colId xmlns:a16="http://schemas.microsoft.com/office/drawing/2014/main" val="963023542"/>
                    </a:ext>
                  </a:extLst>
                </a:gridCol>
                <a:gridCol w="777481">
                  <a:extLst>
                    <a:ext uri="{9D8B030D-6E8A-4147-A177-3AD203B41FA5}">
                      <a16:colId xmlns:a16="http://schemas.microsoft.com/office/drawing/2014/main" val="1878279548"/>
                    </a:ext>
                  </a:extLst>
                </a:gridCol>
                <a:gridCol w="880166">
                  <a:extLst>
                    <a:ext uri="{9D8B030D-6E8A-4147-A177-3AD203B41FA5}">
                      <a16:colId xmlns:a16="http://schemas.microsoft.com/office/drawing/2014/main" val="2859685366"/>
                    </a:ext>
                  </a:extLst>
                </a:gridCol>
                <a:gridCol w="777481">
                  <a:extLst>
                    <a:ext uri="{9D8B030D-6E8A-4147-A177-3AD203B41FA5}">
                      <a16:colId xmlns:a16="http://schemas.microsoft.com/office/drawing/2014/main" val="3586404227"/>
                    </a:ext>
                  </a:extLst>
                </a:gridCol>
                <a:gridCol w="777481">
                  <a:extLst>
                    <a:ext uri="{9D8B030D-6E8A-4147-A177-3AD203B41FA5}">
                      <a16:colId xmlns:a16="http://schemas.microsoft.com/office/drawing/2014/main" val="2454317935"/>
                    </a:ext>
                  </a:extLst>
                </a:gridCol>
                <a:gridCol w="777481">
                  <a:extLst>
                    <a:ext uri="{9D8B030D-6E8A-4147-A177-3AD203B41FA5}">
                      <a16:colId xmlns:a16="http://schemas.microsoft.com/office/drawing/2014/main" val="3113735650"/>
                    </a:ext>
                  </a:extLst>
                </a:gridCol>
                <a:gridCol w="777481">
                  <a:extLst>
                    <a:ext uri="{9D8B030D-6E8A-4147-A177-3AD203B41FA5}">
                      <a16:colId xmlns:a16="http://schemas.microsoft.com/office/drawing/2014/main" val="3962218091"/>
                    </a:ext>
                  </a:extLst>
                </a:gridCol>
                <a:gridCol w="777481">
                  <a:extLst>
                    <a:ext uri="{9D8B030D-6E8A-4147-A177-3AD203B41FA5}">
                      <a16:colId xmlns:a16="http://schemas.microsoft.com/office/drawing/2014/main" val="411221307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</a:rPr>
                        <a:t>단위</a:t>
                      </a:r>
                      <a:r>
                        <a:rPr lang="en-US" altLang="ko-KR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</a:rPr>
                        <a:t>: </a:t>
                      </a:r>
                      <a:r>
                        <a:rPr lang="ko-KR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</a:rPr>
                        <a:t>억 원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</a:rPr>
                        <a:t>1Q25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</a:rPr>
                        <a:t>2Q25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</a:rPr>
                        <a:t>3Q25E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</a:rPr>
                        <a:t>4Q25E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</a:rPr>
                        <a:t>1Q26E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</a:rPr>
                        <a:t>2Q26E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</a:rPr>
                        <a:t>3Q26E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</a:rPr>
                        <a:t>4Q26E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948761"/>
                  </a:ext>
                </a:extLst>
              </a:tr>
              <a:tr h="3660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엔진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1,572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1,568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1,722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1,802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1,886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1,974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2,066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2,163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533916"/>
                  </a:ext>
                </a:extLst>
              </a:tr>
              <a:tr h="2715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1" u="none" strike="noStrike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of AM Solution Revenue(%)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72.7%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68.2%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69.8%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70.2%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70.7%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71.5%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72.3%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73.1%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1272"/>
                  </a:ext>
                </a:extLst>
              </a:tr>
              <a:tr h="2715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2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행정 엔진 매출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572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560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627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656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686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718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752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787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517305"/>
                  </a:ext>
                </a:extLst>
              </a:tr>
              <a:tr h="2715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of AM Solution Revenue(%)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26.5%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24.3%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25.4%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25.5%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25.7%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26.0%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26.3%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26.6%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699520"/>
                  </a:ext>
                </a:extLst>
              </a:tr>
              <a:tr h="2715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4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행정 엔진 매출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1,000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1,008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1,095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1,147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1,200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1,256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1,315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1,376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682263"/>
                  </a:ext>
                </a:extLst>
              </a:tr>
              <a:tr h="2715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of AM Solution Revenue(%)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46.3%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43.8%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44.4%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44.7%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45.0%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45.5%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46.0%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46.5%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15613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E54A2947-287F-0146-E542-28F3A9DC3249}"/>
              </a:ext>
            </a:extLst>
          </p:cNvPr>
          <p:cNvSpPr txBox="1"/>
          <p:nvPr/>
        </p:nvSpPr>
        <p:spPr>
          <a:xfrm>
            <a:off x="519779" y="6045387"/>
            <a:ext cx="38112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</a:t>
            </a:r>
          </a:p>
        </p:txBody>
      </p:sp>
    </p:spTree>
    <p:extLst>
      <p:ext uri="{BB962C8B-B14F-4D97-AF65-F5344CB8AC3E}">
        <p14:creationId xmlns:p14="http://schemas.microsoft.com/office/powerpoint/2010/main" val="2729089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F4A72-24CF-996F-4381-E1AA71F2B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0433090F-4900-FC81-44C8-21E789C348ED}"/>
              </a:ext>
            </a:extLst>
          </p:cNvPr>
          <p:cNvSpPr/>
          <p:nvPr/>
        </p:nvSpPr>
        <p:spPr>
          <a:xfrm>
            <a:off x="0" y="6643991"/>
            <a:ext cx="9906000" cy="214010"/>
          </a:xfrm>
          <a:prstGeom prst="rect">
            <a:avLst/>
          </a:prstGeom>
          <a:solidFill>
            <a:srgbClr val="002B5C"/>
          </a:solidFill>
          <a:ln>
            <a:solidFill>
              <a:srgbClr val="002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5BBF7-EAB9-109E-511E-98FBB7AB9DFD}"/>
              </a:ext>
            </a:extLst>
          </p:cNvPr>
          <p:cNvSpPr/>
          <p:nvPr/>
        </p:nvSpPr>
        <p:spPr>
          <a:xfrm>
            <a:off x="452438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1FCF7F-46A1-7128-37BD-6605C9B51850}"/>
              </a:ext>
            </a:extLst>
          </p:cNvPr>
          <p:cNvSpPr txBox="1"/>
          <p:nvPr/>
        </p:nvSpPr>
        <p:spPr>
          <a:xfrm>
            <a:off x="452437" y="1492592"/>
            <a:ext cx="9001125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6159E1-2F02-2021-F2F9-22CC7698FB01}"/>
              </a:ext>
            </a:extLst>
          </p:cNvPr>
          <p:cNvSpPr txBox="1"/>
          <p:nvPr/>
        </p:nvSpPr>
        <p:spPr>
          <a:xfrm>
            <a:off x="446517" y="6128493"/>
            <a:ext cx="38112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HD</a:t>
            </a:r>
            <a:r>
              <a:rPr lang="ko-KR" altLang="en-US" sz="8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현대마린솔루션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04B386-1BEF-BB3E-BA42-A54C7A063FDA}"/>
              </a:ext>
            </a:extLst>
          </p:cNvPr>
          <p:cNvSpPr txBox="1"/>
          <p:nvPr/>
        </p:nvSpPr>
        <p:spPr>
          <a:xfrm>
            <a:off x="948214" y="6123686"/>
            <a:ext cx="38112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%</a:t>
            </a: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38B01201-30DD-A20D-19F8-D96D18618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7EB9F-0618-471D-9560-9D60814D947F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6C5D93-BB21-DA58-E621-D1576CD60DE1}"/>
              </a:ext>
            </a:extLst>
          </p:cNvPr>
          <p:cNvSpPr txBox="1"/>
          <p:nvPr/>
        </p:nvSpPr>
        <p:spPr>
          <a:xfrm>
            <a:off x="452437" y="1169427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① ASP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도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UP! &amp; 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② </a:t>
            </a:r>
            <a:r>
              <a:rPr lang="ko-KR" altLang="en-US" sz="1500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발주량과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비중도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UP! UP!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5D2E61-DD29-A223-4EA0-71CD56B1E082}"/>
              </a:ext>
            </a:extLst>
          </p:cNvPr>
          <p:cNvSpPr txBox="1"/>
          <p:nvPr/>
        </p:nvSpPr>
        <p:spPr>
          <a:xfrm>
            <a:off x="452437" y="1502752"/>
            <a:ext cx="9202738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연평균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20%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성장을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보여주는 엔진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AM ASP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는 안정적인 엔진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AM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수요에 맞물려 동사의 성장을 견인할 전망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D/F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의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ASP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는 전통 엔진 대비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1.5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배 이상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이며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HD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현대그룹의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D/F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선박은 기술 프리미엄으로 글로벌 평균보다 높은 비중 형성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환경 규제 대응 방식으로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D/F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엔진 장착 선박의 </a:t>
            </a: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발주량도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증가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중이며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이러한 기조는 대체 연료 선박에도 동일하게 나타나고 있음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사업부중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가장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OPM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 높은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AM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솔루션 부문 내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D/F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비중이 확대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되며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동사의 중장기적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OPM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도 긍정적일 것으로 전망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03DF917A-AE51-BCBB-72B9-D8F8A90BB0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3122870"/>
              </p:ext>
            </p:extLst>
          </p:nvPr>
        </p:nvGraphicFramePr>
        <p:xfrm>
          <a:off x="272438" y="3063240"/>
          <a:ext cx="4500000" cy="3044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143FA26-1FB9-0584-D7CC-D9504942398F}"/>
              </a:ext>
            </a:extLst>
          </p:cNvPr>
          <p:cNvSpPr txBox="1"/>
          <p:nvPr/>
        </p:nvSpPr>
        <p:spPr>
          <a:xfrm>
            <a:off x="54580" y="6643477"/>
            <a:ext cx="22703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2025-2 RFS</a:t>
            </a:r>
            <a:r>
              <a:rPr lang="ko-KR" altLang="en-US" sz="900" b="1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Team 2</a:t>
            </a:r>
            <a:endParaRPr lang="en-US" altLang="ko-KR" sz="900" b="1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806B2CDF-2F88-C378-391A-97D4A29FCF66}"/>
              </a:ext>
            </a:extLst>
          </p:cNvPr>
          <p:cNvSpPr/>
          <p:nvPr/>
        </p:nvSpPr>
        <p:spPr>
          <a:xfrm flipV="1">
            <a:off x="1" y="372394"/>
            <a:ext cx="9906000" cy="103856"/>
          </a:xfrm>
          <a:custGeom>
            <a:avLst/>
            <a:gdLst/>
            <a:ahLst/>
            <a:cxnLst/>
            <a:rect l="l" t="t" r="r" b="b"/>
            <a:pathLst>
              <a:path w="11421110">
                <a:moveTo>
                  <a:pt x="0" y="0"/>
                </a:moveTo>
                <a:lnTo>
                  <a:pt x="11420856" y="0"/>
                </a:lnTo>
              </a:path>
            </a:pathLst>
          </a:custGeom>
          <a:ln w="28575">
            <a:solidFill>
              <a:srgbClr val="002B5C"/>
            </a:solidFill>
          </a:ln>
        </p:spPr>
        <p:txBody>
          <a:bodyPr wrap="square" lIns="0" tIns="0" rIns="0" bIns="0" rtlCol="0"/>
          <a:lstStyle/>
          <a:p>
            <a:endParaRPr sz="135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5C13C6-6808-AE84-20FE-6E5FD24AD0D2}"/>
              </a:ext>
            </a:extLst>
          </p:cNvPr>
          <p:cNvSpPr txBox="1"/>
          <p:nvPr/>
        </p:nvSpPr>
        <p:spPr>
          <a:xfrm>
            <a:off x="273050" y="49730"/>
            <a:ext cx="582730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3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Investment Point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FB2476-2720-A8FB-9D07-157820BBB20D}"/>
              </a:ext>
            </a:extLst>
          </p:cNvPr>
          <p:cNvSpPr txBox="1"/>
          <p:nvPr/>
        </p:nvSpPr>
        <p:spPr>
          <a:xfrm>
            <a:off x="742518" y="704891"/>
            <a:ext cx="5781374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spcAft>
                <a:spcPts val="800"/>
              </a:spcAft>
              <a:tabLst>
                <a:tab pos="1371566" algn="l"/>
              </a:tabLst>
            </a:pPr>
            <a:r>
              <a:rPr lang="en-US" altLang="ko-KR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Investment Point 2. I</a:t>
            </a:r>
            <a:r>
              <a:rPr lang="ko-KR" altLang="en-US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“AM”</a:t>
            </a:r>
            <a:r>
              <a:rPr lang="ko-KR" altLang="en-US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b="1" kern="100" spc="-60" dirty="0" err="1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신뢰에요</a:t>
            </a:r>
            <a:endParaRPr lang="en-US" altLang="ko-KR" b="1" kern="100" spc="-60" dirty="0">
              <a:solidFill>
                <a:srgbClr val="00206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CBD1E77-0463-00DA-BAC9-73D835E9C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317865"/>
              </p:ext>
            </p:extLst>
          </p:nvPr>
        </p:nvGraphicFramePr>
        <p:xfrm>
          <a:off x="5132387" y="3194725"/>
          <a:ext cx="4339053" cy="2664000"/>
        </p:xfrm>
        <a:graphic>
          <a:graphicData uri="http://schemas.openxmlformats.org/drawingml/2006/table">
            <a:tbl>
              <a:tblPr/>
              <a:tblGrid>
                <a:gridCol w="756000">
                  <a:extLst>
                    <a:ext uri="{9D8B030D-6E8A-4147-A177-3AD203B41FA5}">
                      <a16:colId xmlns:a16="http://schemas.microsoft.com/office/drawing/2014/main" val="2174666113"/>
                    </a:ext>
                  </a:extLst>
                </a:gridCol>
                <a:gridCol w="661488">
                  <a:extLst>
                    <a:ext uri="{9D8B030D-6E8A-4147-A177-3AD203B41FA5}">
                      <a16:colId xmlns:a16="http://schemas.microsoft.com/office/drawing/2014/main" val="2233819077"/>
                    </a:ext>
                  </a:extLst>
                </a:gridCol>
                <a:gridCol w="584313">
                  <a:extLst>
                    <a:ext uri="{9D8B030D-6E8A-4147-A177-3AD203B41FA5}">
                      <a16:colId xmlns:a16="http://schemas.microsoft.com/office/drawing/2014/main" val="1646251663"/>
                    </a:ext>
                  </a:extLst>
                </a:gridCol>
                <a:gridCol w="584313">
                  <a:extLst>
                    <a:ext uri="{9D8B030D-6E8A-4147-A177-3AD203B41FA5}">
                      <a16:colId xmlns:a16="http://schemas.microsoft.com/office/drawing/2014/main" val="4000850299"/>
                    </a:ext>
                  </a:extLst>
                </a:gridCol>
                <a:gridCol w="584313">
                  <a:extLst>
                    <a:ext uri="{9D8B030D-6E8A-4147-A177-3AD203B41FA5}">
                      <a16:colId xmlns:a16="http://schemas.microsoft.com/office/drawing/2014/main" val="206330786"/>
                    </a:ext>
                  </a:extLst>
                </a:gridCol>
                <a:gridCol w="584313">
                  <a:extLst>
                    <a:ext uri="{9D8B030D-6E8A-4147-A177-3AD203B41FA5}">
                      <a16:colId xmlns:a16="http://schemas.microsoft.com/office/drawing/2014/main" val="2370209158"/>
                    </a:ext>
                  </a:extLst>
                </a:gridCol>
                <a:gridCol w="584313">
                  <a:extLst>
                    <a:ext uri="{9D8B030D-6E8A-4147-A177-3AD203B41FA5}">
                      <a16:colId xmlns:a16="http://schemas.microsoft.com/office/drawing/2014/main" val="385341053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</a:rPr>
                        <a:t>단위</a:t>
                      </a:r>
                      <a:r>
                        <a:rPr lang="en-US" altLang="ko-KR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</a:rPr>
                        <a:t>: </a:t>
                      </a:r>
                      <a:r>
                        <a:rPr lang="ko-KR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</a:rPr>
                        <a:t>억 원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</a:rPr>
                        <a:t>3Q25E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</a:rPr>
                        <a:t>4Q25E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</a:rPr>
                        <a:t>1Q26E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</a:rPr>
                        <a:t>2Q26E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</a:rPr>
                        <a:t>3Q26E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</a:rPr>
                        <a:t>4Q26E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65004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2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행정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ASP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28264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YoY(%)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4.66%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4.66%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4.66%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4.66%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4.66%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4.66%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97198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4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행정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ASP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16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17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17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18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19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274219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YoY(%)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4.66%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4.66%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4.66%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4.66%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4.66%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1" u="none" strike="noStrike" dirty="0">
                          <a:solidFill>
                            <a:srgbClr val="80808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4.66%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3798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2ECDC5A-0F33-5444-CC36-9C5986C8A7BC}"/>
              </a:ext>
            </a:extLst>
          </p:cNvPr>
          <p:cNvSpPr txBox="1"/>
          <p:nvPr/>
        </p:nvSpPr>
        <p:spPr>
          <a:xfrm>
            <a:off x="213699" y="2909911"/>
            <a:ext cx="4500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엔진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AM ASP Table                              (2021 = 100)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7E8582-E546-E714-AEBB-0ED634E0EBFC}"/>
              </a:ext>
            </a:extLst>
          </p:cNvPr>
          <p:cNvSpPr txBox="1"/>
          <p:nvPr/>
        </p:nvSpPr>
        <p:spPr>
          <a:xfrm>
            <a:off x="5035422" y="2914151"/>
            <a:ext cx="4500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’26E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2/4 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행정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ASP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Table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7B7589-5035-F8AE-5EB0-CF723E909709}"/>
              </a:ext>
            </a:extLst>
          </p:cNvPr>
          <p:cNvSpPr txBox="1"/>
          <p:nvPr/>
        </p:nvSpPr>
        <p:spPr>
          <a:xfrm>
            <a:off x="5132387" y="6096200"/>
            <a:ext cx="38112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</a:t>
            </a:r>
          </a:p>
        </p:txBody>
      </p:sp>
    </p:spTree>
    <p:extLst>
      <p:ext uri="{BB962C8B-B14F-4D97-AF65-F5344CB8AC3E}">
        <p14:creationId xmlns:p14="http://schemas.microsoft.com/office/powerpoint/2010/main" val="4105225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8A2AD-579C-3BCF-1E54-667BC17B7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6B74968F-1DFD-25C3-AA66-551201F7C57C}"/>
              </a:ext>
            </a:extLst>
          </p:cNvPr>
          <p:cNvGrpSpPr/>
          <p:nvPr/>
        </p:nvGrpSpPr>
        <p:grpSpPr>
          <a:xfrm>
            <a:off x="5298801" y="2834840"/>
            <a:ext cx="4607199" cy="4023160"/>
            <a:chOff x="7588612" y="2834840"/>
            <a:chExt cx="4607198" cy="402316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E29FDA7-1F01-C85B-63B6-6538A758A1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116" b="19268"/>
            <a:stretch/>
          </p:blipFill>
          <p:spPr>
            <a:xfrm>
              <a:off x="7588612" y="2834840"/>
              <a:ext cx="4607198" cy="402316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2E26791-E38E-7C02-1BA6-D7E5C5AC9493}"/>
                </a:ext>
              </a:extLst>
            </p:cNvPr>
            <p:cNvSpPr/>
            <p:nvPr/>
          </p:nvSpPr>
          <p:spPr>
            <a:xfrm>
              <a:off x="8332470" y="3154680"/>
              <a:ext cx="3859530" cy="3703320"/>
            </a:xfrm>
            <a:prstGeom prst="rect">
              <a:avLst/>
            </a:prstGeom>
            <a:solidFill>
              <a:schemeClr val="bg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4A28CB80-AEF2-5D95-8D93-32DC69A4E1F1}"/>
              </a:ext>
            </a:extLst>
          </p:cNvPr>
          <p:cNvSpPr/>
          <p:nvPr/>
        </p:nvSpPr>
        <p:spPr>
          <a:xfrm rot="5400000">
            <a:off x="4163963" y="-4164315"/>
            <a:ext cx="1578078" cy="9906000"/>
          </a:xfrm>
          <a:prstGeom prst="rt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E4CB6A16-F40E-869B-5CE2-4E1A60DE2B3A}"/>
              </a:ext>
            </a:extLst>
          </p:cNvPr>
          <p:cNvSpPr/>
          <p:nvPr/>
        </p:nvSpPr>
        <p:spPr>
          <a:xfrm rot="5400000">
            <a:off x="-2862037" y="2862037"/>
            <a:ext cx="6858002" cy="1133927"/>
          </a:xfrm>
          <a:prstGeom prst="rtTriangle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B8C92-707A-BAEE-DE12-48C142DB4224}"/>
              </a:ext>
            </a:extLst>
          </p:cNvPr>
          <p:cNvSpPr txBox="1"/>
          <p:nvPr/>
        </p:nvSpPr>
        <p:spPr>
          <a:xfrm>
            <a:off x="920074" y="1761687"/>
            <a:ext cx="9517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spcAft>
                <a:spcPts val="800"/>
              </a:spcAft>
              <a:tabLst>
                <a:tab pos="1371566" algn="l"/>
              </a:tabLst>
            </a:pPr>
            <a:r>
              <a:rPr lang="en-US" altLang="ko-KR" sz="4000" b="1" kern="10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Valuation</a:t>
            </a:r>
            <a:endParaRPr lang="en-US" altLang="ko-KR" sz="4000" b="1" kern="100" spc="-60" dirty="0">
              <a:solidFill>
                <a:srgbClr val="00206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63DAFF-81CE-FB50-B902-D361A7DC7015}"/>
              </a:ext>
            </a:extLst>
          </p:cNvPr>
          <p:cNvSpPr txBox="1"/>
          <p:nvPr/>
        </p:nvSpPr>
        <p:spPr>
          <a:xfrm>
            <a:off x="1070085" y="2996810"/>
            <a:ext cx="6615427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Peer P/E Valuation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altLang="ko-KR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Expected</a:t>
            </a:r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I/S</a:t>
            </a:r>
          </a:p>
        </p:txBody>
      </p:sp>
    </p:spTree>
    <p:extLst>
      <p:ext uri="{BB962C8B-B14F-4D97-AF65-F5344CB8AC3E}">
        <p14:creationId xmlns:p14="http://schemas.microsoft.com/office/powerpoint/2010/main" val="1109369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F0621-8F9E-2D11-5C07-ADF2ADC1D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99B4C8E8-CBE4-6BA3-3F55-78716D927F20}"/>
              </a:ext>
            </a:extLst>
          </p:cNvPr>
          <p:cNvSpPr/>
          <p:nvPr/>
        </p:nvSpPr>
        <p:spPr>
          <a:xfrm flipV="1">
            <a:off x="1" y="372394"/>
            <a:ext cx="9906000" cy="103856"/>
          </a:xfrm>
          <a:custGeom>
            <a:avLst/>
            <a:gdLst/>
            <a:ahLst/>
            <a:cxnLst/>
            <a:rect l="l" t="t" r="r" b="b"/>
            <a:pathLst>
              <a:path w="11421110">
                <a:moveTo>
                  <a:pt x="0" y="0"/>
                </a:moveTo>
                <a:lnTo>
                  <a:pt x="11420856" y="0"/>
                </a:lnTo>
              </a:path>
            </a:pathLst>
          </a:custGeom>
          <a:ln w="28575">
            <a:solidFill>
              <a:srgbClr val="002B5C"/>
            </a:solidFill>
          </a:ln>
        </p:spPr>
        <p:txBody>
          <a:bodyPr wrap="square" lIns="0" tIns="0" rIns="0" bIns="0" rtlCol="0"/>
          <a:lstStyle/>
          <a:p>
            <a:endParaRPr sz="135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B96570C-41E6-D23F-F3B7-E1E9C63B10B2}"/>
              </a:ext>
            </a:extLst>
          </p:cNvPr>
          <p:cNvSpPr/>
          <p:nvPr/>
        </p:nvSpPr>
        <p:spPr>
          <a:xfrm>
            <a:off x="0" y="6643991"/>
            <a:ext cx="9906000" cy="214010"/>
          </a:xfrm>
          <a:prstGeom prst="rect">
            <a:avLst/>
          </a:prstGeom>
          <a:solidFill>
            <a:srgbClr val="002B5C"/>
          </a:solidFill>
          <a:ln>
            <a:solidFill>
              <a:srgbClr val="002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14DF7C-1A17-7F3A-23D6-9FE6B6A105C4}"/>
              </a:ext>
            </a:extLst>
          </p:cNvPr>
          <p:cNvSpPr txBox="1"/>
          <p:nvPr/>
        </p:nvSpPr>
        <p:spPr>
          <a:xfrm>
            <a:off x="690563" y="704891"/>
            <a:ext cx="389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Peer</a:t>
            </a:r>
            <a:r>
              <a:rPr lang="ko-KR" altLang="en-US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P/E</a:t>
            </a:r>
            <a:r>
              <a:rPr lang="ko-KR" altLang="en-US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Valuation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D9F58F-09B5-EE10-3D10-D236ECAE4ED5}"/>
              </a:ext>
            </a:extLst>
          </p:cNvPr>
          <p:cNvSpPr/>
          <p:nvPr/>
        </p:nvSpPr>
        <p:spPr>
          <a:xfrm>
            <a:off x="452438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3EC53B-360E-9C63-5FFE-7F30EF41FA5B}"/>
              </a:ext>
            </a:extLst>
          </p:cNvPr>
          <p:cNvSpPr txBox="1"/>
          <p:nvPr/>
        </p:nvSpPr>
        <p:spPr>
          <a:xfrm>
            <a:off x="54580" y="6643477"/>
            <a:ext cx="22703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2025-2 RFS</a:t>
            </a:r>
            <a:r>
              <a:rPr lang="ko-KR" altLang="en-US" sz="900" b="1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Team 2</a:t>
            </a:r>
            <a:endParaRPr lang="en-US" altLang="ko-KR" sz="900" b="1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20FA74-5342-3665-79C0-7278B6A97112}"/>
              </a:ext>
            </a:extLst>
          </p:cNvPr>
          <p:cNvSpPr txBox="1"/>
          <p:nvPr/>
        </p:nvSpPr>
        <p:spPr>
          <a:xfrm>
            <a:off x="5139485" y="6270162"/>
            <a:ext cx="38112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Bloomberg,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424631-BDBC-0D1F-0C6A-A22259373C91}"/>
              </a:ext>
            </a:extLst>
          </p:cNvPr>
          <p:cNvSpPr txBox="1"/>
          <p:nvPr/>
        </p:nvSpPr>
        <p:spPr>
          <a:xfrm>
            <a:off x="446517" y="6270162"/>
            <a:ext cx="38112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</a:t>
            </a: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B71EC2DB-1630-69F6-3AD1-CC6ED33B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7EB9F-0618-471D-9560-9D60814D947F}" type="slidenum">
              <a:rPr lang="ko-KR" altLang="en-US" smtClean="0"/>
              <a:t>13</a:t>
            </a:fld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69CDDA0-FBAD-E9F8-448A-F13B46F46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826683"/>
              </p:ext>
            </p:extLst>
          </p:nvPr>
        </p:nvGraphicFramePr>
        <p:xfrm>
          <a:off x="195668" y="3252230"/>
          <a:ext cx="4500001" cy="2924224"/>
        </p:xfrm>
        <a:graphic>
          <a:graphicData uri="http://schemas.openxmlformats.org/drawingml/2006/table">
            <a:tbl>
              <a:tblPr firstRow="1" firstCol="1" bandRow="1"/>
              <a:tblGrid>
                <a:gridCol w="1426322">
                  <a:extLst>
                    <a:ext uri="{9D8B030D-6E8A-4147-A177-3AD203B41FA5}">
                      <a16:colId xmlns:a16="http://schemas.microsoft.com/office/drawing/2014/main" val="3220839122"/>
                    </a:ext>
                  </a:extLst>
                </a:gridCol>
                <a:gridCol w="987007">
                  <a:extLst>
                    <a:ext uri="{9D8B030D-6E8A-4147-A177-3AD203B41FA5}">
                      <a16:colId xmlns:a16="http://schemas.microsoft.com/office/drawing/2014/main" val="341675267"/>
                    </a:ext>
                  </a:extLst>
                </a:gridCol>
                <a:gridCol w="852517">
                  <a:extLst>
                    <a:ext uri="{9D8B030D-6E8A-4147-A177-3AD203B41FA5}">
                      <a16:colId xmlns:a16="http://schemas.microsoft.com/office/drawing/2014/main" val="3252121555"/>
                    </a:ext>
                  </a:extLst>
                </a:gridCol>
                <a:gridCol w="1234155">
                  <a:extLst>
                    <a:ext uri="{9D8B030D-6E8A-4147-A177-3AD203B41FA5}">
                      <a16:colId xmlns:a16="http://schemas.microsoft.com/office/drawing/2014/main" val="3450056012"/>
                    </a:ext>
                  </a:extLst>
                </a:gridCol>
              </a:tblGrid>
              <a:tr h="365528">
                <a:tc>
                  <a:txBody>
                    <a:bodyPr/>
                    <a:lstStyle/>
                    <a:p>
                      <a:pPr algn="l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Peer P/E Valuation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 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 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368714"/>
                  </a:ext>
                </a:extLst>
              </a:tr>
              <a:tr h="3655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‘26E </a:t>
                      </a:r>
                      <a:r>
                        <a:rPr lang="ko-KR" sz="105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당기순이익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278,631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5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백만 원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(A)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257388"/>
                  </a:ext>
                </a:extLst>
              </a:tr>
              <a:tr h="3655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Target P/E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 spc="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47.98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50" kern="10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배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(B)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060002"/>
                  </a:ext>
                </a:extLst>
              </a:tr>
              <a:tr h="3655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5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발행 주식 수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44,829,210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50" kern="10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주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(C)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496791"/>
                  </a:ext>
                </a:extLst>
              </a:tr>
              <a:tr h="3655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5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적정 주가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298,193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50" kern="10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원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(D) = (A)*(B)/(C)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982348"/>
                  </a:ext>
                </a:extLst>
              </a:tr>
              <a:tr h="3655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5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목표 주가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298,200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50" kern="10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원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195117"/>
                  </a:ext>
                </a:extLst>
              </a:tr>
              <a:tr h="3655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5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현재 주가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203,500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5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원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25.09.22 </a:t>
                      </a:r>
                      <a:r>
                        <a:rPr lang="ko-KR" sz="1050" kern="10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기준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6198"/>
                  </a:ext>
                </a:extLst>
              </a:tr>
              <a:tr h="3655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50" kern="100" spc="0">
                          <a:solidFill>
                            <a:srgbClr val="C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상승 여력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 spc="0">
                          <a:solidFill>
                            <a:srgbClr val="C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47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 spc="0">
                          <a:solidFill>
                            <a:srgbClr val="C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%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360193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01DD044-596C-BC3F-34CC-575DAE04A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335667"/>
              </p:ext>
            </p:extLst>
          </p:nvPr>
        </p:nvGraphicFramePr>
        <p:xfrm>
          <a:off x="5020455" y="3252230"/>
          <a:ext cx="4442094" cy="2929032"/>
        </p:xfrm>
        <a:graphic>
          <a:graphicData uri="http://schemas.openxmlformats.org/drawingml/2006/table">
            <a:tbl>
              <a:tblPr firstRow="1" firstCol="1" bandRow="1"/>
              <a:tblGrid>
                <a:gridCol w="1017252">
                  <a:extLst>
                    <a:ext uri="{9D8B030D-6E8A-4147-A177-3AD203B41FA5}">
                      <a16:colId xmlns:a16="http://schemas.microsoft.com/office/drawing/2014/main" val="809286627"/>
                    </a:ext>
                  </a:extLst>
                </a:gridCol>
                <a:gridCol w="1981610">
                  <a:extLst>
                    <a:ext uri="{9D8B030D-6E8A-4147-A177-3AD203B41FA5}">
                      <a16:colId xmlns:a16="http://schemas.microsoft.com/office/drawing/2014/main" val="3094860999"/>
                    </a:ext>
                  </a:extLst>
                </a:gridCol>
                <a:gridCol w="696114">
                  <a:extLst>
                    <a:ext uri="{9D8B030D-6E8A-4147-A177-3AD203B41FA5}">
                      <a16:colId xmlns:a16="http://schemas.microsoft.com/office/drawing/2014/main" val="4137060176"/>
                    </a:ext>
                  </a:extLst>
                </a:gridCol>
                <a:gridCol w="747118">
                  <a:extLst>
                    <a:ext uri="{9D8B030D-6E8A-4147-A177-3AD203B41FA5}">
                      <a16:colId xmlns:a16="http://schemas.microsoft.com/office/drawing/2014/main" val="3565521409"/>
                    </a:ext>
                  </a:extLst>
                </a:gridCol>
              </a:tblGrid>
              <a:tr h="366129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5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업종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5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기업명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P/E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5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할인율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571401"/>
                  </a:ext>
                </a:extLst>
              </a:tr>
              <a:tr h="366129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5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항공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FTAI Aviation Ltd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49.21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0%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146864"/>
                  </a:ext>
                </a:extLst>
              </a:tr>
              <a:tr h="366129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5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항공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 dirty="0" err="1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Heico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70.72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0%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565150"/>
                  </a:ext>
                </a:extLst>
              </a:tr>
              <a:tr h="366129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5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발전설비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GE Vernova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79.92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40%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166625"/>
                  </a:ext>
                </a:extLst>
              </a:tr>
              <a:tr h="366129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5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방산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Raytheon Technologies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26.85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0%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704627"/>
                  </a:ext>
                </a:extLst>
              </a:tr>
              <a:tr h="366129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5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방산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BAE Syetems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29.66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0%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893806"/>
                  </a:ext>
                </a:extLst>
              </a:tr>
              <a:tr h="366129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5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철도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Alstom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31.50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0%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408772"/>
                  </a:ext>
                </a:extLst>
              </a:tr>
              <a:tr h="366129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>
                          <a:solidFill>
                            <a:srgbClr val="C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Peer Average P/E</a:t>
                      </a:r>
                      <a:endParaRPr lang="ko-KR" sz="105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 dirty="0">
                          <a:solidFill>
                            <a:srgbClr val="C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47.98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 </a:t>
                      </a:r>
                      <a:endParaRPr lang="ko-KR" sz="105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0500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E36A0C9-993D-15D0-997A-9398A9B6C172}"/>
              </a:ext>
            </a:extLst>
          </p:cNvPr>
          <p:cNvSpPr txBox="1"/>
          <p:nvPr/>
        </p:nvSpPr>
        <p:spPr>
          <a:xfrm>
            <a:off x="375307" y="1019970"/>
            <a:ext cx="9202738" cy="1915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시장 내 선박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MRO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상장 기업이 부재하고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소수의 상장 기업 중 동사에 견줄 만한 선박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MRO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기업이 없는 상황</a:t>
            </a: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이를 반영하기 위하여 동일 업종이 아닌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타 중공업종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항공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발전설비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방산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철도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내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MRO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기업들을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Peer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그룹으로 선정</a:t>
            </a: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8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1)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선박의 수명과 해당 중공업종의 수명이 유사하다는 점</a:t>
            </a: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2)</a:t>
            </a: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힘쎈엔진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라이선스와 같이 시장 내 정품 사업자의 지위가 프리미엄으로 작용한다는 점</a:t>
            </a: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3)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환경 규제로 인한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MRO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수요가 공통으로 발생하고 있다는 점</a:t>
            </a: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4)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정기적 점검 및 부품 교체가 진행된다는 점</a:t>
            </a: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F4DEE6-430C-E5C2-33F4-0A2E6EB04297}"/>
              </a:ext>
            </a:extLst>
          </p:cNvPr>
          <p:cNvSpPr txBox="1"/>
          <p:nvPr/>
        </p:nvSpPr>
        <p:spPr>
          <a:xfrm>
            <a:off x="273050" y="49730"/>
            <a:ext cx="582730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3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Valuation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12C870-029A-C014-F34C-F7FCE914BCE5}"/>
              </a:ext>
            </a:extLst>
          </p:cNvPr>
          <p:cNvSpPr txBox="1"/>
          <p:nvPr/>
        </p:nvSpPr>
        <p:spPr>
          <a:xfrm>
            <a:off x="137760" y="2944708"/>
            <a:ext cx="4500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Valuation 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1B4C43-53B6-9A32-B66D-B818713BDE65}"/>
              </a:ext>
            </a:extLst>
          </p:cNvPr>
          <p:cNvSpPr txBox="1"/>
          <p:nvPr/>
        </p:nvSpPr>
        <p:spPr>
          <a:xfrm>
            <a:off x="4959483" y="2948948"/>
            <a:ext cx="4500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Peer P/E Table</a:t>
            </a:r>
          </a:p>
        </p:txBody>
      </p:sp>
    </p:spTree>
    <p:extLst>
      <p:ext uri="{BB962C8B-B14F-4D97-AF65-F5344CB8AC3E}">
        <p14:creationId xmlns:p14="http://schemas.microsoft.com/office/powerpoint/2010/main" val="3941450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BF223-07C7-8A1E-F824-59B8AE899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35601249-4465-B1D6-8251-B46DE5D7ABAE}"/>
              </a:ext>
            </a:extLst>
          </p:cNvPr>
          <p:cNvSpPr/>
          <p:nvPr/>
        </p:nvSpPr>
        <p:spPr>
          <a:xfrm flipV="1">
            <a:off x="1" y="372394"/>
            <a:ext cx="9906000" cy="103856"/>
          </a:xfrm>
          <a:custGeom>
            <a:avLst/>
            <a:gdLst/>
            <a:ahLst/>
            <a:cxnLst/>
            <a:rect l="l" t="t" r="r" b="b"/>
            <a:pathLst>
              <a:path w="11421110">
                <a:moveTo>
                  <a:pt x="0" y="0"/>
                </a:moveTo>
                <a:lnTo>
                  <a:pt x="11420856" y="0"/>
                </a:lnTo>
              </a:path>
            </a:pathLst>
          </a:custGeom>
          <a:ln w="28575">
            <a:solidFill>
              <a:srgbClr val="002B5C"/>
            </a:solidFill>
          </a:ln>
        </p:spPr>
        <p:txBody>
          <a:bodyPr wrap="square" lIns="0" tIns="0" rIns="0" bIns="0" rtlCol="0"/>
          <a:lstStyle/>
          <a:p>
            <a:endParaRPr sz="135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4BFD7BD-35F1-3693-1174-9F3A800A2CF8}"/>
              </a:ext>
            </a:extLst>
          </p:cNvPr>
          <p:cNvSpPr/>
          <p:nvPr/>
        </p:nvSpPr>
        <p:spPr>
          <a:xfrm>
            <a:off x="0" y="6643991"/>
            <a:ext cx="9906000" cy="214010"/>
          </a:xfrm>
          <a:prstGeom prst="rect">
            <a:avLst/>
          </a:prstGeom>
          <a:solidFill>
            <a:srgbClr val="002B5C"/>
          </a:solidFill>
          <a:ln>
            <a:solidFill>
              <a:srgbClr val="002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6B1CD8-048C-A36E-8DB8-FE9E4BB4F0BE}"/>
              </a:ext>
            </a:extLst>
          </p:cNvPr>
          <p:cNvSpPr txBox="1"/>
          <p:nvPr/>
        </p:nvSpPr>
        <p:spPr>
          <a:xfrm>
            <a:off x="690563" y="704891"/>
            <a:ext cx="389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Peer</a:t>
            </a:r>
            <a:r>
              <a:rPr lang="ko-KR" altLang="en-US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그룹 선정</a:t>
            </a:r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B932FED-B3BD-AA1D-0CA1-71092CD53332}"/>
              </a:ext>
            </a:extLst>
          </p:cNvPr>
          <p:cNvSpPr/>
          <p:nvPr/>
        </p:nvSpPr>
        <p:spPr>
          <a:xfrm>
            <a:off x="452438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5F2A8A-FD96-5063-7F54-D01142D6341A}"/>
              </a:ext>
            </a:extLst>
          </p:cNvPr>
          <p:cNvSpPr txBox="1"/>
          <p:nvPr/>
        </p:nvSpPr>
        <p:spPr>
          <a:xfrm>
            <a:off x="54580" y="6643477"/>
            <a:ext cx="22703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2025-2 RFS</a:t>
            </a:r>
            <a:r>
              <a:rPr lang="ko-KR" altLang="en-US" sz="900" b="1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Team 2</a:t>
            </a:r>
            <a:endParaRPr lang="en-US" altLang="ko-KR" sz="900" b="1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1AE34E8C-CF1F-CB93-DC9A-12DB10BA8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7EB9F-0618-471D-9560-9D60814D947F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327EFF-4876-7C73-F181-B44FB42911B8}"/>
              </a:ext>
            </a:extLst>
          </p:cNvPr>
          <p:cNvSpPr txBox="1"/>
          <p:nvPr/>
        </p:nvSpPr>
        <p:spPr>
          <a:xfrm>
            <a:off x="273050" y="49730"/>
            <a:ext cx="582730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3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Valuation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960590-DAD5-4F0F-21D1-CBC7A9625816}"/>
              </a:ext>
            </a:extLst>
          </p:cNvPr>
          <p:cNvSpPr txBox="1"/>
          <p:nvPr/>
        </p:nvSpPr>
        <p:spPr>
          <a:xfrm>
            <a:off x="273050" y="864193"/>
            <a:ext cx="9329943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spcAft>
                <a:spcPts val="800"/>
              </a:spcAft>
              <a:buNone/>
            </a:pPr>
            <a:endParaRPr lang="ko-KR" altLang="ko-KR" sz="1200" kern="100" dirty="0">
              <a:solidFill>
                <a:srgbClr val="000000"/>
              </a:solidFill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just" latinLnBrk="1">
              <a:spcAft>
                <a:spcPts val="800"/>
              </a:spcAft>
              <a:buNone/>
              <a:tabLst>
                <a:tab pos="2628900" algn="l"/>
              </a:tabLst>
            </a:pP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FTAI Aviation Ltd(FTAI.US):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상업용 항공기 엔진에 대해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FAA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인증 기반의 부품을 제공하며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MRO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와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AM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서비스를 </a:t>
            </a:r>
            <a:r>
              <a:rPr lang="ko-KR" altLang="en-US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제공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또한 자체 엔진 생산을 진행하지 않으므로 경량 자산 구조를 영위하고 있다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라이선스 기반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BM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 고정비 구조가 동사와 유사하다고 판단하여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Peer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선정</a:t>
            </a:r>
            <a:endParaRPr lang="en-US" altLang="ko-KR" sz="1200" kern="100" dirty="0">
              <a:solidFill>
                <a:srgbClr val="000000"/>
              </a:solidFill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just" latinLnBrk="1">
              <a:spcAft>
                <a:spcPts val="800"/>
              </a:spcAft>
              <a:buNone/>
              <a:tabLst>
                <a:tab pos="2628900" algn="l"/>
              </a:tabLst>
            </a:pPr>
            <a:endParaRPr lang="ko-KR" altLang="ko-KR" sz="1200" kern="100" dirty="0">
              <a:solidFill>
                <a:srgbClr val="000000"/>
              </a:solidFill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just" latinLnBrk="1">
              <a:spcAft>
                <a:spcPts val="800"/>
              </a:spcAft>
              <a:buNone/>
              <a:tabLst>
                <a:tab pos="2628900" algn="l"/>
              </a:tabLst>
            </a:pPr>
            <a:r>
              <a:rPr lang="en-US" altLang="ko-KR" sz="1200" kern="100" dirty="0" err="1">
                <a:solidFill>
                  <a:srgbClr val="000000"/>
                </a:solidFill>
                <a:effectLst/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Heico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(HEI.US):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항공청 인증 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PMA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부품을 중심으로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약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2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만개의 부품을 보유한 항공기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AM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시장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1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위 업체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또한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항공기 부품의 재활용을 및 추출을 통해 배출 저감 등의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ESG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노력을 도모하고 있다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독점적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·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인증 기반 부품 공급을 통한 </a:t>
            </a:r>
            <a:r>
              <a:rPr lang="ko-KR" altLang="ko-KR" sz="1200" kern="100" dirty="0" err="1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고마진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구조가 동사의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kern="100" dirty="0" err="1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HiMSEN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엔진 정품 부품 사업 모델과 유사하다고 판단하여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Peer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선정하였다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  <a:p>
            <a:pPr algn="just" latinLnBrk="1">
              <a:spcAft>
                <a:spcPts val="800"/>
              </a:spcAft>
              <a:buNone/>
              <a:tabLst>
                <a:tab pos="2628900" algn="l"/>
              </a:tabLst>
            </a:pPr>
            <a:endParaRPr lang="ko-KR" altLang="ko-KR" sz="1200" kern="100" dirty="0">
              <a:solidFill>
                <a:srgbClr val="000000"/>
              </a:solidFill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just" latinLnBrk="1">
              <a:spcAft>
                <a:spcPts val="800"/>
              </a:spcAft>
              <a:buNone/>
              <a:tabLst>
                <a:tab pos="2628900" algn="l"/>
              </a:tabLst>
            </a:pP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GE </a:t>
            </a:r>
            <a:r>
              <a:rPr lang="en-US" altLang="ko-KR" sz="1200" kern="100" dirty="0" err="1">
                <a:solidFill>
                  <a:srgbClr val="000000"/>
                </a:solidFill>
                <a:effectLst/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Vernova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(GEV.US):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다양한 발전원에 대한 설비 공급 및 </a:t>
            </a:r>
            <a:r>
              <a:rPr lang="ko-KR" altLang="ko-KR" sz="1200" kern="100" dirty="0" err="1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유지·보수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서비스를 제공하며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kern="100" dirty="0">
                <a:solidFill>
                  <a:srgbClr val="00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발전설비 산업도 전력 수요 증가 </a:t>
            </a:r>
            <a:r>
              <a:rPr lang="en-US" altLang="ko-KR" sz="1200" kern="100" dirty="0">
                <a:solidFill>
                  <a:srgbClr val="00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+ </a:t>
            </a:r>
            <a:r>
              <a:rPr lang="ko-KR" altLang="en-US" sz="1200" kern="100" dirty="0">
                <a:solidFill>
                  <a:srgbClr val="00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노후발전소 교체 수요까지 겹치며 가스발전이 상대적 친환경 에너지로 부상 중</a:t>
            </a:r>
            <a:r>
              <a:rPr lang="en-US" altLang="ko-KR" sz="1200" kern="100" dirty="0">
                <a:solidFill>
                  <a:srgbClr val="00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특히 터빈 장비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ASP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증가로 발생할 긍정적 흐름이 동사의 엔진 서비스 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ASP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상승과 유사한 업황이라 판단하여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Peer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선정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  <a:p>
            <a:pPr algn="just" latinLnBrk="1">
              <a:spcAft>
                <a:spcPts val="800"/>
              </a:spcAft>
              <a:buNone/>
              <a:tabLst>
                <a:tab pos="2628900" algn="l"/>
              </a:tabLst>
            </a:pPr>
            <a:r>
              <a:rPr lang="ko-KR" altLang="en-US" sz="1200" kern="100" dirty="0">
                <a:solidFill>
                  <a:srgbClr val="000000"/>
                </a:solidFill>
                <a:highlight>
                  <a:srgbClr val="D0CECE"/>
                </a:highlight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할인율 </a:t>
            </a:r>
            <a:r>
              <a:rPr lang="en-US" altLang="ko-KR" sz="1200" kern="100" dirty="0">
                <a:solidFill>
                  <a:srgbClr val="000000"/>
                </a:solidFill>
                <a:highlight>
                  <a:srgbClr val="D0CECE"/>
                </a:highlight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40%?: GEV</a:t>
            </a:r>
            <a:r>
              <a:rPr lang="ko-KR" altLang="en-US" sz="1200" kern="100" dirty="0">
                <a:solidFill>
                  <a:srgbClr val="000000"/>
                </a:solidFill>
                <a:highlight>
                  <a:srgbClr val="D0CECE"/>
                </a:highlight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의 </a:t>
            </a:r>
            <a:r>
              <a:rPr lang="ko-KR" altLang="en-US" sz="1200" kern="100" dirty="0" err="1">
                <a:solidFill>
                  <a:srgbClr val="000000"/>
                </a:solidFill>
                <a:highlight>
                  <a:srgbClr val="D0CECE"/>
                </a:highlight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멀티플</a:t>
            </a:r>
            <a:r>
              <a:rPr lang="ko-KR" altLang="en-US" sz="1200" kern="100" dirty="0">
                <a:solidFill>
                  <a:srgbClr val="000000"/>
                </a:solidFill>
                <a:highlight>
                  <a:srgbClr val="D0CECE"/>
                </a:highlight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 프리미엄은 신재생 에너지와 美 정책에서 비롯됨</a:t>
            </a:r>
            <a:r>
              <a:rPr lang="en-US" altLang="ko-KR" sz="1200" kern="100" dirty="0">
                <a:solidFill>
                  <a:srgbClr val="000000"/>
                </a:solidFill>
                <a:highlight>
                  <a:srgbClr val="D0CECE"/>
                </a:highlight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. </a:t>
            </a:r>
            <a:r>
              <a:rPr lang="ko-KR" altLang="en-US" sz="1200" kern="100" dirty="0">
                <a:solidFill>
                  <a:srgbClr val="000000"/>
                </a:solidFill>
                <a:highlight>
                  <a:srgbClr val="D0CECE"/>
                </a:highlight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해당 부문이 매출의 </a:t>
            </a:r>
            <a:r>
              <a:rPr lang="en-US" altLang="ko-KR" sz="1200" kern="100" dirty="0">
                <a:solidFill>
                  <a:srgbClr val="000000"/>
                </a:solidFill>
                <a:highlight>
                  <a:srgbClr val="D0CECE"/>
                </a:highlight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30~50%</a:t>
            </a:r>
            <a:r>
              <a:rPr lang="ko-KR" altLang="en-US" sz="1200" kern="100" dirty="0">
                <a:solidFill>
                  <a:srgbClr val="000000"/>
                </a:solidFill>
                <a:highlight>
                  <a:srgbClr val="D0CECE"/>
                </a:highlight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를 차지하고 있기에</a:t>
            </a:r>
            <a:r>
              <a:rPr lang="en-US" altLang="ko-KR" sz="1200" kern="100" dirty="0">
                <a:solidFill>
                  <a:srgbClr val="000000"/>
                </a:solidFill>
                <a:highlight>
                  <a:srgbClr val="D0CECE"/>
                </a:highlight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, </a:t>
            </a:r>
            <a:r>
              <a:rPr lang="ko-KR" altLang="en-US" sz="1200" kern="100" dirty="0">
                <a:solidFill>
                  <a:srgbClr val="000000"/>
                </a:solidFill>
                <a:highlight>
                  <a:srgbClr val="D0CECE"/>
                </a:highlight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이 프리미엄을 제거하기 위하여 </a:t>
            </a:r>
            <a:r>
              <a:rPr lang="ko-KR" altLang="en-US" sz="1200" kern="100" dirty="0" err="1">
                <a:solidFill>
                  <a:srgbClr val="000000"/>
                </a:solidFill>
                <a:highlight>
                  <a:srgbClr val="D0CECE"/>
                </a:highlight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중간값인</a:t>
            </a:r>
            <a:r>
              <a:rPr lang="ko-KR" altLang="en-US" sz="1200" kern="100" dirty="0">
                <a:solidFill>
                  <a:srgbClr val="000000"/>
                </a:solidFill>
                <a:highlight>
                  <a:srgbClr val="D0CECE"/>
                </a:highlight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 </a:t>
            </a:r>
            <a:r>
              <a:rPr lang="en-US" altLang="ko-KR" sz="1200" kern="100" dirty="0">
                <a:solidFill>
                  <a:srgbClr val="000000"/>
                </a:solidFill>
                <a:highlight>
                  <a:srgbClr val="D0CECE"/>
                </a:highlight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40%</a:t>
            </a:r>
            <a:r>
              <a:rPr lang="ko-KR" altLang="en-US" sz="1200" kern="100" dirty="0">
                <a:solidFill>
                  <a:srgbClr val="000000"/>
                </a:solidFill>
                <a:highlight>
                  <a:srgbClr val="D0CECE"/>
                </a:highlight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를 할인율로 선정</a:t>
            </a:r>
            <a:r>
              <a:rPr lang="en-US" altLang="ko-KR" sz="1200" kern="100" dirty="0">
                <a:solidFill>
                  <a:srgbClr val="000000"/>
                </a:solidFill>
                <a:highlight>
                  <a:srgbClr val="D0CECE"/>
                </a:highlight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. </a:t>
            </a:r>
          </a:p>
          <a:p>
            <a:pPr algn="just" latinLnBrk="1">
              <a:spcAft>
                <a:spcPts val="800"/>
              </a:spcAft>
              <a:buNone/>
              <a:tabLst>
                <a:tab pos="2628900" algn="l"/>
              </a:tabLst>
            </a:pPr>
            <a:endParaRPr lang="en-US" altLang="ko-KR" sz="1200" kern="100" dirty="0">
              <a:solidFill>
                <a:srgbClr val="000000"/>
              </a:solidFill>
              <a:highlight>
                <a:srgbClr val="D0CECE"/>
              </a:highlight>
              <a:latin typeface="KoPubWorldDotum Bold" panose="00000800000000000000" pitchFamily="2" charset="-127"/>
              <a:ea typeface="KoPubWorldDotum Bold" panose="00000800000000000000" pitchFamily="2" charset="-127"/>
              <a:cs typeface="KoPubWorldDotum Bold" panose="00000800000000000000" pitchFamily="2" charset="-127"/>
            </a:endParaRPr>
          </a:p>
          <a:p>
            <a:pPr algn="just" latinLnBrk="1">
              <a:spcAft>
                <a:spcPts val="800"/>
              </a:spcAft>
              <a:buNone/>
              <a:tabLst>
                <a:tab pos="2628900" algn="l"/>
              </a:tabLst>
            </a:pP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Raytheon Technologies(RTX.US): </a:t>
            </a:r>
            <a:r>
              <a:rPr lang="en-US" altLang="ko-KR" sz="1200" kern="100" dirty="0" err="1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Pratt&amp;Whitney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 통해 군용기 엔진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AM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시장에서 독점적 지위를 갖고 있으며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장비 생산 증가 등의 모멘텀에 힘입어 성장이 지속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전망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특히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AM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부문이 전체 매출 비중의 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35%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 상회하므로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AM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솔루션이 주 매출원인 동사와 유사하다고 판단하여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Peer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선정</a:t>
            </a:r>
            <a:endParaRPr lang="en-US" altLang="ko-KR" sz="1200" kern="100" dirty="0">
              <a:solidFill>
                <a:srgbClr val="000000"/>
              </a:solidFill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just" latinLnBrk="1">
              <a:spcAft>
                <a:spcPts val="800"/>
              </a:spcAft>
              <a:buNone/>
              <a:tabLst>
                <a:tab pos="2628900" algn="l"/>
              </a:tabLst>
            </a:pPr>
            <a:endParaRPr lang="ko-KR" altLang="ko-KR" sz="1200" kern="100" dirty="0">
              <a:solidFill>
                <a:srgbClr val="000000"/>
              </a:solidFill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just" latinLnBrk="1">
              <a:spcAft>
                <a:spcPts val="800"/>
              </a:spcAft>
              <a:buNone/>
              <a:tabLst>
                <a:tab pos="2628900" algn="l"/>
              </a:tabLst>
            </a:pP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BAE Systems(BA/.LN):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영국 기반의 글로벌 방산 업체로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무기체계 특성상 정품 장비만 허용되고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기존 납품 장비에 대한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MRO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계약에서 매출이 다수 발생하는 사업 구조를 보유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ko-KR" sz="1200" kern="100" dirty="0" err="1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힘쎈엔진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라이선스</a:t>
            </a:r>
            <a:r>
              <a:rPr lang="ko-KR" altLang="en-US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와 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LTSA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계약</a:t>
            </a:r>
            <a:r>
              <a:rPr lang="ko-KR" altLang="en-US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으로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반복 매출이 발생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하는 동사와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BM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 유사하다고 판단하여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Peer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선정</a:t>
            </a:r>
            <a:endParaRPr lang="en-US" altLang="ko-KR" sz="1200" kern="100" dirty="0">
              <a:solidFill>
                <a:srgbClr val="000000"/>
              </a:solidFill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just" latinLnBrk="1">
              <a:spcAft>
                <a:spcPts val="800"/>
              </a:spcAft>
              <a:buNone/>
              <a:tabLst>
                <a:tab pos="2628900" algn="l"/>
              </a:tabLst>
            </a:pPr>
            <a:endParaRPr lang="ko-KR" altLang="ko-KR" sz="1200" kern="100" dirty="0">
              <a:solidFill>
                <a:srgbClr val="000000"/>
              </a:solidFill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just" latinLnBrk="1">
              <a:spcAft>
                <a:spcPts val="800"/>
              </a:spcAft>
              <a:buNone/>
              <a:tabLst>
                <a:tab pos="2628900" algn="l"/>
              </a:tabLst>
            </a:pP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Alstom(ALO.FP): 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Alstom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은 전체 매출의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20%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이상이 철도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AM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서비스 부문에서 발생하고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기관차에 친환경 솔루션을 도입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중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추가로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장기 서비스 계약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(LTSA)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기반 수익 구조도 보유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중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BM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 매출 안정성의 지속적인 기조가 동사와 유사하다고 판단하여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Peer</a:t>
            </a:r>
            <a:r>
              <a:rPr lang="ko-KR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선정</a:t>
            </a:r>
            <a:r>
              <a:rPr lang="en-US" altLang="ko-KR" sz="1200" kern="1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  <a:br>
              <a:rPr lang="en-US" altLang="ko-KR" sz="360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</a:br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3493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11D17-E9FA-2818-DFB8-132E45552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19F3BEBA-48F7-2E5C-4BCC-E65CE242DE59}"/>
              </a:ext>
            </a:extLst>
          </p:cNvPr>
          <p:cNvSpPr/>
          <p:nvPr/>
        </p:nvSpPr>
        <p:spPr>
          <a:xfrm flipV="1">
            <a:off x="1" y="372394"/>
            <a:ext cx="9906000" cy="103856"/>
          </a:xfrm>
          <a:custGeom>
            <a:avLst/>
            <a:gdLst/>
            <a:ahLst/>
            <a:cxnLst/>
            <a:rect l="l" t="t" r="r" b="b"/>
            <a:pathLst>
              <a:path w="11421110">
                <a:moveTo>
                  <a:pt x="0" y="0"/>
                </a:moveTo>
                <a:lnTo>
                  <a:pt x="11420856" y="0"/>
                </a:lnTo>
              </a:path>
            </a:pathLst>
          </a:custGeom>
          <a:ln w="28575">
            <a:solidFill>
              <a:srgbClr val="002B5C"/>
            </a:solidFill>
          </a:ln>
        </p:spPr>
        <p:txBody>
          <a:bodyPr wrap="square" lIns="0" tIns="0" rIns="0" bIns="0" rtlCol="0"/>
          <a:lstStyle/>
          <a:p>
            <a:endParaRPr sz="135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ACA540B-BD37-9328-C714-916EBEF60F07}"/>
              </a:ext>
            </a:extLst>
          </p:cNvPr>
          <p:cNvSpPr/>
          <p:nvPr/>
        </p:nvSpPr>
        <p:spPr>
          <a:xfrm>
            <a:off x="0" y="6643991"/>
            <a:ext cx="9906000" cy="214010"/>
          </a:xfrm>
          <a:prstGeom prst="rect">
            <a:avLst/>
          </a:prstGeom>
          <a:solidFill>
            <a:srgbClr val="002B5C"/>
          </a:solidFill>
          <a:ln>
            <a:solidFill>
              <a:srgbClr val="002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418D0-53FB-4F80-4084-D0EC07CC6067}"/>
              </a:ext>
            </a:extLst>
          </p:cNvPr>
          <p:cNvSpPr txBox="1"/>
          <p:nvPr/>
        </p:nvSpPr>
        <p:spPr>
          <a:xfrm>
            <a:off x="690563" y="704891"/>
            <a:ext cx="389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Expected I/S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0CE642C-C12A-635F-F164-C851C214608D}"/>
              </a:ext>
            </a:extLst>
          </p:cNvPr>
          <p:cNvSpPr/>
          <p:nvPr/>
        </p:nvSpPr>
        <p:spPr>
          <a:xfrm>
            <a:off x="452438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CE32B-4E1D-6869-E29E-B9473AE47E99}"/>
              </a:ext>
            </a:extLst>
          </p:cNvPr>
          <p:cNvSpPr txBox="1"/>
          <p:nvPr/>
        </p:nvSpPr>
        <p:spPr>
          <a:xfrm>
            <a:off x="54580" y="6643477"/>
            <a:ext cx="22703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2025-2 RFS</a:t>
            </a:r>
            <a:r>
              <a:rPr lang="ko-KR" altLang="en-US" sz="900" b="1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Team 2</a:t>
            </a:r>
            <a:endParaRPr lang="en-US" altLang="ko-KR" sz="900" b="1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3DE23F-485E-BF15-7594-DB15513B192C}"/>
              </a:ext>
            </a:extLst>
          </p:cNvPr>
          <p:cNvSpPr txBox="1"/>
          <p:nvPr/>
        </p:nvSpPr>
        <p:spPr>
          <a:xfrm>
            <a:off x="446517" y="6270162"/>
            <a:ext cx="38112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</a:t>
            </a: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404F88A5-C665-DCDE-1096-0AE372108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37595" y="6387799"/>
            <a:ext cx="2228850" cy="365125"/>
          </a:xfrm>
        </p:spPr>
        <p:txBody>
          <a:bodyPr/>
          <a:lstStyle/>
          <a:p>
            <a:fld id="{DA87EB9F-0618-471D-9560-9D60814D947F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E009FE-52EA-BD5E-AD8A-CA077572F67D}"/>
              </a:ext>
            </a:extLst>
          </p:cNvPr>
          <p:cNvSpPr txBox="1"/>
          <p:nvPr/>
        </p:nvSpPr>
        <p:spPr>
          <a:xfrm>
            <a:off x="273050" y="49730"/>
            <a:ext cx="582730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3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Valuation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C462D8E-0300-419B-42B2-FCDFD4462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859278"/>
              </p:ext>
            </p:extLst>
          </p:nvPr>
        </p:nvGraphicFramePr>
        <p:xfrm>
          <a:off x="273050" y="1139364"/>
          <a:ext cx="9396725" cy="5013743"/>
        </p:xfrm>
        <a:graphic>
          <a:graphicData uri="http://schemas.openxmlformats.org/drawingml/2006/table">
            <a:tbl>
              <a:tblPr firstRow="1" firstCol="1" bandRow="1"/>
              <a:tblGrid>
                <a:gridCol w="1649095">
                  <a:extLst>
                    <a:ext uri="{9D8B030D-6E8A-4147-A177-3AD203B41FA5}">
                      <a16:colId xmlns:a16="http://schemas.microsoft.com/office/drawing/2014/main" val="3719453516"/>
                    </a:ext>
                  </a:extLst>
                </a:gridCol>
                <a:gridCol w="705638">
                  <a:extLst>
                    <a:ext uri="{9D8B030D-6E8A-4147-A177-3AD203B41FA5}">
                      <a16:colId xmlns:a16="http://schemas.microsoft.com/office/drawing/2014/main" val="1961555737"/>
                    </a:ext>
                  </a:extLst>
                </a:gridCol>
                <a:gridCol w="705638">
                  <a:extLst>
                    <a:ext uri="{9D8B030D-6E8A-4147-A177-3AD203B41FA5}">
                      <a16:colId xmlns:a16="http://schemas.microsoft.com/office/drawing/2014/main" val="44599160"/>
                    </a:ext>
                  </a:extLst>
                </a:gridCol>
                <a:gridCol w="705638">
                  <a:extLst>
                    <a:ext uri="{9D8B030D-6E8A-4147-A177-3AD203B41FA5}">
                      <a16:colId xmlns:a16="http://schemas.microsoft.com/office/drawing/2014/main" val="3193361344"/>
                    </a:ext>
                  </a:extLst>
                </a:gridCol>
                <a:gridCol w="705638">
                  <a:extLst>
                    <a:ext uri="{9D8B030D-6E8A-4147-A177-3AD203B41FA5}">
                      <a16:colId xmlns:a16="http://schemas.microsoft.com/office/drawing/2014/main" val="1547383530"/>
                    </a:ext>
                  </a:extLst>
                </a:gridCol>
                <a:gridCol w="703839">
                  <a:extLst>
                    <a:ext uri="{9D8B030D-6E8A-4147-A177-3AD203B41FA5}">
                      <a16:colId xmlns:a16="http://schemas.microsoft.com/office/drawing/2014/main" val="972017403"/>
                    </a:ext>
                  </a:extLst>
                </a:gridCol>
                <a:gridCol w="703839">
                  <a:extLst>
                    <a:ext uri="{9D8B030D-6E8A-4147-A177-3AD203B41FA5}">
                      <a16:colId xmlns:a16="http://schemas.microsoft.com/office/drawing/2014/main" val="2136472488"/>
                    </a:ext>
                  </a:extLst>
                </a:gridCol>
                <a:gridCol w="703839">
                  <a:extLst>
                    <a:ext uri="{9D8B030D-6E8A-4147-A177-3AD203B41FA5}">
                      <a16:colId xmlns:a16="http://schemas.microsoft.com/office/drawing/2014/main" val="1792937203"/>
                    </a:ext>
                  </a:extLst>
                </a:gridCol>
                <a:gridCol w="703839">
                  <a:extLst>
                    <a:ext uri="{9D8B030D-6E8A-4147-A177-3AD203B41FA5}">
                      <a16:colId xmlns:a16="http://schemas.microsoft.com/office/drawing/2014/main" val="2801653190"/>
                    </a:ext>
                  </a:extLst>
                </a:gridCol>
                <a:gridCol w="703839">
                  <a:extLst>
                    <a:ext uri="{9D8B030D-6E8A-4147-A177-3AD203B41FA5}">
                      <a16:colId xmlns:a16="http://schemas.microsoft.com/office/drawing/2014/main" val="2207692271"/>
                    </a:ext>
                  </a:extLst>
                </a:gridCol>
                <a:gridCol w="703839">
                  <a:extLst>
                    <a:ext uri="{9D8B030D-6E8A-4147-A177-3AD203B41FA5}">
                      <a16:colId xmlns:a16="http://schemas.microsoft.com/office/drawing/2014/main" val="3969966462"/>
                    </a:ext>
                  </a:extLst>
                </a:gridCol>
                <a:gridCol w="702044">
                  <a:extLst>
                    <a:ext uri="{9D8B030D-6E8A-4147-A177-3AD203B41FA5}">
                      <a16:colId xmlns:a16="http://schemas.microsoft.com/office/drawing/2014/main" val="2154219532"/>
                    </a:ext>
                  </a:extLst>
                </a:gridCol>
              </a:tblGrid>
              <a:tr h="235337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단위</a:t>
                      </a:r>
                      <a:r>
                        <a:rPr lang="en-US" sz="1100" kern="10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: </a:t>
                      </a:r>
                      <a:r>
                        <a:rPr lang="ko-KR" sz="1100" kern="10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백만 원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2Q24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3Q24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4Q24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1Q25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2Q25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3Q25E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4Q25E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1Q26E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2Q26E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3Q26E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 dirty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4Q26E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01212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 </a:t>
                      </a:r>
                      <a:r>
                        <a:rPr lang="ko-KR" sz="11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매출액 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437,855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461,261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463,373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485,598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467,722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469,387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483,294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508,637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519,268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538,811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550,319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575820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 </a:t>
                      </a:r>
                      <a:r>
                        <a:rPr lang="ko-KR" sz="11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매출원가 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343,798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355,933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373,086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377,587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358,744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367,644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375,007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394,395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404,090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418,392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427,433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08470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 (%) 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78.5%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77.2%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80.5%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77.8%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 dirty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76.7%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78.3%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77.6%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77.5%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77.8%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77.7%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77.7%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877013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매출총이익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94,057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105,328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90,287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108,011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108,977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101,743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108,287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114,242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115,177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120,419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122,887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670911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GPM(%)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21.5%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22.8%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19.5%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22.2%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23.3%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21.7%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22.4%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22.5%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22.2%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22.3%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22.3%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746334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판매비와 관리비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23,071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21,945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24,408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25,004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25,967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25,535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25,958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25,964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26,135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26,177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26,342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175814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 (%) 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5.3%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4.8%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5.3%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5.1%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5.6%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5.4%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5.4%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5.1%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5.0%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4.9%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4.8%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525808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 </a:t>
                      </a:r>
                      <a:r>
                        <a:rPr lang="ko-KR" sz="11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영업이익 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70,986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83,383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65,879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83,007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83,010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76,208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82,329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88,278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89,042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94,243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96,545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069172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OPM(%)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16.2%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18.1%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14.2%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17.1%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17.7%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16.2%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17.0%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17.4%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17.1%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17.5%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17.5%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054457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지분법손익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-179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-59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-107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-62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-102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-82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-88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-83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-89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-86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69477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금융수익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10,729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9,315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29,109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15,766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16,252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17,611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19,684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17,328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17,719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18,086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18,204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431582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금융원가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4,267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14,714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8,263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13,366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29,692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16,509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16,957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19,131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20,572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18,292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18,738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844746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기타수익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215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-7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425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451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106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244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306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277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233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265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270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834667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기타비용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719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482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775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1,875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1,334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1,116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1,275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1,400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1,281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1,268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1,306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978127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법인세차감전순이익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76,943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77,316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86,316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83,877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68,281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76,335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84,005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85,264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85,057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92,944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94,889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715010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법인세비용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20,264 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18,787 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17,909 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20,559 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15,284 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18,117 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18,397 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19,287 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19,117 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20,394 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20,726 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879321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당기순이익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56,679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58,529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68,407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63,318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52,997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58,218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65,609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65,977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65,940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72,550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74,163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114949"/>
                  </a:ext>
                </a:extLst>
              </a:tr>
              <a:tr h="2654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 dirty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(%)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12.9%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12.7%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14.8%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13.0%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11.3%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12.4%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13.6%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13.0%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12.7%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 dirty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13.5%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i="1" kern="100" spc="0" dirty="0">
                          <a:solidFill>
                            <a:srgbClr val="747474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13.5%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32278" marR="3227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578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729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E5357-7AA7-377E-F053-05D2A424B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B186C47C-9645-14C1-3333-4D1282BBB9BB}"/>
              </a:ext>
            </a:extLst>
          </p:cNvPr>
          <p:cNvSpPr/>
          <p:nvPr/>
        </p:nvSpPr>
        <p:spPr>
          <a:xfrm flipV="1">
            <a:off x="1" y="372394"/>
            <a:ext cx="9906000" cy="103856"/>
          </a:xfrm>
          <a:custGeom>
            <a:avLst/>
            <a:gdLst/>
            <a:ahLst/>
            <a:cxnLst/>
            <a:rect l="l" t="t" r="r" b="b"/>
            <a:pathLst>
              <a:path w="11421110">
                <a:moveTo>
                  <a:pt x="0" y="0"/>
                </a:moveTo>
                <a:lnTo>
                  <a:pt x="11420856" y="0"/>
                </a:lnTo>
              </a:path>
            </a:pathLst>
          </a:custGeom>
          <a:ln w="28575">
            <a:solidFill>
              <a:srgbClr val="002B5C"/>
            </a:solidFill>
          </a:ln>
        </p:spPr>
        <p:txBody>
          <a:bodyPr wrap="square" lIns="0" tIns="0" rIns="0" bIns="0" rtlCol="0"/>
          <a:lstStyle/>
          <a:p>
            <a:endParaRPr sz="135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019991A-F6F2-C5A0-BC6B-0086192E25C7}"/>
              </a:ext>
            </a:extLst>
          </p:cNvPr>
          <p:cNvSpPr/>
          <p:nvPr/>
        </p:nvSpPr>
        <p:spPr>
          <a:xfrm>
            <a:off x="0" y="6643991"/>
            <a:ext cx="9906000" cy="214010"/>
          </a:xfrm>
          <a:prstGeom prst="rect">
            <a:avLst/>
          </a:prstGeom>
          <a:solidFill>
            <a:srgbClr val="002B5C"/>
          </a:solidFill>
          <a:ln>
            <a:solidFill>
              <a:srgbClr val="002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74D452-920D-2AB0-8234-527A5274070E}"/>
              </a:ext>
            </a:extLst>
          </p:cNvPr>
          <p:cNvSpPr txBox="1"/>
          <p:nvPr/>
        </p:nvSpPr>
        <p:spPr>
          <a:xfrm>
            <a:off x="690563" y="704891"/>
            <a:ext cx="389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Financial Status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FEC562-31A2-A393-CF66-7A88829CEAA7}"/>
              </a:ext>
            </a:extLst>
          </p:cNvPr>
          <p:cNvSpPr/>
          <p:nvPr/>
        </p:nvSpPr>
        <p:spPr>
          <a:xfrm>
            <a:off x="452438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3769A4-B7B4-E492-D88C-9FA178D7B1E6}"/>
              </a:ext>
            </a:extLst>
          </p:cNvPr>
          <p:cNvSpPr txBox="1"/>
          <p:nvPr/>
        </p:nvSpPr>
        <p:spPr>
          <a:xfrm>
            <a:off x="54580" y="6643477"/>
            <a:ext cx="22703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2025-2 RFS</a:t>
            </a:r>
            <a:r>
              <a:rPr lang="ko-KR" altLang="en-US" sz="900" b="1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Team 2</a:t>
            </a:r>
            <a:endParaRPr lang="en-US" altLang="ko-KR" sz="900" b="1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089DF7-289D-3A9A-F913-2697CBB36BD8}"/>
              </a:ext>
            </a:extLst>
          </p:cNvPr>
          <p:cNvSpPr txBox="1"/>
          <p:nvPr/>
        </p:nvSpPr>
        <p:spPr>
          <a:xfrm>
            <a:off x="446517" y="6270162"/>
            <a:ext cx="38112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</a:t>
            </a: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D2B41298-1BA4-5600-B22B-F6F623D26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37595" y="6387799"/>
            <a:ext cx="2228850" cy="365125"/>
          </a:xfrm>
        </p:spPr>
        <p:txBody>
          <a:bodyPr/>
          <a:lstStyle/>
          <a:p>
            <a:fld id="{DA87EB9F-0618-471D-9560-9D60814D947F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D3B6B0-EF3E-720F-2D1C-86C0F5A66A6C}"/>
              </a:ext>
            </a:extLst>
          </p:cNvPr>
          <p:cNvSpPr txBox="1"/>
          <p:nvPr/>
        </p:nvSpPr>
        <p:spPr>
          <a:xfrm>
            <a:off x="273050" y="49730"/>
            <a:ext cx="582730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3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Valuation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FA25774-2ED8-B368-0B88-33AD9C537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903698"/>
              </p:ext>
            </p:extLst>
          </p:nvPr>
        </p:nvGraphicFramePr>
        <p:xfrm>
          <a:off x="713076" y="1074223"/>
          <a:ext cx="8479848" cy="5177163"/>
        </p:xfrm>
        <a:graphic>
          <a:graphicData uri="http://schemas.openxmlformats.org/drawingml/2006/table">
            <a:tbl>
              <a:tblPr firstRow="1" firstCol="1" bandRow="1"/>
              <a:tblGrid>
                <a:gridCol w="1440000">
                  <a:extLst>
                    <a:ext uri="{9D8B030D-6E8A-4147-A177-3AD203B41FA5}">
                      <a16:colId xmlns:a16="http://schemas.microsoft.com/office/drawing/2014/main" val="3637428008"/>
                    </a:ext>
                  </a:extLst>
                </a:gridCol>
                <a:gridCol w="671152">
                  <a:extLst>
                    <a:ext uri="{9D8B030D-6E8A-4147-A177-3AD203B41FA5}">
                      <a16:colId xmlns:a16="http://schemas.microsoft.com/office/drawing/2014/main" val="3486130044"/>
                    </a:ext>
                  </a:extLst>
                </a:gridCol>
                <a:gridCol w="671152">
                  <a:extLst>
                    <a:ext uri="{9D8B030D-6E8A-4147-A177-3AD203B41FA5}">
                      <a16:colId xmlns:a16="http://schemas.microsoft.com/office/drawing/2014/main" val="2696621541"/>
                    </a:ext>
                  </a:extLst>
                </a:gridCol>
                <a:gridCol w="671152">
                  <a:extLst>
                    <a:ext uri="{9D8B030D-6E8A-4147-A177-3AD203B41FA5}">
                      <a16:colId xmlns:a16="http://schemas.microsoft.com/office/drawing/2014/main" val="3667127556"/>
                    </a:ext>
                  </a:extLst>
                </a:gridCol>
                <a:gridCol w="663043">
                  <a:extLst>
                    <a:ext uri="{9D8B030D-6E8A-4147-A177-3AD203B41FA5}">
                      <a16:colId xmlns:a16="http://schemas.microsoft.com/office/drawing/2014/main" val="2494089923"/>
                    </a:ext>
                  </a:extLst>
                </a:gridCol>
                <a:gridCol w="234227">
                  <a:extLst>
                    <a:ext uri="{9D8B030D-6E8A-4147-A177-3AD203B41FA5}">
                      <a16:colId xmlns:a16="http://schemas.microsoft.com/office/drawing/2014/main" val="2160779834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131204151"/>
                    </a:ext>
                  </a:extLst>
                </a:gridCol>
                <a:gridCol w="672056">
                  <a:extLst>
                    <a:ext uri="{9D8B030D-6E8A-4147-A177-3AD203B41FA5}">
                      <a16:colId xmlns:a16="http://schemas.microsoft.com/office/drawing/2014/main" val="1667755053"/>
                    </a:ext>
                  </a:extLst>
                </a:gridCol>
                <a:gridCol w="672056">
                  <a:extLst>
                    <a:ext uri="{9D8B030D-6E8A-4147-A177-3AD203B41FA5}">
                      <a16:colId xmlns:a16="http://schemas.microsoft.com/office/drawing/2014/main" val="4013064373"/>
                    </a:ext>
                  </a:extLst>
                </a:gridCol>
                <a:gridCol w="672056">
                  <a:extLst>
                    <a:ext uri="{9D8B030D-6E8A-4147-A177-3AD203B41FA5}">
                      <a16:colId xmlns:a16="http://schemas.microsoft.com/office/drawing/2014/main" val="915528394"/>
                    </a:ext>
                  </a:extLst>
                </a:gridCol>
                <a:gridCol w="672954">
                  <a:extLst>
                    <a:ext uri="{9D8B030D-6E8A-4147-A177-3AD203B41FA5}">
                      <a16:colId xmlns:a16="http://schemas.microsoft.com/office/drawing/2014/main" val="3791834846"/>
                    </a:ext>
                  </a:extLst>
                </a:gridCol>
              </a:tblGrid>
              <a:tr h="167762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 dirty="0">
                          <a:solidFill>
                            <a:srgbClr val="FFFFFF"/>
                          </a:solidFill>
                          <a:effectLst/>
                          <a:latin typeface="KoPub돋움체_Pro Light"/>
                          <a:ea typeface="KoPubWorld돋움체 Bold" panose="00000800000000000000" pitchFamily="2" charset="-127"/>
                          <a:cs typeface="굴림" panose="020B0600000101010101" pitchFamily="50" charset="-127"/>
                        </a:rPr>
                        <a:t>예상 </a:t>
                      </a:r>
                      <a:r>
                        <a:rPr lang="ko-KR" sz="600" kern="100" spc="0" dirty="0" err="1">
                          <a:solidFill>
                            <a:srgbClr val="FFFFFF"/>
                          </a:solidFill>
                          <a:effectLst/>
                          <a:latin typeface="KoPub돋움체_Pro Light"/>
                          <a:ea typeface="KoPubWorld돋움체 Bold" panose="00000800000000000000" pitchFamily="2" charset="-127"/>
                          <a:cs typeface="굴림" panose="020B0600000101010101" pitchFamily="50" charset="-127"/>
                        </a:rPr>
                        <a:t>포괄손익계산서</a:t>
                      </a:r>
                      <a:r>
                        <a:rPr lang="en-US" sz="600" kern="100" spc="0" dirty="0">
                          <a:solidFill>
                            <a:srgbClr val="FFFFFF"/>
                          </a:solidFill>
                          <a:effectLst/>
                          <a:latin typeface="KoPub돋움체_Pro Light"/>
                          <a:ea typeface="KoPubWorld돋움체 Bold" panose="00000800000000000000" pitchFamily="2" charset="-127"/>
                          <a:cs typeface="굴림" panose="020B0600000101010101" pitchFamily="50" charset="-127"/>
                        </a:rPr>
                        <a:t>(</a:t>
                      </a:r>
                      <a:r>
                        <a:rPr lang="ko-KR" sz="600" kern="100" spc="0" dirty="0">
                          <a:solidFill>
                            <a:srgbClr val="FFFFFF"/>
                          </a:solidFill>
                          <a:effectLst/>
                          <a:latin typeface="KoPub돋움체_Pro Light"/>
                          <a:ea typeface="KoPubWorld돋움체 Bold" panose="00000800000000000000" pitchFamily="2" charset="-127"/>
                          <a:cs typeface="굴림" panose="020B0600000101010101" pitchFamily="50" charset="-127"/>
                        </a:rPr>
                        <a:t>단위</a:t>
                      </a:r>
                      <a:r>
                        <a:rPr lang="en-US" sz="600" kern="100" spc="0" dirty="0">
                          <a:solidFill>
                            <a:srgbClr val="FFFFFF"/>
                          </a:solidFill>
                          <a:effectLst/>
                          <a:latin typeface="KoPub돋움체_Pro Light"/>
                          <a:ea typeface="KoPubWorld돋움체 Bold" panose="00000800000000000000" pitchFamily="2" charset="-127"/>
                          <a:cs typeface="굴림" panose="020B0600000101010101" pitchFamily="50" charset="-127"/>
                        </a:rPr>
                        <a:t>: </a:t>
                      </a:r>
                      <a:r>
                        <a:rPr lang="ko-KR" sz="600" kern="100" spc="0" dirty="0">
                          <a:solidFill>
                            <a:srgbClr val="FFFFFF"/>
                          </a:solidFill>
                          <a:effectLst/>
                          <a:latin typeface="KoPub돋움체_Pro Light"/>
                          <a:ea typeface="KoPubWorld돋움체 Bold" panose="00000800000000000000" pitchFamily="2" charset="-127"/>
                          <a:cs typeface="굴림" panose="020B0600000101010101" pitchFamily="50" charset="-127"/>
                        </a:rPr>
                        <a:t>십억 원</a:t>
                      </a:r>
                      <a:r>
                        <a:rPr lang="en-US" sz="600" kern="100" spc="0" dirty="0">
                          <a:solidFill>
                            <a:srgbClr val="FFFFFF"/>
                          </a:solidFill>
                          <a:effectLst/>
                          <a:latin typeface="KoPub돋움체_Pro Light"/>
                          <a:ea typeface="KoPubWorld돋움체 Bold" panose="00000800000000000000" pitchFamily="2" charset="-127"/>
                          <a:cs typeface="굴림" panose="020B0600000101010101" pitchFamily="50" charset="-127"/>
                        </a:rPr>
                        <a:t>)</a:t>
                      </a:r>
                      <a:endParaRPr lang="ko-KR" sz="600" kern="100" spc="-30" dirty="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2023A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2024A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2025E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2026E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 dirty="0">
                          <a:solidFill>
                            <a:srgbClr val="FFFFFF"/>
                          </a:solidFill>
                          <a:effectLst/>
                          <a:latin typeface="KoPub돋움체_Pro Light"/>
                          <a:ea typeface="KoPubWorld돋움체 Bold" panose="00000800000000000000" pitchFamily="2" charset="-127"/>
                          <a:cs typeface="굴림" panose="020B0600000101010101" pitchFamily="50" charset="-127"/>
                        </a:rPr>
                        <a:t>예상 재무상태표</a:t>
                      </a:r>
                      <a:r>
                        <a:rPr lang="en-US" sz="600" kern="100" spc="0" dirty="0">
                          <a:solidFill>
                            <a:srgbClr val="FFFFFF"/>
                          </a:solidFill>
                          <a:effectLst/>
                          <a:latin typeface="KoPub돋움체_Pro Light"/>
                          <a:ea typeface="KoPubWorld돋움체 Bold" panose="00000800000000000000" pitchFamily="2" charset="-127"/>
                          <a:cs typeface="굴림" panose="020B0600000101010101" pitchFamily="50" charset="-127"/>
                        </a:rPr>
                        <a:t> (</a:t>
                      </a:r>
                      <a:r>
                        <a:rPr lang="ko-KR" sz="600" kern="100" spc="0" dirty="0">
                          <a:solidFill>
                            <a:srgbClr val="FFFFFF"/>
                          </a:solidFill>
                          <a:effectLst/>
                          <a:latin typeface="KoPub돋움체_Pro Light"/>
                          <a:ea typeface="KoPubWorld돋움체 Bold" panose="00000800000000000000" pitchFamily="2" charset="-127"/>
                          <a:cs typeface="굴림" panose="020B0600000101010101" pitchFamily="50" charset="-127"/>
                        </a:rPr>
                        <a:t>단위</a:t>
                      </a:r>
                      <a:r>
                        <a:rPr lang="en-US" sz="600" kern="100" spc="0" dirty="0">
                          <a:solidFill>
                            <a:srgbClr val="FFFFFF"/>
                          </a:solidFill>
                          <a:effectLst/>
                          <a:latin typeface="KoPub돋움체_Pro Light"/>
                          <a:ea typeface="KoPubWorld돋움체 Bold" panose="00000800000000000000" pitchFamily="2" charset="-127"/>
                          <a:cs typeface="굴림" panose="020B0600000101010101" pitchFamily="50" charset="-127"/>
                        </a:rPr>
                        <a:t>: </a:t>
                      </a:r>
                      <a:r>
                        <a:rPr lang="ko-KR" sz="600" kern="100" spc="0" dirty="0">
                          <a:solidFill>
                            <a:srgbClr val="FFFFFF"/>
                          </a:solidFill>
                          <a:effectLst/>
                          <a:latin typeface="KoPub돋움체_Pro Light"/>
                          <a:ea typeface="KoPubWorld돋움체 Bold" panose="00000800000000000000" pitchFamily="2" charset="-127"/>
                          <a:cs typeface="굴림" panose="020B0600000101010101" pitchFamily="50" charset="-127"/>
                        </a:rPr>
                        <a:t>십억 원</a:t>
                      </a:r>
                      <a:r>
                        <a:rPr lang="en-US" sz="600" kern="100" spc="0" dirty="0">
                          <a:solidFill>
                            <a:srgbClr val="FFFFFF"/>
                          </a:solidFill>
                          <a:effectLst/>
                          <a:latin typeface="KoPub돋움체_Pro Light"/>
                          <a:ea typeface="KoPubWorld돋움체 Bold" panose="00000800000000000000" pitchFamily="2" charset="-127"/>
                          <a:cs typeface="굴림" panose="020B0600000101010101" pitchFamily="50" charset="-127"/>
                        </a:rPr>
                        <a:t>)</a:t>
                      </a:r>
                      <a:endParaRPr lang="ko-KR" sz="600" kern="100" spc="-30" dirty="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2023A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2024A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2025E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2026E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974720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매출액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1,430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1,745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1,906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2,117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유동자산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597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1,076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1,237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1,558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588380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매출원가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1,158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1,383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1,479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1,644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현금 및 현금성자산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96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298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343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362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756777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매출총이익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273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362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427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473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매출채권 및 기타채권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211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263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305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381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708549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일반판매관리비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-71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-90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-102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-105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 dirty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재고자산</a:t>
                      </a:r>
                      <a:endParaRPr lang="ko-KR" sz="600" kern="100" spc="-30" dirty="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238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273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302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335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446052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조정영업이익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201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272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325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368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기타유동자산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39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41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107147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영업이익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201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272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325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368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비유동자산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59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77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83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92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977689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비영업손익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-1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-3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-5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-5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유형자산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11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26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35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0792676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금융손익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-7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-5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무형자산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548104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관계기업등 투자손익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기타자산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381463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세전계속사업손익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201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297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312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358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자산총계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657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1,152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1,320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1,651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618416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법인세 비용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69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72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유동부채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388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343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383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586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557357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계속영업이익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151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228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240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279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매입채무 및 기타채무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146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184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222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363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37014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중단사업이익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단기금융부채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142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19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13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13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404497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 dirty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당기순이익</a:t>
                      </a:r>
                      <a:endParaRPr lang="ko-KR" sz="600" kern="100" spc="-30" dirty="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151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228</a:t>
                      </a:r>
                      <a:endParaRPr lang="ko-KR" sz="600" kern="100" spc="-30" dirty="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240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279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기타유동부채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100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140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148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210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339638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지배주주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151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228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240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279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비유동부채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29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36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45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56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368378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비지배주주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장기금융부채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13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13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14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14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963163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총포괄이익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147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238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240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279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장기충당부채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296091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지배주주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147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238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240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279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부채총계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417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379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428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642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888323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비지배주주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지배주주지분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240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774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892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1,009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685932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EBITDA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212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284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341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389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자본금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22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22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22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212118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FCF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51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123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자본잉여금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385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404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404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887209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EBITDA </a:t>
                      </a: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마진율</a:t>
                      </a: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 (%)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14.8%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16.3%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17.9%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18.4%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이익잉여금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198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324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466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583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054207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영업이익률</a:t>
                      </a: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 (%)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14.1%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15.6%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17%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17.4%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비지배주주지분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928252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지배주주귀속 순이익률</a:t>
                      </a: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 (%)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10.3%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13.6%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12.6%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13.2%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자본총계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240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774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892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1,009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537881"/>
                  </a:ext>
                </a:extLst>
              </a:tr>
              <a:tr h="96859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611997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FFFFFF"/>
                          </a:solidFill>
                          <a:effectLst/>
                          <a:latin typeface="KoPub돋움체_Pro Light"/>
                          <a:ea typeface="KoPubWorld돋움체 Bold" panose="00000800000000000000" pitchFamily="2" charset="-127"/>
                          <a:cs typeface="굴림" panose="020B0600000101010101" pitchFamily="50" charset="-127"/>
                        </a:rPr>
                        <a:t>예상 현금흐름표</a:t>
                      </a:r>
                      <a:r>
                        <a:rPr lang="en-US" sz="600" kern="100" spc="0">
                          <a:solidFill>
                            <a:srgbClr val="FFFFFF"/>
                          </a:solidFill>
                          <a:effectLst/>
                          <a:latin typeface="KoPub돋움체_Pro Light"/>
                          <a:ea typeface="KoPubWorld돋움체 Bold" panose="00000800000000000000" pitchFamily="2" charset="-127"/>
                          <a:cs typeface="굴림" panose="020B0600000101010101" pitchFamily="50" charset="-127"/>
                        </a:rPr>
                        <a:t> (</a:t>
                      </a:r>
                      <a:r>
                        <a:rPr lang="ko-KR" sz="600" kern="100" spc="0">
                          <a:solidFill>
                            <a:srgbClr val="FFFFFF"/>
                          </a:solidFill>
                          <a:effectLst/>
                          <a:latin typeface="KoPub돋움체_Pro Light"/>
                          <a:ea typeface="KoPubWorld돋움체 Bold" panose="00000800000000000000" pitchFamily="2" charset="-127"/>
                          <a:cs typeface="굴림" panose="020B0600000101010101" pitchFamily="50" charset="-127"/>
                        </a:rPr>
                        <a:t>단위</a:t>
                      </a:r>
                      <a:r>
                        <a:rPr lang="en-US" sz="600" kern="100" spc="0">
                          <a:solidFill>
                            <a:srgbClr val="FFFFFF"/>
                          </a:solidFill>
                          <a:effectLst/>
                          <a:latin typeface="KoPub돋움체_Pro Light"/>
                          <a:ea typeface="KoPubWorld돋움체 Bold" panose="00000800000000000000" pitchFamily="2" charset="-127"/>
                          <a:cs typeface="굴림" panose="020B0600000101010101" pitchFamily="50" charset="-127"/>
                        </a:rPr>
                        <a:t>: </a:t>
                      </a:r>
                      <a:r>
                        <a:rPr lang="ko-KR" sz="600" kern="100" spc="0">
                          <a:solidFill>
                            <a:srgbClr val="FFFFFF"/>
                          </a:solidFill>
                          <a:effectLst/>
                          <a:latin typeface="KoPub돋움체_Pro Light"/>
                          <a:ea typeface="KoPubWorld돋움체 Bold" panose="00000800000000000000" pitchFamily="2" charset="-127"/>
                          <a:cs typeface="굴림" panose="020B0600000101010101" pitchFamily="50" charset="-127"/>
                        </a:rPr>
                        <a:t>십억 원</a:t>
                      </a:r>
                      <a:r>
                        <a:rPr lang="en-US" sz="600" kern="100" spc="0">
                          <a:solidFill>
                            <a:srgbClr val="FFFFFF"/>
                          </a:solidFill>
                          <a:effectLst/>
                          <a:latin typeface="KoPub돋움체_Pro Light"/>
                          <a:ea typeface="KoPubWorld돋움체 Bold" panose="00000800000000000000" pitchFamily="2" charset="-127"/>
                          <a:cs typeface="굴림" panose="020B0600000101010101" pitchFamily="50" charset="-127"/>
                        </a:rPr>
                        <a:t>)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2023A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2024A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2025E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2026E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 dirty="0">
                          <a:solidFill>
                            <a:srgbClr val="FFFFFF"/>
                          </a:solidFill>
                          <a:effectLst/>
                          <a:latin typeface="KoPub돋움체_Pro Light"/>
                          <a:ea typeface="KoPubWorld돋움체 Bold" panose="00000800000000000000" pitchFamily="2" charset="-127"/>
                          <a:cs typeface="굴림" panose="020B0600000101010101" pitchFamily="50" charset="-127"/>
                        </a:rPr>
                        <a:t>예상 주당 가치 및</a:t>
                      </a:r>
                      <a:r>
                        <a:rPr lang="en-US" sz="600" kern="100" spc="0" dirty="0">
                          <a:solidFill>
                            <a:srgbClr val="FFFFFF"/>
                          </a:solidFill>
                          <a:effectLst/>
                          <a:latin typeface="KoPub돋움체_Pro Light"/>
                          <a:ea typeface="KoPubWorld돋움체 Bold" panose="00000800000000000000" pitchFamily="2" charset="-127"/>
                          <a:cs typeface="굴림" panose="020B0600000101010101" pitchFamily="50" charset="-127"/>
                        </a:rPr>
                        <a:t> Valuation</a:t>
                      </a:r>
                      <a:endParaRPr lang="ko-KR" sz="600" kern="100" spc="-30" dirty="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2023A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2024A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2025E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2026E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73577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영업활동으로 인한 현금흐름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73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247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268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303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P/E (x)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N/R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30.4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39.2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47.98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673672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 dirty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당기순이익</a:t>
                      </a:r>
                      <a:endParaRPr lang="ko-KR" sz="600" kern="100" spc="-30" dirty="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151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228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240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279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P/B (x)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N/R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9.4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10.2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89143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감가상각비</a:t>
                      </a: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(</a:t>
                      </a: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계</a:t>
                      </a: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)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12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21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EV/EBITDA (x)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N/R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23.7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26.8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23.4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199294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19304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바탕" panose="02030600000101010101" pitchFamily="18" charset="-127"/>
                        </a:rPr>
                        <a:t>유형자산 감가상각비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바탕" panose="02030600000101010101" pitchFamily="18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12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21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EPS (</a:t>
                      </a: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원</a:t>
                      </a: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)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3,778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5,304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5,357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6,215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481969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19304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바탕" panose="02030600000101010101" pitchFamily="18" charset="-127"/>
                        </a:rPr>
                        <a:t>무형자산 상각비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바탕" panose="02030600000101010101" pitchFamily="18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BPS (</a:t>
                      </a: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원</a:t>
                      </a: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)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5,999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17,255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19,898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22,508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859435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19304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바탕" panose="02030600000101010101" pitchFamily="18" charset="-127"/>
                        </a:rPr>
                        <a:t>사용권자산 상각비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바탕" panose="02030600000101010101" pitchFamily="18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DPS (</a:t>
                      </a: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원</a:t>
                      </a: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)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2,500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3,150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4,100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4,100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261814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영업활동 자산부채 변동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-97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-6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-5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-7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배당성향</a:t>
                      </a: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 (%)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66.2%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59.4%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76.5%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42%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140287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 dirty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법인세납부</a:t>
                      </a:r>
                      <a:endParaRPr lang="ko-KR" sz="600" kern="100" spc="-30" dirty="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-49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-57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-60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-66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 dirty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배당수익률</a:t>
                      </a:r>
                      <a:r>
                        <a:rPr lang="en-US" sz="600" kern="100" spc="0" dirty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 (%)</a:t>
                      </a:r>
                      <a:endParaRPr lang="ko-KR" sz="600" kern="100" spc="-30" dirty="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N/R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1.4%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757136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14478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바탕" panose="02030600000101010101" pitchFamily="18" charset="-127"/>
                        </a:rPr>
                        <a:t>기타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바탕" panose="02030600000101010101" pitchFamily="18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77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76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매출액증가율</a:t>
                      </a: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 (%)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7.2%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22%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9.2%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11.1%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944781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투자활동으로 인한 현금흐름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-196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-178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-180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EBITDA</a:t>
                      </a: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증가율</a:t>
                      </a: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 (%)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N/R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35.3%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19.9%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14.3%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996698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현금유입액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조정영업이익증가율</a:t>
                      </a: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 (%)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41.9%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34.9%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19.3%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13.4%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486410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현금유출액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-3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-196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-178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-187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EPS</a:t>
                      </a: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증가율</a:t>
                      </a: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 (%)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N/R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40.4%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51259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장단기금융자산의 감소</a:t>
                      </a: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(</a:t>
                      </a: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증가</a:t>
                      </a: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)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매출채권 회전일수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53.7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55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58.4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65.7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387622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기타투자활동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재고자산 회전일수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75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72.1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57.8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57.8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26063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 dirty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재무활동으로 인한 현금흐름</a:t>
                      </a:r>
                      <a:endParaRPr lang="ko-KR" sz="600" kern="100" spc="-30" dirty="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-44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149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-45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-104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매입채무 회전일수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46.2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48.5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42.5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62.6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603902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현금유입액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175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478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396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332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ROA (%)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25.7%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25.2%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18.2%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16.9%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460351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현금유출액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-129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-229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-343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-274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ROE (%)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71.6%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45%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26.9%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27.6%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221207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 dirty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배당금의 지급</a:t>
                      </a:r>
                      <a:endParaRPr lang="ko-KR" sz="600" kern="100" spc="-30" dirty="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-90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-100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-98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-162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ROIC (%)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59.6%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66.5%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44.8%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44%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223285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 dirty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기타재무활동</a:t>
                      </a:r>
                      <a:endParaRPr lang="ko-KR" sz="600" kern="100" spc="-30" dirty="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 dirty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부채비율</a:t>
                      </a:r>
                      <a:r>
                        <a:rPr lang="en-US" sz="600" kern="100" spc="0" dirty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 (%)</a:t>
                      </a:r>
                      <a:endParaRPr lang="ko-KR" sz="600" kern="100" spc="-30" dirty="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173.6%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49%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48%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63.6%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198876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635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바탕" panose="02030600000101010101" pitchFamily="18" charset="-127"/>
                        </a:rPr>
                        <a:t>현금의 증가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바탕" panose="02030600000101010101" pitchFamily="18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32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202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45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19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 dirty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유동비율</a:t>
                      </a:r>
                      <a:r>
                        <a:rPr lang="en-US" sz="600" kern="100" spc="0" dirty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 (%)</a:t>
                      </a:r>
                      <a:endParaRPr lang="ko-KR" sz="600" kern="100" spc="-30" dirty="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154%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313.9%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323%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265.9%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337596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 dirty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기초현금</a:t>
                      </a:r>
                      <a:endParaRPr lang="ko-KR" sz="600" kern="100" spc="-30" dirty="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64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96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298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343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 dirty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당좌비율</a:t>
                      </a:r>
                      <a:r>
                        <a:rPr lang="en-US" sz="600" kern="100" spc="0" dirty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 (%)</a:t>
                      </a:r>
                      <a:endParaRPr lang="ko-KR" sz="600" kern="100" spc="-30" dirty="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92.7%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234.1%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169.2%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126.8%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668017"/>
                  </a:ext>
                </a:extLst>
              </a:tr>
              <a:tr h="104501">
                <a:tc>
                  <a:txBody>
                    <a:bodyPr/>
                    <a:lstStyle/>
                    <a:p>
                      <a:pPr marL="9652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 dirty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기말현금</a:t>
                      </a:r>
                      <a:endParaRPr lang="ko-KR" sz="600" kern="100" spc="-30" dirty="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96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298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343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362</a:t>
                      </a:r>
                      <a:endParaRPr lang="ko-KR" sz="600" kern="100" spc="-30">
                        <a:effectLst/>
                        <a:latin typeface="KoPub돋움체_Pro Bold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ko-KR" sz="600" kern="100" spc="0" dirty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자기자본비율</a:t>
                      </a:r>
                      <a:r>
                        <a:rPr lang="en-US" sz="600" kern="100" spc="0" dirty="0">
                          <a:solidFill>
                            <a:srgbClr val="000000"/>
                          </a:solidFill>
                          <a:effectLst/>
                          <a:latin typeface="KoPub돋움체_Pro Light"/>
                          <a:ea typeface="KoPubWorld돋움체 Light" panose="00000300000000000000" pitchFamily="2" charset="-127"/>
                          <a:cs typeface="굴림" panose="020B0600000101010101" pitchFamily="50" charset="-127"/>
                        </a:rPr>
                        <a:t> (%)</a:t>
                      </a:r>
                      <a:endParaRPr lang="ko-KR" sz="600" kern="100" spc="-30" dirty="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36.6%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67.1%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67.6%</a:t>
                      </a:r>
                      <a:endParaRPr lang="ko-KR" sz="600" kern="100" spc="-3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8100" algn="ctr" latinLnBrk="1" hangingPunct="0">
                        <a:lnSpc>
                          <a:spcPct val="107000"/>
                        </a:lnSpc>
                        <a:buNone/>
                      </a:pPr>
                      <a:r>
                        <a:rPr lang="en-US" sz="600" kern="10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61.1%</a:t>
                      </a:r>
                      <a:endParaRPr lang="ko-KR" sz="600" kern="100" spc="-30" dirty="0">
                        <a:solidFill>
                          <a:srgbClr val="000000"/>
                        </a:solidFill>
                        <a:effectLst/>
                        <a:latin typeface="KoPub돋움체_Pro Light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93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4001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5594</TotalTime>
  <Words>3384</Words>
  <Application>Microsoft Office PowerPoint</Application>
  <PresentationFormat>A4 용지(210x297mm)</PresentationFormat>
  <Paragraphs>1325</Paragraphs>
  <Slides>16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7" baseType="lpstr">
      <vt:lpstr>KoPubWorldDotum Bold</vt:lpstr>
      <vt:lpstr>KoPubWorld돋움체 Bold</vt:lpstr>
      <vt:lpstr>KoPubWorld돋움체 Light</vt:lpstr>
      <vt:lpstr>KoPubWorld돋움체 Medium</vt:lpstr>
      <vt:lpstr>KoPub돋움체_Pro Bold</vt:lpstr>
      <vt:lpstr>KoPub돋움체_Pro Light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jung</dc:creator>
  <cp:lastModifiedBy>채현기</cp:lastModifiedBy>
  <cp:revision>463</cp:revision>
  <dcterms:created xsi:type="dcterms:W3CDTF">2017-02-27T14:22:35Z</dcterms:created>
  <dcterms:modified xsi:type="dcterms:W3CDTF">2025-09-24T08:42:14Z</dcterms:modified>
</cp:coreProperties>
</file>