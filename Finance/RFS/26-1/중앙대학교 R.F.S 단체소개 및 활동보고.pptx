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787" r:id="rId2"/>
    <p:sldId id="766" r:id="rId3"/>
    <p:sldId id="256" r:id="rId4"/>
    <p:sldId id="776" r:id="rId5"/>
    <p:sldId id="777" r:id="rId6"/>
    <p:sldId id="780" r:id="rId7"/>
    <p:sldId id="781" r:id="rId8"/>
    <p:sldId id="782" r:id="rId9"/>
    <p:sldId id="783" r:id="rId10"/>
    <p:sldId id="784" r:id="rId11"/>
    <p:sldId id="785" r:id="rId12"/>
    <p:sldId id="788" r:id="rId13"/>
  </p:sldIdLst>
  <p:sldSz cx="12192000" cy="6858000"/>
  <p:notesSz cx="6858000" cy="9144000"/>
  <p:embeddedFontLst>
    <p:embeddedFont>
      <p:font typeface="Dela Gothic One" panose="020B0600000101010101" charset="-127"/>
      <p:regular r:id="rId15"/>
    </p:embeddedFont>
    <p:embeddedFont>
      <p:font typeface="Cambria Math" panose="02040503050406030204" pitchFamily="18" charset="0"/>
      <p:regular r:id="rId16"/>
    </p:embeddedFont>
    <p:embeddedFont>
      <p:font typeface="HY헤드라인M" panose="02030600000101010101" pitchFamily="18" charset="-127"/>
      <p:regular r:id="rId17"/>
    </p:embeddedFont>
    <p:embeddedFont>
      <p:font typeface="KoPubWorld돋움체 Bold" panose="00000800000000000000" pitchFamily="2" charset="-127"/>
      <p:bold r:id="rId18"/>
    </p:embeddedFont>
    <p:embeddedFont>
      <p:font typeface="KoPubWorld돋움체 Bold" panose="00000800000000000000" pitchFamily="2" charset="-127"/>
      <p:bold r:id="rId18"/>
    </p:embeddedFont>
    <p:embeddedFont>
      <p:font typeface="KoPubWorld돋움체 Light" panose="00000300000000000000" pitchFamily="2" charset="-127"/>
      <p:regular r:id="rId19"/>
    </p:embeddedFont>
    <p:embeddedFont>
      <p:font typeface="KoPubWorld돋움체 Medium" panose="00000600000000000000" pitchFamily="2" charset="-127"/>
      <p:regular r:id="rId20"/>
    </p:embeddedFont>
    <p:embeddedFont>
      <p:font typeface="Segoe UI Symbol" panose="020B0502040204020203" pitchFamily="34" charset="0"/>
      <p:regular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" initials="j" lastIdx="1" clrIdx="0">
    <p:extLst>
      <p:ext uri="{19B8F6BF-5375-455C-9EA6-DF929625EA0E}">
        <p15:presenceInfo xmlns:p15="http://schemas.microsoft.com/office/powerpoint/2012/main" userId="j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1B2853"/>
    <a:srgbClr val="D0CECE"/>
    <a:srgbClr val="FFFFFF"/>
    <a:srgbClr val="2F5291"/>
    <a:srgbClr val="13214E"/>
    <a:srgbClr val="223763"/>
    <a:srgbClr val="161619"/>
    <a:srgbClr val="CED0D0"/>
    <a:srgbClr val="FA00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33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173864"/>
            </a:solidFill>
          </c:spPr>
          <c:dPt>
            <c:idx val="0"/>
            <c:bubble3D val="0"/>
            <c:spPr>
              <a:solidFill>
                <a:srgbClr val="17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F2B-45D4-9FAC-3631E82385DA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F2B-45D4-9FAC-3631E82385DA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F2B-45D4-9FAC-3631E82385DA}"/>
              </c:ext>
            </c:extLst>
          </c:dPt>
          <c:cat>
            <c:strRef>
              <c:f>Sheet1!$B$2:$B$4</c:f>
              <c:strCache>
                <c:ptCount val="3"/>
                <c:pt idx="0">
                  <c:v>코스피</c:v>
                </c:pt>
                <c:pt idx="1">
                  <c:v>코스닥</c:v>
                </c:pt>
                <c:pt idx="2">
                  <c:v>현금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0.5</c:v>
                </c:pt>
                <c:pt idx="1">
                  <c:v>0.4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2B-45D4-9FAC-3631E82385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17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7B-4D29-88F3-F633B0121BB5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7B-4D29-88F3-F633B0121BB5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7B-4D29-88F3-F633B0121BB5}"/>
              </c:ext>
            </c:extLst>
          </c:dPt>
          <c:dPt>
            <c:idx val="3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7B-4D29-88F3-F633B0121BB5}"/>
              </c:ext>
            </c:extLst>
          </c:dPt>
          <c:dPt>
            <c:idx val="4"/>
            <c:bubble3D val="0"/>
            <c:spPr>
              <a:solidFill>
                <a:srgbClr val="B4C7E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07B-4D29-88F3-F633B0121BB5}"/>
              </c:ext>
            </c:extLst>
          </c:dPt>
          <c:dPt>
            <c:idx val="5"/>
            <c:bubble3D val="0"/>
            <c:spPr>
              <a:solidFill>
                <a:srgbClr val="E7E6E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07B-4D29-88F3-F633B0121BB5}"/>
              </c:ext>
            </c:extLst>
          </c:dPt>
          <c:cat>
            <c:strRef>
              <c:f>Sheet2!$B$3:$B$8</c:f>
              <c:strCache>
                <c:ptCount val="6"/>
                <c:pt idx="0">
                  <c:v>반도체</c:v>
                </c:pt>
                <c:pt idx="1">
                  <c:v>에너지</c:v>
                </c:pt>
                <c:pt idx="2">
                  <c:v>바이오</c:v>
                </c:pt>
                <c:pt idx="3">
                  <c:v>소비재</c:v>
                </c:pt>
                <c:pt idx="4">
                  <c:v>우주</c:v>
                </c:pt>
                <c:pt idx="5">
                  <c:v>금융</c:v>
                </c:pt>
              </c:strCache>
            </c:strRef>
          </c:cat>
          <c:val>
            <c:numRef>
              <c:f>Sheet2!$C$3:$C$8</c:f>
              <c:numCache>
                <c:formatCode>0%</c:formatCode>
                <c:ptCount val="6"/>
                <c:pt idx="0">
                  <c:v>0.35</c:v>
                </c:pt>
                <c:pt idx="1">
                  <c:v>0.2</c:v>
                </c:pt>
                <c:pt idx="2">
                  <c:v>0.15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07B-4D29-88F3-F633B0121B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CA2491-DDEC-4347-8E21-265F576A6BD2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04856A6-76F9-4801-9E91-F6BA5071609B}">
      <dgm:prSet phldrT="[텍스트]"/>
      <dgm:spPr>
        <a:solidFill>
          <a:srgbClr val="2F5597">
            <a:alpha val="50000"/>
          </a:srgbClr>
        </a:solidFill>
      </dgm:spPr>
      <dgm:t>
        <a:bodyPr/>
        <a:lstStyle/>
        <a:p>
          <a:pPr latinLnBrk="1"/>
          <a:endParaRPr lang="ko-KR" altLang="en-US" dirty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91913CB0-679A-458F-8493-3347607710BD}" type="parTrans" cxnId="{8A98AC72-A210-48A8-9A76-1D1A3AAD9D4F}">
      <dgm:prSet/>
      <dgm:spPr/>
      <dgm:t>
        <a:bodyPr/>
        <a:lstStyle/>
        <a:p>
          <a:pPr latinLnBrk="1"/>
          <a:endParaRPr lang="ko-KR" altLang="en-US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0C148305-2A6D-4CB2-A65D-8F9691D40BE0}" type="sibTrans" cxnId="{8A98AC72-A210-48A8-9A76-1D1A3AAD9D4F}">
      <dgm:prSet/>
      <dgm:spPr/>
      <dgm:t>
        <a:bodyPr/>
        <a:lstStyle/>
        <a:p>
          <a:pPr latinLnBrk="1"/>
          <a:endParaRPr lang="ko-KR" altLang="en-US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C808F28A-2EEC-42D4-B74E-F2AEC6543F08}">
      <dgm:prSet phldrT="[텍스트]"/>
      <dgm:spPr>
        <a:solidFill>
          <a:srgbClr val="B4C7E7">
            <a:alpha val="50000"/>
          </a:srgbClr>
        </a:solidFill>
      </dgm:spPr>
      <dgm:t>
        <a:bodyPr/>
        <a:lstStyle/>
        <a:p>
          <a:pPr latinLnBrk="1"/>
          <a:endParaRPr lang="ko-KR" altLang="en-US" dirty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05D0F0EB-AA18-4F2A-86A9-ACCF5A23C78F}" type="parTrans" cxnId="{6D71A15A-665F-4560-9F1E-E811C58FC379}">
      <dgm:prSet/>
      <dgm:spPr/>
      <dgm:t>
        <a:bodyPr/>
        <a:lstStyle/>
        <a:p>
          <a:pPr latinLnBrk="1"/>
          <a:endParaRPr lang="ko-KR" altLang="en-US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968EF5F5-A4B2-4810-8FD9-C301BCD76E37}" type="sibTrans" cxnId="{6D71A15A-665F-4560-9F1E-E811C58FC379}">
      <dgm:prSet/>
      <dgm:spPr/>
      <dgm:t>
        <a:bodyPr/>
        <a:lstStyle/>
        <a:p>
          <a:pPr latinLnBrk="1"/>
          <a:endParaRPr lang="ko-KR" altLang="en-US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442B919F-E05C-4F53-BC7B-31769AD0DC8D}">
      <dgm:prSet phldrT="[텍스트]"/>
      <dgm:spPr>
        <a:solidFill>
          <a:srgbClr val="AEAEAE">
            <a:alpha val="50000"/>
          </a:srgbClr>
        </a:solidFill>
      </dgm:spPr>
      <dgm:t>
        <a:bodyPr/>
        <a:lstStyle/>
        <a:p>
          <a:pPr latinLnBrk="1"/>
          <a:endParaRPr lang="ko-KR" altLang="en-US" dirty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DC897551-EF3D-48FD-8B9B-C43567D8F0F8}" type="parTrans" cxnId="{34949B09-DC65-4096-9F0A-B3D76C257EA1}">
      <dgm:prSet/>
      <dgm:spPr/>
      <dgm:t>
        <a:bodyPr/>
        <a:lstStyle/>
        <a:p>
          <a:pPr latinLnBrk="1"/>
          <a:endParaRPr lang="ko-KR" altLang="en-US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1F618472-6E3B-4712-AC65-FAAA42D43AC6}" type="sibTrans" cxnId="{34949B09-DC65-4096-9F0A-B3D76C257EA1}">
      <dgm:prSet/>
      <dgm:spPr/>
      <dgm:t>
        <a:bodyPr/>
        <a:lstStyle/>
        <a:p>
          <a:pPr latinLnBrk="1"/>
          <a:endParaRPr lang="ko-KR" altLang="en-US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635B8E84-DEEB-4A76-A056-3A32B2515454}" type="pres">
      <dgm:prSet presAssocID="{CFCA2491-DDEC-4347-8E21-265F576A6BD2}" presName="compositeShape" presStyleCnt="0">
        <dgm:presLayoutVars>
          <dgm:chMax val="7"/>
          <dgm:dir/>
          <dgm:resizeHandles val="exact"/>
        </dgm:presLayoutVars>
      </dgm:prSet>
      <dgm:spPr/>
    </dgm:pt>
    <dgm:pt modelId="{54B50726-4125-46FE-977C-5EDE0F7B8D7B}" type="pres">
      <dgm:prSet presAssocID="{804856A6-76F9-4801-9E91-F6BA5071609B}" presName="circ1" presStyleLbl="vennNode1" presStyleIdx="0" presStyleCnt="3" custLinFactNeighborX="3045" custLinFactNeighborY="-2083"/>
      <dgm:spPr/>
    </dgm:pt>
    <dgm:pt modelId="{F7403B49-35A6-4D90-B083-4BDF2366EDBD}" type="pres">
      <dgm:prSet presAssocID="{804856A6-76F9-4801-9E91-F6BA5071609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B75C360-42C2-41E7-A756-86C1D6AFEA32}" type="pres">
      <dgm:prSet presAssocID="{C808F28A-2EEC-42D4-B74E-F2AEC6543F08}" presName="circ2" presStyleLbl="vennNode1" presStyleIdx="1" presStyleCnt="3" custLinFactNeighborX="8937" custLinFactNeighborY="2083"/>
      <dgm:spPr/>
    </dgm:pt>
    <dgm:pt modelId="{E2CF1C6D-44CD-4653-B076-82CFC4ECE263}" type="pres">
      <dgm:prSet presAssocID="{C808F28A-2EEC-42D4-B74E-F2AEC6543F0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D8CA3DD-5A06-4BD4-B1FE-6869855D4AFC}" type="pres">
      <dgm:prSet presAssocID="{442B919F-E05C-4F53-BC7B-31769AD0DC8D}" presName="circ3" presStyleLbl="vennNode1" presStyleIdx="2" presStyleCnt="3" custLinFactNeighborX="-2848" custLinFactNeighborY="2083"/>
      <dgm:spPr/>
    </dgm:pt>
    <dgm:pt modelId="{D2AEEAB1-82DD-4F3E-A25D-2078D89F5AA5}" type="pres">
      <dgm:prSet presAssocID="{442B919F-E05C-4F53-BC7B-31769AD0DC8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4949B09-DC65-4096-9F0A-B3D76C257EA1}" srcId="{CFCA2491-DDEC-4347-8E21-265F576A6BD2}" destId="{442B919F-E05C-4F53-BC7B-31769AD0DC8D}" srcOrd="2" destOrd="0" parTransId="{DC897551-EF3D-48FD-8B9B-C43567D8F0F8}" sibTransId="{1F618472-6E3B-4712-AC65-FAAA42D43AC6}"/>
    <dgm:cxn modelId="{5C294E24-99D2-4AAB-AF07-CDB37FD9B700}" type="presOf" srcId="{C808F28A-2EEC-42D4-B74E-F2AEC6543F08}" destId="{BB75C360-42C2-41E7-A756-86C1D6AFEA32}" srcOrd="0" destOrd="0" presId="urn:microsoft.com/office/officeart/2005/8/layout/venn1"/>
    <dgm:cxn modelId="{CFF9103E-25A9-4FFA-AD1C-FE6EC506ED4C}" type="presOf" srcId="{CFCA2491-DDEC-4347-8E21-265F576A6BD2}" destId="{635B8E84-DEEB-4A76-A056-3A32B2515454}" srcOrd="0" destOrd="0" presId="urn:microsoft.com/office/officeart/2005/8/layout/venn1"/>
    <dgm:cxn modelId="{6D95D73F-A93A-45EF-913C-977EAE798AD9}" type="presOf" srcId="{442B919F-E05C-4F53-BC7B-31769AD0DC8D}" destId="{D2AEEAB1-82DD-4F3E-A25D-2078D89F5AA5}" srcOrd="1" destOrd="0" presId="urn:microsoft.com/office/officeart/2005/8/layout/venn1"/>
    <dgm:cxn modelId="{8D588941-8B6C-4DAF-9A4B-C6969BB650CF}" type="presOf" srcId="{804856A6-76F9-4801-9E91-F6BA5071609B}" destId="{54B50726-4125-46FE-977C-5EDE0F7B8D7B}" srcOrd="0" destOrd="0" presId="urn:microsoft.com/office/officeart/2005/8/layout/venn1"/>
    <dgm:cxn modelId="{2D8A874C-FB14-48FE-87FF-89BFB1CF05E8}" type="presOf" srcId="{442B919F-E05C-4F53-BC7B-31769AD0DC8D}" destId="{FD8CA3DD-5A06-4BD4-B1FE-6869855D4AFC}" srcOrd="0" destOrd="0" presId="urn:microsoft.com/office/officeart/2005/8/layout/venn1"/>
    <dgm:cxn modelId="{8A98AC72-A210-48A8-9A76-1D1A3AAD9D4F}" srcId="{CFCA2491-DDEC-4347-8E21-265F576A6BD2}" destId="{804856A6-76F9-4801-9E91-F6BA5071609B}" srcOrd="0" destOrd="0" parTransId="{91913CB0-679A-458F-8493-3347607710BD}" sibTransId="{0C148305-2A6D-4CB2-A65D-8F9691D40BE0}"/>
    <dgm:cxn modelId="{6D71A15A-665F-4560-9F1E-E811C58FC379}" srcId="{CFCA2491-DDEC-4347-8E21-265F576A6BD2}" destId="{C808F28A-2EEC-42D4-B74E-F2AEC6543F08}" srcOrd="1" destOrd="0" parTransId="{05D0F0EB-AA18-4F2A-86A9-ACCF5A23C78F}" sibTransId="{968EF5F5-A4B2-4810-8FD9-C301BCD76E37}"/>
    <dgm:cxn modelId="{F73A2692-226A-433E-A6E8-DA1F5B1CCE05}" type="presOf" srcId="{C808F28A-2EEC-42D4-B74E-F2AEC6543F08}" destId="{E2CF1C6D-44CD-4653-B076-82CFC4ECE263}" srcOrd="1" destOrd="0" presId="urn:microsoft.com/office/officeart/2005/8/layout/venn1"/>
    <dgm:cxn modelId="{C06C0DDF-E245-4AF2-B9EF-86DA31E7DCF5}" type="presOf" srcId="{804856A6-76F9-4801-9E91-F6BA5071609B}" destId="{F7403B49-35A6-4D90-B083-4BDF2366EDBD}" srcOrd="1" destOrd="0" presId="urn:microsoft.com/office/officeart/2005/8/layout/venn1"/>
    <dgm:cxn modelId="{1A0E92B0-76C3-46BB-B4C2-9382C92E3ED6}" type="presParOf" srcId="{635B8E84-DEEB-4A76-A056-3A32B2515454}" destId="{54B50726-4125-46FE-977C-5EDE0F7B8D7B}" srcOrd="0" destOrd="0" presId="urn:microsoft.com/office/officeart/2005/8/layout/venn1"/>
    <dgm:cxn modelId="{5DB49988-AEA3-45D3-8196-B76117C2BB79}" type="presParOf" srcId="{635B8E84-DEEB-4A76-A056-3A32B2515454}" destId="{F7403B49-35A6-4D90-B083-4BDF2366EDBD}" srcOrd="1" destOrd="0" presId="urn:microsoft.com/office/officeart/2005/8/layout/venn1"/>
    <dgm:cxn modelId="{EA625894-6A82-4363-9788-0F3A1DD33010}" type="presParOf" srcId="{635B8E84-DEEB-4A76-A056-3A32B2515454}" destId="{BB75C360-42C2-41E7-A756-86C1D6AFEA32}" srcOrd="2" destOrd="0" presId="urn:microsoft.com/office/officeart/2005/8/layout/venn1"/>
    <dgm:cxn modelId="{DAA7EFA5-6D6C-42B5-8CAA-A126B1DA4A83}" type="presParOf" srcId="{635B8E84-DEEB-4A76-A056-3A32B2515454}" destId="{E2CF1C6D-44CD-4653-B076-82CFC4ECE263}" srcOrd="3" destOrd="0" presId="urn:microsoft.com/office/officeart/2005/8/layout/venn1"/>
    <dgm:cxn modelId="{3BDAC734-2AD4-4DB2-A039-57C1D58FF5AE}" type="presParOf" srcId="{635B8E84-DEEB-4A76-A056-3A32B2515454}" destId="{FD8CA3DD-5A06-4BD4-B1FE-6869855D4AFC}" srcOrd="4" destOrd="0" presId="urn:microsoft.com/office/officeart/2005/8/layout/venn1"/>
    <dgm:cxn modelId="{D54A97B6-F19E-4A08-AA40-0FB24DBB0553}" type="presParOf" srcId="{635B8E84-DEEB-4A76-A056-3A32B2515454}" destId="{D2AEEAB1-82DD-4F3E-A25D-2078D89F5AA5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4A8207-91B8-45D7-9B44-D6035072E7C7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770691B-8DA8-4BA6-801A-D7AFBCE97E75}">
      <dgm:prSet phldrT="[텍스트]" custT="1"/>
      <dgm:spPr>
        <a:solidFill>
          <a:srgbClr val="F0F0F0"/>
        </a:solidFill>
      </dgm:spPr>
      <dgm:t>
        <a:bodyPr/>
        <a:lstStyle/>
        <a:p>
          <a:pPr latinLnBrk="1">
            <a:lnSpc>
              <a:spcPct val="30000"/>
            </a:lnSpc>
          </a:pPr>
          <a:r>
            <a:rPr lang="en-US" altLang="ko-KR" sz="9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Benchmark</a:t>
          </a:r>
        </a:p>
        <a:p>
          <a:pPr latinLnBrk="1">
            <a:lnSpc>
              <a:spcPct val="30000"/>
            </a:lnSpc>
          </a:pPr>
          <a:r>
            <a:rPr lang="en-US" altLang="ko-KR" sz="9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Stocks listed on</a:t>
          </a:r>
        </a:p>
        <a:p>
          <a:pPr latinLnBrk="1">
            <a:lnSpc>
              <a:spcPct val="30000"/>
            </a:lnSpc>
          </a:pPr>
          <a:r>
            <a:rPr lang="en-US" altLang="ko-KR" sz="9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US &amp; Korea</a:t>
          </a:r>
          <a:endParaRPr lang="ko-KR" altLang="en-US" sz="9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898867B2-81E6-4E34-8369-3E6A22E78006}" type="parTrans" cxnId="{19B25E39-1D83-49C6-9683-DB328DE28725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71D61023-F032-4538-9B28-3904E4F0DAEF}" type="sibTrans" cxnId="{19B25E39-1D83-49C6-9683-DB328DE28725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59363389-846F-42A0-9985-5F37D1E4265F}">
      <dgm:prSet phldrT="[텍스트]" custT="1"/>
      <dgm:spPr>
        <a:solidFill>
          <a:srgbClr val="8FAADC"/>
        </a:solidFill>
      </dgm:spPr>
      <dgm:t>
        <a:bodyPr/>
        <a:lstStyle/>
        <a:p>
          <a:pPr latinLnBrk="1">
            <a:lnSpc>
              <a:spcPct val="50000"/>
            </a:lnSpc>
          </a:pPr>
          <a:r>
            <a:rPr lang="en-US" altLang="ko-KR" sz="9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Investment Universe</a:t>
          </a:r>
        </a:p>
        <a:p>
          <a:pPr latinLnBrk="1">
            <a:lnSpc>
              <a:spcPct val="50000"/>
            </a:lnSpc>
          </a:pPr>
          <a:r>
            <a:rPr lang="en-US" altLang="ko-KR" sz="9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500 stocks per sector</a:t>
          </a:r>
          <a:endParaRPr lang="ko-KR" altLang="en-US" sz="9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482F4BB1-6009-4263-B4EC-A25451A1807C}" type="parTrans" cxnId="{C483042C-C7B6-471A-A57C-49C49624A5B6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42EB9F9B-D7D3-4CB2-B950-EDE172C1C5FE}" type="sibTrans" cxnId="{C483042C-C7B6-471A-A57C-49C49624A5B6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9C7DBCF7-847A-41E2-9478-A4FD83A12D3A}">
      <dgm:prSet phldrT="[텍스트]" custT="1"/>
      <dgm:spPr>
        <a:solidFill>
          <a:srgbClr val="2F5597"/>
        </a:solidFill>
      </dgm:spPr>
      <dgm:t>
        <a:bodyPr/>
        <a:lstStyle/>
        <a:p>
          <a:pPr latinLnBrk="1">
            <a:lnSpc>
              <a:spcPct val="50000"/>
            </a:lnSpc>
          </a:pPr>
          <a:endParaRPr lang="en-US" altLang="ko-KR" sz="10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  <a:p>
          <a:pPr latinLnBrk="1">
            <a:lnSpc>
              <a:spcPct val="50000"/>
            </a:lnSpc>
          </a:pPr>
          <a:r>
            <a:rPr lang="en-US" altLang="ko-KR" sz="1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Watchlist</a:t>
          </a:r>
        </a:p>
        <a:p>
          <a:pPr latinLnBrk="1">
            <a:lnSpc>
              <a:spcPct val="50000"/>
            </a:lnSpc>
          </a:pPr>
          <a:r>
            <a:rPr lang="en-US" altLang="ko-KR" sz="1000" dirty="0">
              <a:solidFill>
                <a:schemeClr val="bg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20 stocks per sector</a:t>
          </a:r>
          <a:endParaRPr lang="ko-KR" altLang="en-US" sz="1000" dirty="0">
            <a:solidFill>
              <a:schemeClr val="bg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61FC846E-8BF6-4170-9A25-EE00EB129CFC}" type="parTrans" cxnId="{74FBA161-1412-496B-BBE4-9E387236E8C2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C0C1FC17-7B8D-492F-9B30-B5E492F35476}" type="sibTrans" cxnId="{74FBA161-1412-496B-BBE4-9E387236E8C2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B7181F68-0589-43AE-9936-4FAC495BB2A6}">
      <dgm:prSet phldrT="[텍스트]" custT="1"/>
      <dgm:spPr>
        <a:solidFill>
          <a:srgbClr val="203864"/>
        </a:solidFill>
      </dgm:spPr>
      <dgm:t>
        <a:bodyPr/>
        <a:lstStyle/>
        <a:p>
          <a:pPr latinLnBrk="1">
            <a:lnSpc>
              <a:spcPct val="50000"/>
            </a:lnSpc>
          </a:pPr>
          <a:r>
            <a:rPr lang="en-US" altLang="ko-KR" sz="1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Portfolio</a:t>
          </a:r>
        </a:p>
        <a:p>
          <a:pPr latinLnBrk="1">
            <a:lnSpc>
              <a:spcPct val="50000"/>
            </a:lnSpc>
          </a:pPr>
          <a:r>
            <a:rPr lang="en-US" altLang="ko-KR" sz="1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Max 10 stocks</a:t>
          </a:r>
        </a:p>
        <a:p>
          <a:pPr latinLnBrk="1">
            <a:lnSpc>
              <a:spcPct val="50000"/>
            </a:lnSpc>
          </a:pPr>
          <a:r>
            <a:rPr lang="en-US" altLang="ko-KR" sz="1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At least 1 stocks</a:t>
          </a:r>
        </a:p>
        <a:p>
          <a:pPr latinLnBrk="1">
            <a:lnSpc>
              <a:spcPct val="50000"/>
            </a:lnSpc>
          </a:pPr>
          <a:r>
            <a:rPr lang="en-US" altLang="ko-KR" sz="1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per sector</a:t>
          </a:r>
          <a:endParaRPr lang="ko-KR" altLang="en-US" sz="1000" dirty="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D650C9A5-271C-4109-978B-EF566EECC15B}" type="parTrans" cxnId="{6D1B1AFB-EEBD-44CF-A382-1D2B59C7166F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0FA2A51C-301E-48A1-A6BC-9A0C62B03677}" type="sibTrans" cxnId="{6D1B1AFB-EEBD-44CF-A382-1D2B59C7166F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D15600B9-A8A4-4877-AB11-88B87AA84D88}">
      <dgm:prSet phldrT="[텍스트]" custT="1"/>
      <dgm:spPr>
        <a:solidFill>
          <a:srgbClr val="B4C7E7"/>
        </a:solidFill>
      </dgm:spPr>
      <dgm:t>
        <a:bodyPr/>
        <a:lstStyle/>
        <a:p>
          <a:pPr latinLnBrk="1">
            <a:lnSpc>
              <a:spcPct val="50000"/>
            </a:lnSpc>
          </a:pPr>
          <a:r>
            <a:rPr lang="en-US" altLang="ko-KR" sz="9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6 Sectors</a:t>
          </a:r>
        </a:p>
        <a:p>
          <a:pPr latinLnBrk="1">
            <a:lnSpc>
              <a:spcPct val="50000"/>
            </a:lnSpc>
          </a:pPr>
          <a:r>
            <a:rPr lang="en-US" altLang="ko-KR" sz="9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3,000~4,000 stocks</a:t>
          </a:r>
          <a:endParaRPr lang="ko-KR" altLang="en-US" sz="9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785E9C92-C59D-4A70-883E-81C8834B3274}" type="parTrans" cxnId="{9E573AB9-9F9A-455A-83BD-7DF7AC8D0B00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DF9141CC-8C9C-495D-9063-70DA648D8174}" type="sibTrans" cxnId="{9E573AB9-9F9A-455A-83BD-7DF7AC8D0B00}">
      <dgm:prSet/>
      <dgm:spPr/>
      <dgm:t>
        <a:bodyPr/>
        <a:lstStyle/>
        <a:p>
          <a:pPr latinLnBrk="1"/>
          <a:endParaRPr lang="ko-KR" altLang="en-US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8A3ACE53-0475-4F37-94BD-9EC3D5513FF3}" type="pres">
      <dgm:prSet presAssocID="{134A8207-91B8-45D7-9B44-D6035072E7C7}" presName="Name0" presStyleCnt="0">
        <dgm:presLayoutVars>
          <dgm:chMax val="7"/>
          <dgm:resizeHandles val="exact"/>
        </dgm:presLayoutVars>
      </dgm:prSet>
      <dgm:spPr/>
    </dgm:pt>
    <dgm:pt modelId="{E2A9ADD4-77F2-4DCE-8D74-657DF8F5A1B6}" type="pres">
      <dgm:prSet presAssocID="{134A8207-91B8-45D7-9B44-D6035072E7C7}" presName="comp1" presStyleCnt="0"/>
      <dgm:spPr/>
    </dgm:pt>
    <dgm:pt modelId="{D21B67AC-297B-4F5F-AD3C-3B8F5AAA6C47}" type="pres">
      <dgm:prSet presAssocID="{134A8207-91B8-45D7-9B44-D6035072E7C7}" presName="circle1" presStyleLbl="node1" presStyleIdx="0" presStyleCnt="5" custScaleX="109406"/>
      <dgm:spPr/>
    </dgm:pt>
    <dgm:pt modelId="{074CF95A-9031-4DDE-AFAD-A07FB308FE41}" type="pres">
      <dgm:prSet presAssocID="{134A8207-91B8-45D7-9B44-D6035072E7C7}" presName="c1text" presStyleLbl="node1" presStyleIdx="0" presStyleCnt="5">
        <dgm:presLayoutVars>
          <dgm:bulletEnabled val="1"/>
        </dgm:presLayoutVars>
      </dgm:prSet>
      <dgm:spPr/>
    </dgm:pt>
    <dgm:pt modelId="{71551E24-965A-46E8-B04A-A78B10EAC6DD}" type="pres">
      <dgm:prSet presAssocID="{134A8207-91B8-45D7-9B44-D6035072E7C7}" presName="comp2" presStyleCnt="0"/>
      <dgm:spPr/>
    </dgm:pt>
    <dgm:pt modelId="{C63534C5-1831-48AB-A108-ECEE5F4DDBCF}" type="pres">
      <dgm:prSet presAssocID="{134A8207-91B8-45D7-9B44-D6035072E7C7}" presName="circle2" presStyleLbl="node1" presStyleIdx="1" presStyleCnt="5" custScaleX="116674" custScaleY="95949" custLinFactNeighborY="9825"/>
      <dgm:spPr/>
    </dgm:pt>
    <dgm:pt modelId="{26D29739-9D64-4FFB-80AD-49CA2DA0F206}" type="pres">
      <dgm:prSet presAssocID="{134A8207-91B8-45D7-9B44-D6035072E7C7}" presName="c2text" presStyleLbl="node1" presStyleIdx="1" presStyleCnt="5">
        <dgm:presLayoutVars>
          <dgm:bulletEnabled val="1"/>
        </dgm:presLayoutVars>
      </dgm:prSet>
      <dgm:spPr/>
    </dgm:pt>
    <dgm:pt modelId="{8263F742-499E-4AC8-8944-758AF9695DEE}" type="pres">
      <dgm:prSet presAssocID="{134A8207-91B8-45D7-9B44-D6035072E7C7}" presName="comp3" presStyleCnt="0"/>
      <dgm:spPr/>
    </dgm:pt>
    <dgm:pt modelId="{F6BAC97B-51E8-44FC-B10D-0706757D45B2}" type="pres">
      <dgm:prSet presAssocID="{134A8207-91B8-45D7-9B44-D6035072E7C7}" presName="circle3" presStyleLbl="node1" presStyleIdx="2" presStyleCnt="5" custScaleX="129191" custScaleY="94107" custLinFactNeighborY="10012"/>
      <dgm:spPr/>
    </dgm:pt>
    <dgm:pt modelId="{CBCD48BB-1462-41D3-AB09-A4C66B1FB93C}" type="pres">
      <dgm:prSet presAssocID="{134A8207-91B8-45D7-9B44-D6035072E7C7}" presName="c3text" presStyleLbl="node1" presStyleIdx="2" presStyleCnt="5">
        <dgm:presLayoutVars>
          <dgm:bulletEnabled val="1"/>
        </dgm:presLayoutVars>
      </dgm:prSet>
      <dgm:spPr/>
    </dgm:pt>
    <dgm:pt modelId="{AFF52BAD-799E-4190-A7A7-8DB10CF69DE4}" type="pres">
      <dgm:prSet presAssocID="{134A8207-91B8-45D7-9B44-D6035072E7C7}" presName="comp4" presStyleCnt="0"/>
      <dgm:spPr/>
    </dgm:pt>
    <dgm:pt modelId="{AD062AD2-DDCC-4A55-8E43-17EB8DBC8697}" type="pres">
      <dgm:prSet presAssocID="{134A8207-91B8-45D7-9B44-D6035072E7C7}" presName="circle4" presStyleLbl="node1" presStyleIdx="3" presStyleCnt="5" custScaleX="146265" custScaleY="92636" custLinFactNeighborY="9301"/>
      <dgm:spPr/>
    </dgm:pt>
    <dgm:pt modelId="{BB8582DA-D998-4DAE-8ED1-11848D28AC3D}" type="pres">
      <dgm:prSet presAssocID="{134A8207-91B8-45D7-9B44-D6035072E7C7}" presName="c4text" presStyleLbl="node1" presStyleIdx="3" presStyleCnt="5">
        <dgm:presLayoutVars>
          <dgm:bulletEnabled val="1"/>
        </dgm:presLayoutVars>
      </dgm:prSet>
      <dgm:spPr/>
    </dgm:pt>
    <dgm:pt modelId="{2E29E6A2-C4AC-47C2-8DA3-3F7CF25A2D9F}" type="pres">
      <dgm:prSet presAssocID="{134A8207-91B8-45D7-9B44-D6035072E7C7}" presName="comp5" presStyleCnt="0"/>
      <dgm:spPr/>
    </dgm:pt>
    <dgm:pt modelId="{6C5BF1B4-7841-45B7-9621-5DAE22708D95}" type="pres">
      <dgm:prSet presAssocID="{134A8207-91B8-45D7-9B44-D6035072E7C7}" presName="circle5" presStyleLbl="node1" presStyleIdx="4" presStyleCnt="5" custScaleX="165221" custScaleY="80663" custLinFactNeighborY="19360"/>
      <dgm:spPr/>
    </dgm:pt>
    <dgm:pt modelId="{648B6AF1-2317-4706-8296-22CBA6DFD8B4}" type="pres">
      <dgm:prSet presAssocID="{134A8207-91B8-45D7-9B44-D6035072E7C7}" presName="c5text" presStyleLbl="node1" presStyleIdx="4" presStyleCnt="5">
        <dgm:presLayoutVars>
          <dgm:bulletEnabled val="1"/>
        </dgm:presLayoutVars>
      </dgm:prSet>
      <dgm:spPr/>
    </dgm:pt>
  </dgm:ptLst>
  <dgm:cxnLst>
    <dgm:cxn modelId="{56758E15-B617-42A7-8226-74F9FC9C5D32}" type="presOf" srcId="{134A8207-91B8-45D7-9B44-D6035072E7C7}" destId="{8A3ACE53-0475-4F37-94BD-9EC3D5513FF3}" srcOrd="0" destOrd="0" presId="urn:microsoft.com/office/officeart/2005/8/layout/venn2"/>
    <dgm:cxn modelId="{61C93516-47A0-4FCB-A206-2C5989F64917}" type="presOf" srcId="{7770691B-8DA8-4BA6-801A-D7AFBCE97E75}" destId="{D21B67AC-297B-4F5F-AD3C-3B8F5AAA6C47}" srcOrd="0" destOrd="0" presId="urn:microsoft.com/office/officeart/2005/8/layout/venn2"/>
    <dgm:cxn modelId="{C483042C-C7B6-471A-A57C-49C49624A5B6}" srcId="{134A8207-91B8-45D7-9B44-D6035072E7C7}" destId="{59363389-846F-42A0-9985-5F37D1E4265F}" srcOrd="2" destOrd="0" parTransId="{482F4BB1-6009-4263-B4EC-A25451A1807C}" sibTransId="{42EB9F9B-D7D3-4CB2-B950-EDE172C1C5FE}"/>
    <dgm:cxn modelId="{19B25E39-1D83-49C6-9683-DB328DE28725}" srcId="{134A8207-91B8-45D7-9B44-D6035072E7C7}" destId="{7770691B-8DA8-4BA6-801A-D7AFBCE97E75}" srcOrd="0" destOrd="0" parTransId="{898867B2-81E6-4E34-8369-3E6A22E78006}" sibTransId="{71D61023-F032-4538-9B28-3904E4F0DAEF}"/>
    <dgm:cxn modelId="{74FBA161-1412-496B-BBE4-9E387236E8C2}" srcId="{134A8207-91B8-45D7-9B44-D6035072E7C7}" destId="{9C7DBCF7-847A-41E2-9478-A4FD83A12D3A}" srcOrd="3" destOrd="0" parTransId="{61FC846E-8BF6-4170-9A25-EE00EB129CFC}" sibTransId="{C0C1FC17-7B8D-492F-9B30-B5E492F35476}"/>
    <dgm:cxn modelId="{5580F541-99B8-4BB3-80B2-84933DAF19BF}" type="presOf" srcId="{7770691B-8DA8-4BA6-801A-D7AFBCE97E75}" destId="{074CF95A-9031-4DDE-AFAD-A07FB308FE41}" srcOrd="1" destOrd="0" presId="urn:microsoft.com/office/officeart/2005/8/layout/venn2"/>
    <dgm:cxn modelId="{5CF18246-B30B-417C-8D64-B180BC05499E}" type="presOf" srcId="{B7181F68-0589-43AE-9936-4FAC495BB2A6}" destId="{648B6AF1-2317-4706-8296-22CBA6DFD8B4}" srcOrd="1" destOrd="0" presId="urn:microsoft.com/office/officeart/2005/8/layout/venn2"/>
    <dgm:cxn modelId="{3298619A-D311-470A-9850-C4F7BA9FCA9C}" type="presOf" srcId="{B7181F68-0589-43AE-9936-4FAC495BB2A6}" destId="{6C5BF1B4-7841-45B7-9621-5DAE22708D95}" srcOrd="0" destOrd="0" presId="urn:microsoft.com/office/officeart/2005/8/layout/venn2"/>
    <dgm:cxn modelId="{9E573AB9-9F9A-455A-83BD-7DF7AC8D0B00}" srcId="{134A8207-91B8-45D7-9B44-D6035072E7C7}" destId="{D15600B9-A8A4-4877-AB11-88B87AA84D88}" srcOrd="1" destOrd="0" parTransId="{785E9C92-C59D-4A70-883E-81C8834B3274}" sibTransId="{DF9141CC-8C9C-495D-9063-70DA648D8174}"/>
    <dgm:cxn modelId="{7C77BBD5-1CF6-4D82-BF48-7D07E8135B37}" type="presOf" srcId="{D15600B9-A8A4-4877-AB11-88B87AA84D88}" destId="{C63534C5-1831-48AB-A108-ECEE5F4DDBCF}" srcOrd="0" destOrd="0" presId="urn:microsoft.com/office/officeart/2005/8/layout/venn2"/>
    <dgm:cxn modelId="{8979FBD7-F03E-434F-A549-6101AABDF180}" type="presOf" srcId="{9C7DBCF7-847A-41E2-9478-A4FD83A12D3A}" destId="{AD062AD2-DDCC-4A55-8E43-17EB8DBC8697}" srcOrd="0" destOrd="0" presId="urn:microsoft.com/office/officeart/2005/8/layout/venn2"/>
    <dgm:cxn modelId="{C01568DB-0C1C-4485-A821-290E0BE06573}" type="presOf" srcId="{59363389-846F-42A0-9985-5F37D1E4265F}" destId="{CBCD48BB-1462-41D3-AB09-A4C66B1FB93C}" srcOrd="1" destOrd="0" presId="urn:microsoft.com/office/officeart/2005/8/layout/venn2"/>
    <dgm:cxn modelId="{DB0D89EB-F576-4FC1-BC99-0A660706E860}" type="presOf" srcId="{59363389-846F-42A0-9985-5F37D1E4265F}" destId="{F6BAC97B-51E8-44FC-B10D-0706757D45B2}" srcOrd="0" destOrd="0" presId="urn:microsoft.com/office/officeart/2005/8/layout/venn2"/>
    <dgm:cxn modelId="{8C8AE4EC-E19C-4CAC-9EDA-D3EEDC39506B}" type="presOf" srcId="{9C7DBCF7-847A-41E2-9478-A4FD83A12D3A}" destId="{BB8582DA-D998-4DAE-8ED1-11848D28AC3D}" srcOrd="1" destOrd="0" presId="urn:microsoft.com/office/officeart/2005/8/layout/venn2"/>
    <dgm:cxn modelId="{D162E2F6-BAD8-4C30-A7D9-A4FBC02D6466}" type="presOf" srcId="{D15600B9-A8A4-4877-AB11-88B87AA84D88}" destId="{26D29739-9D64-4FFB-80AD-49CA2DA0F206}" srcOrd="1" destOrd="0" presId="urn:microsoft.com/office/officeart/2005/8/layout/venn2"/>
    <dgm:cxn modelId="{6D1B1AFB-EEBD-44CF-A382-1D2B59C7166F}" srcId="{134A8207-91B8-45D7-9B44-D6035072E7C7}" destId="{B7181F68-0589-43AE-9936-4FAC495BB2A6}" srcOrd="4" destOrd="0" parTransId="{D650C9A5-271C-4109-978B-EF566EECC15B}" sibTransId="{0FA2A51C-301E-48A1-A6BC-9A0C62B03677}"/>
    <dgm:cxn modelId="{948AC6B5-8C1A-4738-B603-4BAEF012AFB5}" type="presParOf" srcId="{8A3ACE53-0475-4F37-94BD-9EC3D5513FF3}" destId="{E2A9ADD4-77F2-4DCE-8D74-657DF8F5A1B6}" srcOrd="0" destOrd="0" presId="urn:microsoft.com/office/officeart/2005/8/layout/venn2"/>
    <dgm:cxn modelId="{EBB9905F-AC2B-45B8-B600-BE7D5A769301}" type="presParOf" srcId="{E2A9ADD4-77F2-4DCE-8D74-657DF8F5A1B6}" destId="{D21B67AC-297B-4F5F-AD3C-3B8F5AAA6C47}" srcOrd="0" destOrd="0" presId="urn:microsoft.com/office/officeart/2005/8/layout/venn2"/>
    <dgm:cxn modelId="{14F0BD82-FDD1-47BD-8B79-97684E35A50F}" type="presParOf" srcId="{E2A9ADD4-77F2-4DCE-8D74-657DF8F5A1B6}" destId="{074CF95A-9031-4DDE-AFAD-A07FB308FE41}" srcOrd="1" destOrd="0" presId="urn:microsoft.com/office/officeart/2005/8/layout/venn2"/>
    <dgm:cxn modelId="{9F3E93AA-1E47-4231-8549-05155A524CC7}" type="presParOf" srcId="{8A3ACE53-0475-4F37-94BD-9EC3D5513FF3}" destId="{71551E24-965A-46E8-B04A-A78B10EAC6DD}" srcOrd="1" destOrd="0" presId="urn:microsoft.com/office/officeart/2005/8/layout/venn2"/>
    <dgm:cxn modelId="{B1DD51A9-19DB-4F43-929B-3DE1D884BD02}" type="presParOf" srcId="{71551E24-965A-46E8-B04A-A78B10EAC6DD}" destId="{C63534C5-1831-48AB-A108-ECEE5F4DDBCF}" srcOrd="0" destOrd="0" presId="urn:microsoft.com/office/officeart/2005/8/layout/venn2"/>
    <dgm:cxn modelId="{A2D87845-45BB-4A84-ABB8-E1F1C433D045}" type="presParOf" srcId="{71551E24-965A-46E8-B04A-A78B10EAC6DD}" destId="{26D29739-9D64-4FFB-80AD-49CA2DA0F206}" srcOrd="1" destOrd="0" presId="urn:microsoft.com/office/officeart/2005/8/layout/venn2"/>
    <dgm:cxn modelId="{C9070243-EA28-4696-AA10-96757A8DA4E1}" type="presParOf" srcId="{8A3ACE53-0475-4F37-94BD-9EC3D5513FF3}" destId="{8263F742-499E-4AC8-8944-758AF9695DEE}" srcOrd="2" destOrd="0" presId="urn:microsoft.com/office/officeart/2005/8/layout/venn2"/>
    <dgm:cxn modelId="{AA83C7F7-6A6D-4B4F-BA3B-FB06AACFD37E}" type="presParOf" srcId="{8263F742-499E-4AC8-8944-758AF9695DEE}" destId="{F6BAC97B-51E8-44FC-B10D-0706757D45B2}" srcOrd="0" destOrd="0" presId="urn:microsoft.com/office/officeart/2005/8/layout/venn2"/>
    <dgm:cxn modelId="{BC139705-237E-4D53-B024-2010999D7016}" type="presParOf" srcId="{8263F742-499E-4AC8-8944-758AF9695DEE}" destId="{CBCD48BB-1462-41D3-AB09-A4C66B1FB93C}" srcOrd="1" destOrd="0" presId="urn:microsoft.com/office/officeart/2005/8/layout/venn2"/>
    <dgm:cxn modelId="{3DBF8977-0511-4693-855B-C419D9456564}" type="presParOf" srcId="{8A3ACE53-0475-4F37-94BD-9EC3D5513FF3}" destId="{AFF52BAD-799E-4190-A7A7-8DB10CF69DE4}" srcOrd="3" destOrd="0" presId="urn:microsoft.com/office/officeart/2005/8/layout/venn2"/>
    <dgm:cxn modelId="{982063DB-C803-41F5-A916-DE3B95D61201}" type="presParOf" srcId="{AFF52BAD-799E-4190-A7A7-8DB10CF69DE4}" destId="{AD062AD2-DDCC-4A55-8E43-17EB8DBC8697}" srcOrd="0" destOrd="0" presId="urn:microsoft.com/office/officeart/2005/8/layout/venn2"/>
    <dgm:cxn modelId="{90DC1439-7A69-4231-920E-415FDA8DAA67}" type="presParOf" srcId="{AFF52BAD-799E-4190-A7A7-8DB10CF69DE4}" destId="{BB8582DA-D998-4DAE-8ED1-11848D28AC3D}" srcOrd="1" destOrd="0" presId="urn:microsoft.com/office/officeart/2005/8/layout/venn2"/>
    <dgm:cxn modelId="{E699880E-9B7A-47FA-8736-0705A6415B91}" type="presParOf" srcId="{8A3ACE53-0475-4F37-94BD-9EC3D5513FF3}" destId="{2E29E6A2-C4AC-47C2-8DA3-3F7CF25A2D9F}" srcOrd="4" destOrd="0" presId="urn:microsoft.com/office/officeart/2005/8/layout/venn2"/>
    <dgm:cxn modelId="{0915E45D-B26C-41BD-8584-CC9F4138EC49}" type="presParOf" srcId="{2E29E6A2-C4AC-47C2-8DA3-3F7CF25A2D9F}" destId="{6C5BF1B4-7841-45B7-9621-5DAE22708D95}" srcOrd="0" destOrd="0" presId="urn:microsoft.com/office/officeart/2005/8/layout/venn2"/>
    <dgm:cxn modelId="{EF8CA721-A881-4CCC-8228-53DF29BA295D}" type="presParOf" srcId="{2E29E6A2-C4AC-47C2-8DA3-3F7CF25A2D9F}" destId="{648B6AF1-2317-4706-8296-22CBA6DFD8B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2FB5B1-F161-493B-9759-93690AF9EDA6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B57E1B45-B414-44F2-853B-33DAB37FC6D2}">
      <dgm:prSet phldrT="[텍스트]" custT="1"/>
      <dgm:spPr>
        <a:solidFill>
          <a:srgbClr val="203864"/>
        </a:solidFill>
      </dgm:spPr>
      <dgm:t>
        <a:bodyPr/>
        <a:lstStyle/>
        <a:p>
          <a:pPr latinLnBrk="1"/>
          <a:r>
            <a:rPr lang="en-US" altLang="ko-KR" sz="10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 </a:t>
          </a:r>
          <a:endParaRPr lang="ko-KR" altLang="en-US" sz="10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57E95AD4-4514-43FF-842E-37522368A81E}" type="parTrans" cxnId="{0867F2D8-A3AF-4056-910D-7C96F2C9A8E7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2A9B4B25-E6C5-4FB9-A622-74452387A35B}" type="sibTrans" cxnId="{0867F2D8-A3AF-4056-910D-7C96F2C9A8E7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57BEDE7A-50B0-4319-BAD7-DDDBA51DBAE0}">
      <dgm:prSet phldrT="[텍스트]" custT="1"/>
      <dgm:spPr>
        <a:solidFill>
          <a:srgbClr val="E7E6E6"/>
        </a:solidFill>
      </dgm:spPr>
      <dgm:t>
        <a:bodyPr/>
        <a:lstStyle/>
        <a:p>
          <a:pPr latinLnBrk="1"/>
          <a:r>
            <a:rPr lang="ko-KR" altLang="en-US" sz="11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밸류에이션</a:t>
          </a:r>
        </a:p>
      </dgm:t>
    </dgm:pt>
    <dgm:pt modelId="{D9B05BBC-83F5-46F6-AC36-F108E49EF9CA}" type="parTrans" cxnId="{4DF7214E-F5D7-4D42-A5A2-131B269C6F1D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21FA21EC-6727-4AAC-8180-18A86F194C00}" type="sibTrans" cxnId="{4DF7214E-F5D7-4D42-A5A2-131B269C6F1D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25F8A1C9-73AE-4BCC-A5B2-92EB2036D9D5}">
      <dgm:prSet phldrT="[텍스트]" custT="1"/>
      <dgm:spPr>
        <a:solidFill>
          <a:srgbClr val="E7E6E6"/>
        </a:solidFill>
      </dgm:spPr>
      <dgm:t>
        <a:bodyPr/>
        <a:lstStyle/>
        <a:p>
          <a:pPr latinLnBrk="1"/>
          <a:r>
            <a:rPr lang="ko-KR" altLang="en-US" sz="11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펀더멘털</a:t>
          </a:r>
        </a:p>
      </dgm:t>
    </dgm:pt>
    <dgm:pt modelId="{0D791FDB-BEAF-4FD3-B441-1E3CB32EC25A}" type="parTrans" cxnId="{C94961F1-0719-4C21-BF98-5472899FA0BC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763BE76A-AD1D-493C-B582-918E604179A1}" type="sibTrans" cxnId="{C94961F1-0719-4C21-BF98-5472899FA0BC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A12DE049-54D1-41A9-A6B8-CA5084BC5360}">
      <dgm:prSet phldrT="[텍스트]" custT="1"/>
      <dgm:spPr>
        <a:solidFill>
          <a:srgbClr val="E7E6E6"/>
        </a:solidFill>
      </dgm:spPr>
      <dgm:t>
        <a:bodyPr/>
        <a:lstStyle/>
        <a:p>
          <a:pPr latinLnBrk="1"/>
          <a:r>
            <a:rPr lang="ko-KR" altLang="en-US" sz="11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모멘텀</a:t>
          </a:r>
        </a:p>
      </dgm:t>
    </dgm:pt>
    <dgm:pt modelId="{AF0C22C5-90A4-4ADD-934D-BDD7FF9FA5B4}" type="parTrans" cxnId="{F40BE141-621E-465D-9110-4420C7208D24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38885A70-E281-474C-9056-42169996473B}" type="sibTrans" cxnId="{F40BE141-621E-465D-9110-4420C7208D24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0C37029D-8C63-4F20-BCCA-F0A07358B895}">
      <dgm:prSet phldrT="[텍스트]" custT="1"/>
      <dgm:spPr>
        <a:solidFill>
          <a:srgbClr val="203864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18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Bottom Up (</a:t>
          </a:r>
          <a:r>
            <a:rPr lang="ko-KR" altLang="en-US" sz="18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종목 선정</a:t>
          </a:r>
          <a:r>
            <a:rPr lang="en-US" altLang="ko-KR" sz="18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)</a:t>
          </a:r>
          <a:endParaRPr lang="ko-KR" altLang="en-US" sz="1800" dirty="0">
            <a:solidFill>
              <a:schemeClr val="bg1"/>
            </a:solidFill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F8471278-2B92-4412-8842-BA9E25854CF2}" type="parTrans" cxnId="{D28A061A-A3E0-4565-8F2A-785C13C730F3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FD4C1E3B-5DF1-4D75-8D59-2AEB444F3EC2}" type="sibTrans" cxnId="{D28A061A-A3E0-4565-8F2A-785C13C730F3}">
      <dgm:prSet/>
      <dgm:spPr/>
      <dgm:t>
        <a:bodyPr/>
        <a:lstStyle/>
        <a:p>
          <a:pPr latinLnBrk="1"/>
          <a:endParaRPr lang="ko-KR" altLang="en-US" sz="100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91C9F052-8841-4E26-83FE-24223443D22C}" type="pres">
      <dgm:prSet presAssocID="{F22FB5B1-F161-493B-9759-93690AF9EDA6}" presName="Name0" presStyleCnt="0">
        <dgm:presLayoutVars>
          <dgm:dir/>
          <dgm:animLvl val="lvl"/>
          <dgm:resizeHandles val="exact"/>
        </dgm:presLayoutVars>
      </dgm:prSet>
      <dgm:spPr/>
    </dgm:pt>
    <dgm:pt modelId="{BFC3D2BF-32A8-464C-80E5-520CA1A3334A}" type="pres">
      <dgm:prSet presAssocID="{B57E1B45-B414-44F2-853B-33DAB37FC6D2}" presName="Name8" presStyleCnt="0"/>
      <dgm:spPr/>
    </dgm:pt>
    <dgm:pt modelId="{C72C2C8F-E4F0-4532-A36A-B28BB5D52170}" type="pres">
      <dgm:prSet presAssocID="{B57E1B45-B414-44F2-853B-33DAB37FC6D2}" presName="level" presStyleLbl="node1" presStyleIdx="0" presStyleCnt="5">
        <dgm:presLayoutVars>
          <dgm:chMax val="1"/>
          <dgm:bulletEnabled val="1"/>
        </dgm:presLayoutVars>
      </dgm:prSet>
      <dgm:spPr/>
    </dgm:pt>
    <dgm:pt modelId="{75D70BF9-A844-4833-949D-5B614AF5A325}" type="pres">
      <dgm:prSet presAssocID="{B57E1B45-B414-44F2-853B-33DAB37FC6D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1C068CF-C475-4574-AC9B-882555198344}" type="pres">
      <dgm:prSet presAssocID="{A12DE049-54D1-41A9-A6B8-CA5084BC5360}" presName="Name8" presStyleCnt="0"/>
      <dgm:spPr/>
    </dgm:pt>
    <dgm:pt modelId="{0493169D-9D8D-415A-9FBD-A786F7975114}" type="pres">
      <dgm:prSet presAssocID="{A12DE049-54D1-41A9-A6B8-CA5084BC5360}" presName="level" presStyleLbl="node1" presStyleIdx="1" presStyleCnt="5">
        <dgm:presLayoutVars>
          <dgm:chMax val="1"/>
          <dgm:bulletEnabled val="1"/>
        </dgm:presLayoutVars>
      </dgm:prSet>
      <dgm:spPr/>
    </dgm:pt>
    <dgm:pt modelId="{D7318E56-B65D-40A4-8B2E-0454FB984071}" type="pres">
      <dgm:prSet presAssocID="{A12DE049-54D1-41A9-A6B8-CA5084BC536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5A40E8E-7BCE-45A7-BFFF-EF37C9E41EF0}" type="pres">
      <dgm:prSet presAssocID="{57BEDE7A-50B0-4319-BAD7-DDDBA51DBAE0}" presName="Name8" presStyleCnt="0"/>
      <dgm:spPr/>
    </dgm:pt>
    <dgm:pt modelId="{405B5883-0DB2-4555-9196-92BEFBC75755}" type="pres">
      <dgm:prSet presAssocID="{57BEDE7A-50B0-4319-BAD7-DDDBA51DBAE0}" presName="level" presStyleLbl="node1" presStyleIdx="2" presStyleCnt="5">
        <dgm:presLayoutVars>
          <dgm:chMax val="1"/>
          <dgm:bulletEnabled val="1"/>
        </dgm:presLayoutVars>
      </dgm:prSet>
      <dgm:spPr/>
    </dgm:pt>
    <dgm:pt modelId="{8F795584-382D-485D-945A-4D3FDAFD4FAF}" type="pres">
      <dgm:prSet presAssocID="{57BEDE7A-50B0-4319-BAD7-DDDBA51DBAE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BF4E3A3-2D13-4E89-B446-8C256CDDE752}" type="pres">
      <dgm:prSet presAssocID="{25F8A1C9-73AE-4BCC-A5B2-92EB2036D9D5}" presName="Name8" presStyleCnt="0"/>
      <dgm:spPr/>
    </dgm:pt>
    <dgm:pt modelId="{FB33F0BA-E50C-4B69-BC2E-56191BAB05A4}" type="pres">
      <dgm:prSet presAssocID="{25F8A1C9-73AE-4BCC-A5B2-92EB2036D9D5}" presName="level" presStyleLbl="node1" presStyleIdx="3" presStyleCnt="5">
        <dgm:presLayoutVars>
          <dgm:chMax val="1"/>
          <dgm:bulletEnabled val="1"/>
        </dgm:presLayoutVars>
      </dgm:prSet>
      <dgm:spPr/>
    </dgm:pt>
    <dgm:pt modelId="{7F2AD879-D131-4738-AC14-B3CE29A706B1}" type="pres">
      <dgm:prSet presAssocID="{25F8A1C9-73AE-4BCC-A5B2-92EB2036D9D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D843647-7D46-449B-8F89-67412380DD66}" type="pres">
      <dgm:prSet presAssocID="{0C37029D-8C63-4F20-BCCA-F0A07358B895}" presName="Name8" presStyleCnt="0"/>
      <dgm:spPr/>
    </dgm:pt>
    <dgm:pt modelId="{0C7ED5C8-4B54-4D4E-A43F-1F400812A47E}" type="pres">
      <dgm:prSet presAssocID="{0C37029D-8C63-4F20-BCCA-F0A07358B895}" presName="level" presStyleLbl="node1" presStyleIdx="4" presStyleCnt="5">
        <dgm:presLayoutVars>
          <dgm:chMax val="1"/>
          <dgm:bulletEnabled val="1"/>
        </dgm:presLayoutVars>
      </dgm:prSet>
      <dgm:spPr/>
    </dgm:pt>
    <dgm:pt modelId="{F6B3BF2D-93D0-4C49-BD76-A66BC8BCFCB7}" type="pres">
      <dgm:prSet presAssocID="{0C37029D-8C63-4F20-BCCA-F0A07358B89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D91360D-9A1C-4F2F-8036-43CC0B751334}" type="presOf" srcId="{0C37029D-8C63-4F20-BCCA-F0A07358B895}" destId="{0C7ED5C8-4B54-4D4E-A43F-1F400812A47E}" srcOrd="0" destOrd="0" presId="urn:microsoft.com/office/officeart/2005/8/layout/pyramid1"/>
    <dgm:cxn modelId="{8C37D111-54C4-4324-A08A-412582CDD40D}" type="presOf" srcId="{25F8A1C9-73AE-4BCC-A5B2-92EB2036D9D5}" destId="{FB33F0BA-E50C-4B69-BC2E-56191BAB05A4}" srcOrd="0" destOrd="0" presId="urn:microsoft.com/office/officeart/2005/8/layout/pyramid1"/>
    <dgm:cxn modelId="{D28A061A-A3E0-4565-8F2A-785C13C730F3}" srcId="{F22FB5B1-F161-493B-9759-93690AF9EDA6}" destId="{0C37029D-8C63-4F20-BCCA-F0A07358B895}" srcOrd="4" destOrd="0" parTransId="{F8471278-2B92-4412-8842-BA9E25854CF2}" sibTransId="{FD4C1E3B-5DF1-4D75-8D59-2AEB444F3EC2}"/>
    <dgm:cxn modelId="{F40BE141-621E-465D-9110-4420C7208D24}" srcId="{F22FB5B1-F161-493B-9759-93690AF9EDA6}" destId="{A12DE049-54D1-41A9-A6B8-CA5084BC5360}" srcOrd="1" destOrd="0" parTransId="{AF0C22C5-90A4-4ADD-934D-BDD7FF9FA5B4}" sibTransId="{38885A70-E281-474C-9056-42169996473B}"/>
    <dgm:cxn modelId="{14BC8564-E9FC-4D22-B100-DA689086349C}" type="presOf" srcId="{B57E1B45-B414-44F2-853B-33DAB37FC6D2}" destId="{C72C2C8F-E4F0-4532-A36A-B28BB5D52170}" srcOrd="0" destOrd="0" presId="urn:microsoft.com/office/officeart/2005/8/layout/pyramid1"/>
    <dgm:cxn modelId="{4DF7214E-F5D7-4D42-A5A2-131B269C6F1D}" srcId="{F22FB5B1-F161-493B-9759-93690AF9EDA6}" destId="{57BEDE7A-50B0-4319-BAD7-DDDBA51DBAE0}" srcOrd="2" destOrd="0" parTransId="{D9B05BBC-83F5-46F6-AC36-F108E49EF9CA}" sibTransId="{21FA21EC-6727-4AAC-8180-18A86F194C00}"/>
    <dgm:cxn modelId="{A6DCDC7A-6775-4274-8DFE-F1317AD82BFC}" type="presOf" srcId="{57BEDE7A-50B0-4319-BAD7-DDDBA51DBAE0}" destId="{405B5883-0DB2-4555-9196-92BEFBC75755}" srcOrd="0" destOrd="0" presId="urn:microsoft.com/office/officeart/2005/8/layout/pyramid1"/>
    <dgm:cxn modelId="{D463BF92-1A38-4DD4-A299-C31F6F489C10}" type="presOf" srcId="{F22FB5B1-F161-493B-9759-93690AF9EDA6}" destId="{91C9F052-8841-4E26-83FE-24223443D22C}" srcOrd="0" destOrd="0" presId="urn:microsoft.com/office/officeart/2005/8/layout/pyramid1"/>
    <dgm:cxn modelId="{1BAC459A-71BF-4B22-B5F5-732A1BA83D8B}" type="presOf" srcId="{A12DE049-54D1-41A9-A6B8-CA5084BC5360}" destId="{D7318E56-B65D-40A4-8B2E-0454FB984071}" srcOrd="1" destOrd="0" presId="urn:microsoft.com/office/officeart/2005/8/layout/pyramid1"/>
    <dgm:cxn modelId="{CD6BCF9A-1515-4DE4-8AFC-DB2B2BF7AC8C}" type="presOf" srcId="{0C37029D-8C63-4F20-BCCA-F0A07358B895}" destId="{F6B3BF2D-93D0-4C49-BD76-A66BC8BCFCB7}" srcOrd="1" destOrd="0" presId="urn:microsoft.com/office/officeart/2005/8/layout/pyramid1"/>
    <dgm:cxn modelId="{8F84E99E-9E7B-4D69-B962-1B4FF7D7D260}" type="presOf" srcId="{57BEDE7A-50B0-4319-BAD7-DDDBA51DBAE0}" destId="{8F795584-382D-485D-945A-4D3FDAFD4FAF}" srcOrd="1" destOrd="0" presId="urn:microsoft.com/office/officeart/2005/8/layout/pyramid1"/>
    <dgm:cxn modelId="{FCEA38CF-6B1A-4BEC-B8B8-98A0128A2011}" type="presOf" srcId="{25F8A1C9-73AE-4BCC-A5B2-92EB2036D9D5}" destId="{7F2AD879-D131-4738-AC14-B3CE29A706B1}" srcOrd="1" destOrd="0" presId="urn:microsoft.com/office/officeart/2005/8/layout/pyramid1"/>
    <dgm:cxn modelId="{78E8E2D1-D6AC-4988-8A9E-D655364ABE27}" type="presOf" srcId="{A12DE049-54D1-41A9-A6B8-CA5084BC5360}" destId="{0493169D-9D8D-415A-9FBD-A786F7975114}" srcOrd="0" destOrd="0" presId="urn:microsoft.com/office/officeart/2005/8/layout/pyramid1"/>
    <dgm:cxn modelId="{0867F2D8-A3AF-4056-910D-7C96F2C9A8E7}" srcId="{F22FB5B1-F161-493B-9759-93690AF9EDA6}" destId="{B57E1B45-B414-44F2-853B-33DAB37FC6D2}" srcOrd="0" destOrd="0" parTransId="{57E95AD4-4514-43FF-842E-37522368A81E}" sibTransId="{2A9B4B25-E6C5-4FB9-A622-74452387A35B}"/>
    <dgm:cxn modelId="{256308EB-89F8-4B70-9106-610FE3980AE9}" type="presOf" srcId="{B57E1B45-B414-44F2-853B-33DAB37FC6D2}" destId="{75D70BF9-A844-4833-949D-5B614AF5A325}" srcOrd="1" destOrd="0" presId="urn:microsoft.com/office/officeart/2005/8/layout/pyramid1"/>
    <dgm:cxn modelId="{C94961F1-0719-4C21-BF98-5472899FA0BC}" srcId="{F22FB5B1-F161-493B-9759-93690AF9EDA6}" destId="{25F8A1C9-73AE-4BCC-A5B2-92EB2036D9D5}" srcOrd="3" destOrd="0" parTransId="{0D791FDB-BEAF-4FD3-B441-1E3CB32EC25A}" sibTransId="{763BE76A-AD1D-493C-B582-918E604179A1}"/>
    <dgm:cxn modelId="{BA3BE7AE-DC59-4083-854F-D8ABE9DA53FD}" type="presParOf" srcId="{91C9F052-8841-4E26-83FE-24223443D22C}" destId="{BFC3D2BF-32A8-464C-80E5-520CA1A3334A}" srcOrd="0" destOrd="0" presId="urn:microsoft.com/office/officeart/2005/8/layout/pyramid1"/>
    <dgm:cxn modelId="{D79F4813-2732-41C1-B785-AE0D34F70212}" type="presParOf" srcId="{BFC3D2BF-32A8-464C-80E5-520CA1A3334A}" destId="{C72C2C8F-E4F0-4532-A36A-B28BB5D52170}" srcOrd="0" destOrd="0" presId="urn:microsoft.com/office/officeart/2005/8/layout/pyramid1"/>
    <dgm:cxn modelId="{D2D18E55-85CF-400D-85A1-0BEC5F01F42E}" type="presParOf" srcId="{BFC3D2BF-32A8-464C-80E5-520CA1A3334A}" destId="{75D70BF9-A844-4833-949D-5B614AF5A325}" srcOrd="1" destOrd="0" presId="urn:microsoft.com/office/officeart/2005/8/layout/pyramid1"/>
    <dgm:cxn modelId="{4B5EC87F-1A3D-466B-91E1-14384F21DC3E}" type="presParOf" srcId="{91C9F052-8841-4E26-83FE-24223443D22C}" destId="{D1C068CF-C475-4574-AC9B-882555198344}" srcOrd="1" destOrd="0" presId="urn:microsoft.com/office/officeart/2005/8/layout/pyramid1"/>
    <dgm:cxn modelId="{28609A0C-C67C-42C9-ADD9-AB85E403B76D}" type="presParOf" srcId="{D1C068CF-C475-4574-AC9B-882555198344}" destId="{0493169D-9D8D-415A-9FBD-A786F7975114}" srcOrd="0" destOrd="0" presId="urn:microsoft.com/office/officeart/2005/8/layout/pyramid1"/>
    <dgm:cxn modelId="{606A8B30-7701-4727-89AE-C58E0C64334A}" type="presParOf" srcId="{D1C068CF-C475-4574-AC9B-882555198344}" destId="{D7318E56-B65D-40A4-8B2E-0454FB984071}" srcOrd="1" destOrd="0" presId="urn:microsoft.com/office/officeart/2005/8/layout/pyramid1"/>
    <dgm:cxn modelId="{128A175B-B434-42F8-9AED-EB04E59F2611}" type="presParOf" srcId="{91C9F052-8841-4E26-83FE-24223443D22C}" destId="{C5A40E8E-7BCE-45A7-BFFF-EF37C9E41EF0}" srcOrd="2" destOrd="0" presId="urn:microsoft.com/office/officeart/2005/8/layout/pyramid1"/>
    <dgm:cxn modelId="{BF2203B4-33DF-4A80-A944-5F7D5B2EB11D}" type="presParOf" srcId="{C5A40E8E-7BCE-45A7-BFFF-EF37C9E41EF0}" destId="{405B5883-0DB2-4555-9196-92BEFBC75755}" srcOrd="0" destOrd="0" presId="urn:microsoft.com/office/officeart/2005/8/layout/pyramid1"/>
    <dgm:cxn modelId="{1C4FEE06-7EB2-427F-AA5D-5F34651D48CA}" type="presParOf" srcId="{C5A40E8E-7BCE-45A7-BFFF-EF37C9E41EF0}" destId="{8F795584-382D-485D-945A-4D3FDAFD4FAF}" srcOrd="1" destOrd="0" presId="urn:microsoft.com/office/officeart/2005/8/layout/pyramid1"/>
    <dgm:cxn modelId="{4F4AFF44-77D8-4856-8F47-72EF903905DD}" type="presParOf" srcId="{91C9F052-8841-4E26-83FE-24223443D22C}" destId="{9BF4E3A3-2D13-4E89-B446-8C256CDDE752}" srcOrd="3" destOrd="0" presId="urn:microsoft.com/office/officeart/2005/8/layout/pyramid1"/>
    <dgm:cxn modelId="{F6133AE5-50A4-4C24-B906-8AC814C4248C}" type="presParOf" srcId="{9BF4E3A3-2D13-4E89-B446-8C256CDDE752}" destId="{FB33F0BA-E50C-4B69-BC2E-56191BAB05A4}" srcOrd="0" destOrd="0" presId="urn:microsoft.com/office/officeart/2005/8/layout/pyramid1"/>
    <dgm:cxn modelId="{1B409797-9E6F-4422-BA5C-931BE7FE91A7}" type="presParOf" srcId="{9BF4E3A3-2D13-4E89-B446-8C256CDDE752}" destId="{7F2AD879-D131-4738-AC14-B3CE29A706B1}" srcOrd="1" destOrd="0" presId="urn:microsoft.com/office/officeart/2005/8/layout/pyramid1"/>
    <dgm:cxn modelId="{FA53C6F5-C398-4278-BF55-6B1F3F35EE45}" type="presParOf" srcId="{91C9F052-8841-4E26-83FE-24223443D22C}" destId="{9D843647-7D46-449B-8F89-67412380DD66}" srcOrd="4" destOrd="0" presId="urn:microsoft.com/office/officeart/2005/8/layout/pyramid1"/>
    <dgm:cxn modelId="{85F26A44-1D9A-4E14-8D5A-2B738005FA5C}" type="presParOf" srcId="{9D843647-7D46-449B-8F89-67412380DD66}" destId="{0C7ED5C8-4B54-4D4E-A43F-1F400812A47E}" srcOrd="0" destOrd="0" presId="urn:microsoft.com/office/officeart/2005/8/layout/pyramid1"/>
    <dgm:cxn modelId="{D8A12566-12C4-4E63-856B-2DC7E1217F92}" type="presParOf" srcId="{9D843647-7D46-449B-8F89-67412380DD66}" destId="{F6B3BF2D-93D0-4C49-BD76-A66BC8BCFCB7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01608B-2548-4361-AD98-3C3ED5D02508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</dgm:pt>
    <dgm:pt modelId="{889F675F-4E8E-4C07-926E-C4451E6A762D}">
      <dgm:prSet phldrT="[텍스트]" custT="1"/>
      <dgm:spPr>
        <a:solidFill>
          <a:srgbClr val="203864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18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Top Down (</a:t>
          </a:r>
          <a:r>
            <a:rPr lang="ko-KR" altLang="en-US" sz="18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매크로</a:t>
          </a:r>
          <a:r>
            <a:rPr lang="en-US" altLang="ko-KR" sz="18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)</a:t>
          </a:r>
          <a:endParaRPr lang="ko-KR" altLang="en-US" sz="1800" dirty="0">
            <a:solidFill>
              <a:schemeClr val="bg1"/>
            </a:solidFill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gm:t>
    </dgm:pt>
    <dgm:pt modelId="{3C876515-4516-4B8D-AC13-5DAE21266483}" type="parTrans" cxnId="{88BF83E1-89CE-4E15-8984-FD1123D45F93}">
      <dgm:prSet/>
      <dgm:spPr/>
      <dgm:t>
        <a:bodyPr/>
        <a:lstStyle/>
        <a:p>
          <a:pPr latinLnBrk="1"/>
          <a:endParaRPr lang="ko-KR" altLang="en-US" sz="100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4DD9B7BF-DFCC-4C95-97E7-73965B791925}" type="sibTrans" cxnId="{88BF83E1-89CE-4E15-8984-FD1123D45F93}">
      <dgm:prSet/>
      <dgm:spPr/>
      <dgm:t>
        <a:bodyPr/>
        <a:lstStyle/>
        <a:p>
          <a:pPr latinLnBrk="1"/>
          <a:endParaRPr lang="ko-KR" altLang="en-US" sz="100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A16C3AFD-5C09-4C64-B90E-EE854FC2E637}">
      <dgm:prSet phldrT="[텍스트]" custT="1"/>
      <dgm:spPr>
        <a:solidFill>
          <a:srgbClr val="E7E6E6"/>
        </a:solidFill>
      </dgm:spPr>
      <dgm:t>
        <a:bodyPr/>
        <a:lstStyle/>
        <a:p>
          <a:pPr latinLnBrk="1">
            <a:lnSpc>
              <a:spcPct val="90000"/>
            </a:lnSpc>
          </a:pPr>
          <a:r>
            <a:rPr lang="ko-KR" altLang="en-US" sz="11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경제지표 분석 및 새로운 정책 확인</a:t>
          </a:r>
          <a:endParaRPr lang="en-US" altLang="ko-KR" sz="1100" dirty="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2A921B60-2E0B-4145-87A3-A85EED41D01F}" type="parTrans" cxnId="{BFBEB1F2-773B-4942-B5FB-29F00A152D9A}">
      <dgm:prSet/>
      <dgm:spPr/>
      <dgm:t>
        <a:bodyPr/>
        <a:lstStyle/>
        <a:p>
          <a:pPr latinLnBrk="1"/>
          <a:endParaRPr lang="ko-KR" altLang="en-US" sz="100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E2318D6E-1B8C-4FFC-8188-C05FE605AB1F}" type="sibTrans" cxnId="{BFBEB1F2-773B-4942-B5FB-29F00A152D9A}">
      <dgm:prSet/>
      <dgm:spPr/>
      <dgm:t>
        <a:bodyPr/>
        <a:lstStyle/>
        <a:p>
          <a:pPr latinLnBrk="1"/>
          <a:endParaRPr lang="ko-KR" altLang="en-US" sz="100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209F134A-B36F-4897-A1A0-A172A22E9BD0}">
      <dgm:prSet phldrT="[텍스트]" custT="1"/>
      <dgm:spPr>
        <a:solidFill>
          <a:srgbClr val="E7E6E6"/>
        </a:solidFill>
      </dgm:spPr>
      <dgm:t>
        <a:bodyPr/>
        <a:lstStyle/>
        <a:p>
          <a:pPr latinLnBrk="1">
            <a:lnSpc>
              <a:spcPct val="90000"/>
            </a:lnSpc>
          </a:pPr>
          <a:r>
            <a:rPr lang="en-US" altLang="ko-KR" sz="11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Anomaly </a:t>
          </a:r>
          <a:r>
            <a:rPr lang="ko-KR" altLang="en-US" sz="11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분석</a:t>
          </a:r>
        </a:p>
      </dgm:t>
    </dgm:pt>
    <dgm:pt modelId="{786A0A53-A985-4499-B473-FF5923DA3374}" type="parTrans" cxnId="{E8CA68C5-7B36-4698-8386-50010B902828}">
      <dgm:prSet/>
      <dgm:spPr/>
      <dgm:t>
        <a:bodyPr/>
        <a:lstStyle/>
        <a:p>
          <a:pPr latinLnBrk="1"/>
          <a:endParaRPr lang="ko-KR" altLang="en-US" sz="100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9BABA86B-4E47-429C-80FE-2CFC77316B4A}" type="sibTrans" cxnId="{E8CA68C5-7B36-4698-8386-50010B902828}">
      <dgm:prSet/>
      <dgm:spPr/>
      <dgm:t>
        <a:bodyPr/>
        <a:lstStyle/>
        <a:p>
          <a:pPr latinLnBrk="1"/>
          <a:endParaRPr lang="ko-KR" altLang="en-US" sz="100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D6244580-9A39-4C7B-99FA-4BEBBABE6ECA}">
      <dgm:prSet phldrT="[텍스트]" custT="1"/>
      <dgm:spPr>
        <a:solidFill>
          <a:srgbClr val="E7E6E6"/>
        </a:solidFill>
      </dgm:spPr>
      <dgm:t>
        <a:bodyPr/>
        <a:lstStyle/>
        <a:p>
          <a:pPr latinLnBrk="1"/>
          <a:r>
            <a:rPr lang="ko-KR" altLang="en-US" sz="11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지정학적 요인 분석</a:t>
          </a:r>
        </a:p>
      </dgm:t>
    </dgm:pt>
    <dgm:pt modelId="{CD6E6CDA-CB6E-4419-B59D-F2346E141E19}" type="parTrans" cxnId="{16F39B12-D230-4828-B3ED-AD727C3EA2FD}">
      <dgm:prSet/>
      <dgm:spPr/>
      <dgm:t>
        <a:bodyPr/>
        <a:lstStyle/>
        <a:p>
          <a:pPr latinLnBrk="1"/>
          <a:endParaRPr lang="ko-KR" altLang="en-US" sz="100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54180FBE-E346-4BE8-9B7F-72697C910B4B}" type="sibTrans" cxnId="{16F39B12-D230-4828-B3ED-AD727C3EA2FD}">
      <dgm:prSet/>
      <dgm:spPr/>
      <dgm:t>
        <a:bodyPr/>
        <a:lstStyle/>
        <a:p>
          <a:pPr latinLnBrk="1"/>
          <a:endParaRPr lang="ko-KR" altLang="en-US" sz="100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ACB8301E-DDA1-499F-8A9D-FB77E4656419}">
      <dgm:prSet phldrT="[텍스트]" custT="1"/>
      <dgm:spPr>
        <a:solidFill>
          <a:srgbClr val="203864"/>
        </a:solidFill>
      </dgm:spPr>
      <dgm:t>
        <a:bodyPr/>
        <a:lstStyle/>
        <a:p>
          <a:pPr latinLnBrk="1"/>
          <a:endParaRPr lang="ko-KR" altLang="en-US" sz="1000" dirty="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gm:t>
    </dgm:pt>
    <dgm:pt modelId="{0D9EB9B7-9B16-4BCB-BA9B-1DA274BE1B7F}" type="parTrans" cxnId="{DC80037F-CF47-4278-A11C-E640D63FAF2C}">
      <dgm:prSet/>
      <dgm:spPr/>
      <dgm:t>
        <a:bodyPr/>
        <a:lstStyle/>
        <a:p>
          <a:pPr latinLnBrk="1"/>
          <a:endParaRPr lang="ko-KR" altLang="en-US"/>
        </a:p>
      </dgm:t>
    </dgm:pt>
    <dgm:pt modelId="{5BCF8166-25F2-460B-A66E-A42CCC7044E1}" type="sibTrans" cxnId="{DC80037F-CF47-4278-A11C-E640D63FAF2C}">
      <dgm:prSet/>
      <dgm:spPr/>
      <dgm:t>
        <a:bodyPr/>
        <a:lstStyle/>
        <a:p>
          <a:pPr latinLnBrk="1"/>
          <a:endParaRPr lang="ko-KR" altLang="en-US"/>
        </a:p>
      </dgm:t>
    </dgm:pt>
    <dgm:pt modelId="{9D80FDC7-5701-456D-9C80-841E56FD07DA}" type="pres">
      <dgm:prSet presAssocID="{4D01608B-2548-4361-AD98-3C3ED5D02508}" presName="Name0" presStyleCnt="0">
        <dgm:presLayoutVars>
          <dgm:dir/>
          <dgm:animLvl val="lvl"/>
          <dgm:resizeHandles val="exact"/>
        </dgm:presLayoutVars>
      </dgm:prSet>
      <dgm:spPr/>
    </dgm:pt>
    <dgm:pt modelId="{13BFE2BB-1B72-474A-90E6-0EB3E372B65F}" type="pres">
      <dgm:prSet presAssocID="{889F675F-4E8E-4C07-926E-C4451E6A762D}" presName="Name8" presStyleCnt="0"/>
      <dgm:spPr/>
    </dgm:pt>
    <dgm:pt modelId="{B1BCDEC4-9B6E-4D99-ADCF-039EFA07873C}" type="pres">
      <dgm:prSet presAssocID="{889F675F-4E8E-4C07-926E-C4451E6A762D}" presName="level" presStyleLbl="node1" presStyleIdx="0" presStyleCnt="5">
        <dgm:presLayoutVars>
          <dgm:chMax val="1"/>
          <dgm:bulletEnabled val="1"/>
        </dgm:presLayoutVars>
      </dgm:prSet>
      <dgm:spPr/>
    </dgm:pt>
    <dgm:pt modelId="{4D2CB149-8E3D-470F-B347-2D93A28A8191}" type="pres">
      <dgm:prSet presAssocID="{889F675F-4E8E-4C07-926E-C4451E6A762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01FF44B-0BA2-4B68-B63C-94856DEB1238}" type="pres">
      <dgm:prSet presAssocID="{A16C3AFD-5C09-4C64-B90E-EE854FC2E637}" presName="Name8" presStyleCnt="0"/>
      <dgm:spPr/>
    </dgm:pt>
    <dgm:pt modelId="{24420049-7E56-4DB0-87A0-A2BBF915E16D}" type="pres">
      <dgm:prSet presAssocID="{A16C3AFD-5C09-4C64-B90E-EE854FC2E637}" presName="level" presStyleLbl="node1" presStyleIdx="1" presStyleCnt="5">
        <dgm:presLayoutVars>
          <dgm:chMax val="1"/>
          <dgm:bulletEnabled val="1"/>
        </dgm:presLayoutVars>
      </dgm:prSet>
      <dgm:spPr/>
    </dgm:pt>
    <dgm:pt modelId="{B0B857D5-FDB1-4FF0-BC9E-DF9B346E6E34}" type="pres">
      <dgm:prSet presAssocID="{A16C3AFD-5C09-4C64-B90E-EE854FC2E63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475F630-A0A8-44CF-AFB7-DE6D8F2C64FC}" type="pres">
      <dgm:prSet presAssocID="{209F134A-B36F-4897-A1A0-A172A22E9BD0}" presName="Name8" presStyleCnt="0"/>
      <dgm:spPr/>
    </dgm:pt>
    <dgm:pt modelId="{58E5ADA7-8718-4F05-A772-35C363124170}" type="pres">
      <dgm:prSet presAssocID="{209F134A-B36F-4897-A1A0-A172A22E9BD0}" presName="level" presStyleLbl="node1" presStyleIdx="2" presStyleCnt="5">
        <dgm:presLayoutVars>
          <dgm:chMax val="1"/>
          <dgm:bulletEnabled val="1"/>
        </dgm:presLayoutVars>
      </dgm:prSet>
      <dgm:spPr/>
    </dgm:pt>
    <dgm:pt modelId="{1F03F7C9-CD62-402A-994C-9035DD2E7EFC}" type="pres">
      <dgm:prSet presAssocID="{209F134A-B36F-4897-A1A0-A172A22E9BD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22240EA-CF95-4224-88A6-E6AEB7016B24}" type="pres">
      <dgm:prSet presAssocID="{D6244580-9A39-4C7B-99FA-4BEBBABE6ECA}" presName="Name8" presStyleCnt="0"/>
      <dgm:spPr/>
    </dgm:pt>
    <dgm:pt modelId="{0A9031F9-19F5-4412-83E5-07FD9ACAA2F8}" type="pres">
      <dgm:prSet presAssocID="{D6244580-9A39-4C7B-99FA-4BEBBABE6ECA}" presName="level" presStyleLbl="node1" presStyleIdx="3" presStyleCnt="5">
        <dgm:presLayoutVars>
          <dgm:chMax val="1"/>
          <dgm:bulletEnabled val="1"/>
        </dgm:presLayoutVars>
      </dgm:prSet>
      <dgm:spPr/>
    </dgm:pt>
    <dgm:pt modelId="{13512158-9928-4D76-AFEE-00C72FB1182D}" type="pres">
      <dgm:prSet presAssocID="{D6244580-9A39-4C7B-99FA-4BEBBABE6EC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F4357AF-FD2F-4F31-9383-9F8AF5246248}" type="pres">
      <dgm:prSet presAssocID="{ACB8301E-DDA1-499F-8A9D-FB77E4656419}" presName="Name8" presStyleCnt="0"/>
      <dgm:spPr/>
    </dgm:pt>
    <dgm:pt modelId="{23965023-E983-4486-A384-E0EAD39F8128}" type="pres">
      <dgm:prSet presAssocID="{ACB8301E-DDA1-499F-8A9D-FB77E4656419}" presName="level" presStyleLbl="node1" presStyleIdx="4" presStyleCnt="5">
        <dgm:presLayoutVars>
          <dgm:chMax val="1"/>
          <dgm:bulletEnabled val="1"/>
        </dgm:presLayoutVars>
      </dgm:prSet>
      <dgm:spPr/>
    </dgm:pt>
    <dgm:pt modelId="{7F4B3578-EEE6-448F-BC87-069A18081AC5}" type="pres">
      <dgm:prSet presAssocID="{ACB8301E-DDA1-499F-8A9D-FB77E4656419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6CD54E09-4F10-4FC8-804A-69E83F1DD9C8}" type="presOf" srcId="{209F134A-B36F-4897-A1A0-A172A22E9BD0}" destId="{58E5ADA7-8718-4F05-A772-35C363124170}" srcOrd="0" destOrd="0" presId="urn:microsoft.com/office/officeart/2005/8/layout/pyramid3"/>
    <dgm:cxn modelId="{F6C7600E-3A74-4AE9-8881-95E311CEE4B1}" type="presOf" srcId="{D6244580-9A39-4C7B-99FA-4BEBBABE6ECA}" destId="{13512158-9928-4D76-AFEE-00C72FB1182D}" srcOrd="1" destOrd="0" presId="urn:microsoft.com/office/officeart/2005/8/layout/pyramid3"/>
    <dgm:cxn modelId="{16F39B12-D230-4828-B3ED-AD727C3EA2FD}" srcId="{4D01608B-2548-4361-AD98-3C3ED5D02508}" destId="{D6244580-9A39-4C7B-99FA-4BEBBABE6ECA}" srcOrd="3" destOrd="0" parTransId="{CD6E6CDA-CB6E-4419-B59D-F2346E141E19}" sibTransId="{54180FBE-E346-4BE8-9B7F-72697C910B4B}"/>
    <dgm:cxn modelId="{F72E7F24-F78C-4FE8-8965-65D87D5FB83A}" type="presOf" srcId="{889F675F-4E8E-4C07-926E-C4451E6A762D}" destId="{4D2CB149-8E3D-470F-B347-2D93A28A8191}" srcOrd="1" destOrd="0" presId="urn:microsoft.com/office/officeart/2005/8/layout/pyramid3"/>
    <dgm:cxn modelId="{F5185D34-9564-4EBF-B1E7-93D01E6B6DC0}" type="presOf" srcId="{ACB8301E-DDA1-499F-8A9D-FB77E4656419}" destId="{7F4B3578-EEE6-448F-BC87-069A18081AC5}" srcOrd="1" destOrd="0" presId="urn:microsoft.com/office/officeart/2005/8/layout/pyramid3"/>
    <dgm:cxn modelId="{F864A373-7131-42D0-BD35-F54EBA89A3D9}" type="presOf" srcId="{889F675F-4E8E-4C07-926E-C4451E6A762D}" destId="{B1BCDEC4-9B6E-4D99-ADCF-039EFA07873C}" srcOrd="0" destOrd="0" presId="urn:microsoft.com/office/officeart/2005/8/layout/pyramid3"/>
    <dgm:cxn modelId="{DC80037F-CF47-4278-A11C-E640D63FAF2C}" srcId="{4D01608B-2548-4361-AD98-3C3ED5D02508}" destId="{ACB8301E-DDA1-499F-8A9D-FB77E4656419}" srcOrd="4" destOrd="0" parTransId="{0D9EB9B7-9B16-4BCB-BA9B-1DA274BE1B7F}" sibTransId="{5BCF8166-25F2-460B-A66E-A42CCC7044E1}"/>
    <dgm:cxn modelId="{743A6D80-5BC0-4FD2-8196-D2D70DC45C38}" type="presOf" srcId="{ACB8301E-DDA1-499F-8A9D-FB77E4656419}" destId="{23965023-E983-4486-A384-E0EAD39F8128}" srcOrd="0" destOrd="0" presId="urn:microsoft.com/office/officeart/2005/8/layout/pyramid3"/>
    <dgm:cxn modelId="{D9334794-90E6-4B16-9D6A-892293EA1110}" type="presOf" srcId="{D6244580-9A39-4C7B-99FA-4BEBBABE6ECA}" destId="{0A9031F9-19F5-4412-83E5-07FD9ACAA2F8}" srcOrd="0" destOrd="0" presId="urn:microsoft.com/office/officeart/2005/8/layout/pyramid3"/>
    <dgm:cxn modelId="{028B22A9-4AFD-4A6F-BB15-47A714C9502B}" type="presOf" srcId="{A16C3AFD-5C09-4C64-B90E-EE854FC2E637}" destId="{B0B857D5-FDB1-4FF0-BC9E-DF9B346E6E34}" srcOrd="1" destOrd="0" presId="urn:microsoft.com/office/officeart/2005/8/layout/pyramid3"/>
    <dgm:cxn modelId="{F55D34AD-9A37-4AF5-A2C1-9A8333C38FFB}" type="presOf" srcId="{209F134A-B36F-4897-A1A0-A172A22E9BD0}" destId="{1F03F7C9-CD62-402A-994C-9035DD2E7EFC}" srcOrd="1" destOrd="0" presId="urn:microsoft.com/office/officeart/2005/8/layout/pyramid3"/>
    <dgm:cxn modelId="{E8CA68C5-7B36-4698-8386-50010B902828}" srcId="{4D01608B-2548-4361-AD98-3C3ED5D02508}" destId="{209F134A-B36F-4897-A1A0-A172A22E9BD0}" srcOrd="2" destOrd="0" parTransId="{786A0A53-A985-4499-B473-FF5923DA3374}" sibTransId="{9BABA86B-4E47-429C-80FE-2CFC77316B4A}"/>
    <dgm:cxn modelId="{88BF83E1-89CE-4E15-8984-FD1123D45F93}" srcId="{4D01608B-2548-4361-AD98-3C3ED5D02508}" destId="{889F675F-4E8E-4C07-926E-C4451E6A762D}" srcOrd="0" destOrd="0" parTransId="{3C876515-4516-4B8D-AC13-5DAE21266483}" sibTransId="{4DD9B7BF-DFCC-4C95-97E7-73965B791925}"/>
    <dgm:cxn modelId="{BFBEB1F2-773B-4942-B5FB-29F00A152D9A}" srcId="{4D01608B-2548-4361-AD98-3C3ED5D02508}" destId="{A16C3AFD-5C09-4C64-B90E-EE854FC2E637}" srcOrd="1" destOrd="0" parTransId="{2A921B60-2E0B-4145-87A3-A85EED41D01F}" sibTransId="{E2318D6E-1B8C-4FFC-8188-C05FE605AB1F}"/>
    <dgm:cxn modelId="{0FE823F3-4F7A-404E-B305-534760F1AF50}" type="presOf" srcId="{4D01608B-2548-4361-AD98-3C3ED5D02508}" destId="{9D80FDC7-5701-456D-9C80-841E56FD07DA}" srcOrd="0" destOrd="0" presId="urn:microsoft.com/office/officeart/2005/8/layout/pyramid3"/>
    <dgm:cxn modelId="{FED182FF-8F7D-4DC0-98C5-CE60B4490AA6}" type="presOf" srcId="{A16C3AFD-5C09-4C64-B90E-EE854FC2E637}" destId="{24420049-7E56-4DB0-87A0-A2BBF915E16D}" srcOrd="0" destOrd="0" presId="urn:microsoft.com/office/officeart/2005/8/layout/pyramid3"/>
    <dgm:cxn modelId="{C7FDAD9C-A4A0-4B20-AA7C-CE3AF7444AFB}" type="presParOf" srcId="{9D80FDC7-5701-456D-9C80-841E56FD07DA}" destId="{13BFE2BB-1B72-474A-90E6-0EB3E372B65F}" srcOrd="0" destOrd="0" presId="urn:microsoft.com/office/officeart/2005/8/layout/pyramid3"/>
    <dgm:cxn modelId="{F22DE60A-2694-4136-A1E4-C54273EF18A9}" type="presParOf" srcId="{13BFE2BB-1B72-474A-90E6-0EB3E372B65F}" destId="{B1BCDEC4-9B6E-4D99-ADCF-039EFA07873C}" srcOrd="0" destOrd="0" presId="urn:microsoft.com/office/officeart/2005/8/layout/pyramid3"/>
    <dgm:cxn modelId="{94CBC9C4-025B-49AF-B014-4B9815CBC48E}" type="presParOf" srcId="{13BFE2BB-1B72-474A-90E6-0EB3E372B65F}" destId="{4D2CB149-8E3D-470F-B347-2D93A28A8191}" srcOrd="1" destOrd="0" presId="urn:microsoft.com/office/officeart/2005/8/layout/pyramid3"/>
    <dgm:cxn modelId="{5E705C67-4B65-40C7-81D9-3B75F96D9731}" type="presParOf" srcId="{9D80FDC7-5701-456D-9C80-841E56FD07DA}" destId="{D01FF44B-0BA2-4B68-B63C-94856DEB1238}" srcOrd="1" destOrd="0" presId="urn:microsoft.com/office/officeart/2005/8/layout/pyramid3"/>
    <dgm:cxn modelId="{872CC985-B408-4297-B714-8FE61A137407}" type="presParOf" srcId="{D01FF44B-0BA2-4B68-B63C-94856DEB1238}" destId="{24420049-7E56-4DB0-87A0-A2BBF915E16D}" srcOrd="0" destOrd="0" presId="urn:microsoft.com/office/officeart/2005/8/layout/pyramid3"/>
    <dgm:cxn modelId="{94957F5B-CD0F-4BD0-9B2A-26645679CB0A}" type="presParOf" srcId="{D01FF44B-0BA2-4B68-B63C-94856DEB1238}" destId="{B0B857D5-FDB1-4FF0-BC9E-DF9B346E6E34}" srcOrd="1" destOrd="0" presId="urn:microsoft.com/office/officeart/2005/8/layout/pyramid3"/>
    <dgm:cxn modelId="{CB090878-97B5-4EA4-B321-ACC4EB74A35C}" type="presParOf" srcId="{9D80FDC7-5701-456D-9C80-841E56FD07DA}" destId="{5475F630-A0A8-44CF-AFB7-DE6D8F2C64FC}" srcOrd="2" destOrd="0" presId="urn:microsoft.com/office/officeart/2005/8/layout/pyramid3"/>
    <dgm:cxn modelId="{140DDE6A-C513-4569-B4ED-8CB93EBDE1AF}" type="presParOf" srcId="{5475F630-A0A8-44CF-AFB7-DE6D8F2C64FC}" destId="{58E5ADA7-8718-4F05-A772-35C363124170}" srcOrd="0" destOrd="0" presId="urn:microsoft.com/office/officeart/2005/8/layout/pyramid3"/>
    <dgm:cxn modelId="{2652732F-8EDC-4106-B82A-144DF657DE04}" type="presParOf" srcId="{5475F630-A0A8-44CF-AFB7-DE6D8F2C64FC}" destId="{1F03F7C9-CD62-402A-994C-9035DD2E7EFC}" srcOrd="1" destOrd="0" presId="urn:microsoft.com/office/officeart/2005/8/layout/pyramid3"/>
    <dgm:cxn modelId="{37E04FD6-E40C-4D03-BCA9-0BD79F038BE5}" type="presParOf" srcId="{9D80FDC7-5701-456D-9C80-841E56FD07DA}" destId="{122240EA-CF95-4224-88A6-E6AEB7016B24}" srcOrd="3" destOrd="0" presId="urn:microsoft.com/office/officeart/2005/8/layout/pyramid3"/>
    <dgm:cxn modelId="{FEAC5A03-0DE9-4B49-84DB-0D104DEBFA30}" type="presParOf" srcId="{122240EA-CF95-4224-88A6-E6AEB7016B24}" destId="{0A9031F9-19F5-4412-83E5-07FD9ACAA2F8}" srcOrd="0" destOrd="0" presId="urn:microsoft.com/office/officeart/2005/8/layout/pyramid3"/>
    <dgm:cxn modelId="{E3C442B4-2C54-4D73-89A7-5558CE00A260}" type="presParOf" srcId="{122240EA-CF95-4224-88A6-E6AEB7016B24}" destId="{13512158-9928-4D76-AFEE-00C72FB1182D}" srcOrd="1" destOrd="0" presId="urn:microsoft.com/office/officeart/2005/8/layout/pyramid3"/>
    <dgm:cxn modelId="{3D38C460-EE67-4926-8825-42B986D48101}" type="presParOf" srcId="{9D80FDC7-5701-456D-9C80-841E56FD07DA}" destId="{0F4357AF-FD2F-4F31-9383-9F8AF5246248}" srcOrd="4" destOrd="0" presId="urn:microsoft.com/office/officeart/2005/8/layout/pyramid3"/>
    <dgm:cxn modelId="{B86771CD-8AF2-4AB9-BDCF-3886C02C4939}" type="presParOf" srcId="{0F4357AF-FD2F-4F31-9383-9F8AF5246248}" destId="{23965023-E983-4486-A384-E0EAD39F8128}" srcOrd="0" destOrd="0" presId="urn:microsoft.com/office/officeart/2005/8/layout/pyramid3"/>
    <dgm:cxn modelId="{115B3C2F-F6AA-4F77-8D87-A82395A60D50}" type="presParOf" srcId="{0F4357AF-FD2F-4F31-9383-9F8AF5246248}" destId="{7F4B3578-EEE6-448F-BC87-069A18081AC5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B50726-4125-46FE-977C-5EDE0F7B8D7B}">
      <dsp:nvSpPr>
        <dsp:cNvPr id="0" name=""/>
        <dsp:cNvSpPr/>
      </dsp:nvSpPr>
      <dsp:spPr>
        <a:xfrm>
          <a:off x="1093155" y="6"/>
          <a:ext cx="1824292" cy="1824292"/>
        </a:xfrm>
        <a:prstGeom prst="ellipse">
          <a:avLst/>
        </a:prstGeom>
        <a:solidFill>
          <a:srgbClr val="2F5597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3400" kern="1200" dirty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sp:txBody>
      <dsp:txXfrm>
        <a:off x="1336394" y="319257"/>
        <a:ext cx="1337814" cy="820931"/>
      </dsp:txXfrm>
    </dsp:sp>
    <dsp:sp modelId="{BB75C360-42C2-41E7-A756-86C1D6AFEA32}">
      <dsp:nvSpPr>
        <dsp:cNvPr id="0" name=""/>
        <dsp:cNvSpPr/>
      </dsp:nvSpPr>
      <dsp:spPr>
        <a:xfrm>
          <a:off x="1858908" y="1216189"/>
          <a:ext cx="1824292" cy="1824292"/>
        </a:xfrm>
        <a:prstGeom prst="ellipse">
          <a:avLst/>
        </a:prstGeom>
        <a:solidFill>
          <a:srgbClr val="B4C7E7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4200" kern="1200" dirty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sp:txBody>
      <dsp:txXfrm>
        <a:off x="2416837" y="1687464"/>
        <a:ext cx="1094575" cy="1003361"/>
      </dsp:txXfrm>
    </dsp:sp>
    <dsp:sp modelId="{FD8CA3DD-5A06-4BD4-B1FE-6869855D4AFC}">
      <dsp:nvSpPr>
        <dsp:cNvPr id="0" name=""/>
        <dsp:cNvSpPr/>
      </dsp:nvSpPr>
      <dsp:spPr>
        <a:xfrm>
          <a:off x="327384" y="1216189"/>
          <a:ext cx="1824292" cy="1824292"/>
        </a:xfrm>
        <a:prstGeom prst="ellipse">
          <a:avLst/>
        </a:prstGeom>
        <a:solidFill>
          <a:srgbClr val="AEAEAE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4200" kern="1200" dirty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sp:txBody>
      <dsp:txXfrm>
        <a:off x="499171" y="1687464"/>
        <a:ext cx="1094575" cy="10033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1B67AC-297B-4F5F-AD3C-3B8F5AAA6C47}">
      <dsp:nvSpPr>
        <dsp:cNvPr id="0" name=""/>
        <dsp:cNvSpPr/>
      </dsp:nvSpPr>
      <dsp:spPr>
        <a:xfrm>
          <a:off x="87081" y="0"/>
          <a:ext cx="3304375" cy="3020287"/>
        </a:xfrm>
        <a:prstGeom prst="ellipse">
          <a:avLst/>
        </a:prstGeom>
        <a:solidFill>
          <a:srgbClr val="F0F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 latinLnBrk="1">
            <a:lnSpc>
              <a:spcPct val="3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Benchmark</a:t>
          </a:r>
        </a:p>
        <a:p>
          <a:pPr marL="0" lvl="0" indent="0" algn="ctr" defTabSz="400050" latinLnBrk="1">
            <a:lnSpc>
              <a:spcPct val="3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Stocks listed on</a:t>
          </a:r>
        </a:p>
        <a:p>
          <a:pPr marL="0" lvl="0" indent="0" algn="ctr" defTabSz="400050" latinLnBrk="1">
            <a:lnSpc>
              <a:spcPct val="3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US &amp; Korea</a:t>
          </a:r>
          <a:endParaRPr lang="ko-KR" altLang="en-US" sz="900" kern="12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sp:txBody>
      <dsp:txXfrm>
        <a:off x="1119699" y="151014"/>
        <a:ext cx="1239140" cy="302028"/>
      </dsp:txXfrm>
    </dsp:sp>
    <dsp:sp modelId="{C63534C5-1831-48AB-A108-ECEE5F4DDBCF}">
      <dsp:nvSpPr>
        <dsp:cNvPr id="0" name=""/>
        <dsp:cNvSpPr/>
      </dsp:nvSpPr>
      <dsp:spPr>
        <a:xfrm>
          <a:off x="241616" y="557042"/>
          <a:ext cx="2995306" cy="2463244"/>
        </a:xfrm>
        <a:prstGeom prst="ellipse">
          <a:avLst/>
        </a:prstGeom>
        <a:solidFill>
          <a:srgbClr val="B4C7E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6 Sectors</a:t>
          </a:r>
        </a:p>
        <a:p>
          <a:pPr marL="0" lvl="0" indent="0" algn="ctr" defTabSz="40005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3,000~4,000 stocks</a:t>
          </a:r>
          <a:endParaRPr lang="ko-KR" altLang="en-US" sz="900" kern="12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sp:txBody>
      <dsp:txXfrm>
        <a:off x="1093406" y="698678"/>
        <a:ext cx="1291725" cy="283273"/>
      </dsp:txXfrm>
    </dsp:sp>
    <dsp:sp modelId="{F6BAC97B-51E8-44FC-B10D-0706757D45B2}">
      <dsp:nvSpPr>
        <dsp:cNvPr id="0" name=""/>
        <dsp:cNvSpPr/>
      </dsp:nvSpPr>
      <dsp:spPr>
        <a:xfrm>
          <a:off x="373590" y="1030675"/>
          <a:ext cx="2731357" cy="1989611"/>
        </a:xfrm>
        <a:prstGeom prst="ellipse">
          <a:avLst/>
        </a:prstGeom>
        <a:solidFill>
          <a:srgbClr val="8FAAD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Investment Universe</a:t>
          </a:r>
        </a:p>
        <a:p>
          <a:pPr marL="0" lvl="0" indent="0" algn="ctr" defTabSz="40005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kern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500 stocks per sector</a:t>
          </a:r>
          <a:endParaRPr lang="ko-KR" altLang="en-US" sz="900" kern="12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sp:txBody>
      <dsp:txXfrm>
        <a:off x="1032530" y="1167959"/>
        <a:ext cx="1413477" cy="274566"/>
      </dsp:txXfrm>
    </dsp:sp>
    <dsp:sp modelId="{AD062AD2-DDCC-4A55-8E43-17EB8DBC8697}">
      <dsp:nvSpPr>
        <dsp:cNvPr id="0" name=""/>
        <dsp:cNvSpPr/>
      </dsp:nvSpPr>
      <dsp:spPr>
        <a:xfrm>
          <a:off x="524423" y="1481456"/>
          <a:ext cx="2429692" cy="1538830"/>
        </a:xfrm>
        <a:prstGeom prst="ellipse">
          <a:avLst/>
        </a:prstGeom>
        <a:solidFill>
          <a:srgbClr val="2F559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000" kern="12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  <a:p>
          <a:pPr marL="0" lvl="0" indent="0" algn="ctr" defTabSz="44450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Watchlist</a:t>
          </a:r>
        </a:p>
        <a:p>
          <a:pPr marL="0" lvl="0" indent="0" algn="ctr" defTabSz="44450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>
              <a:solidFill>
                <a:schemeClr val="bg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20 stocks per sector</a:t>
          </a:r>
          <a:endParaRPr lang="ko-KR" altLang="en-US" sz="1000" kern="1200" dirty="0">
            <a:solidFill>
              <a:schemeClr val="bg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sp:txBody>
      <dsp:txXfrm>
        <a:off x="1083252" y="1619951"/>
        <a:ext cx="1312033" cy="276989"/>
      </dsp:txXfrm>
    </dsp:sp>
    <dsp:sp modelId="{6C5BF1B4-7841-45B7-9621-5DAE22708D95}">
      <dsp:nvSpPr>
        <dsp:cNvPr id="0" name=""/>
        <dsp:cNvSpPr/>
      </dsp:nvSpPr>
      <dsp:spPr>
        <a:xfrm>
          <a:off x="741239" y="2045785"/>
          <a:ext cx="1996059" cy="974501"/>
        </a:xfrm>
        <a:prstGeom prst="ellipse">
          <a:avLst/>
        </a:prstGeom>
        <a:solidFill>
          <a:srgbClr val="20386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Portfolio</a:t>
          </a:r>
        </a:p>
        <a:p>
          <a:pPr marL="0" lvl="0" indent="0" algn="ctr" defTabSz="44450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Max 10 stocks</a:t>
          </a:r>
        </a:p>
        <a:p>
          <a:pPr marL="0" lvl="0" indent="0" algn="ctr" defTabSz="44450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At least 1 stocks</a:t>
          </a:r>
        </a:p>
        <a:p>
          <a:pPr marL="0" lvl="0" indent="0" algn="ctr" defTabSz="444500" latinLnBrk="1">
            <a:lnSpc>
              <a:spcPct val="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per sector</a:t>
          </a:r>
          <a:endParaRPr lang="ko-KR" altLang="en-US" sz="1000" kern="1200" dirty="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sp:txBody>
      <dsp:txXfrm>
        <a:off x="1033555" y="2289410"/>
        <a:ext cx="1411427" cy="4872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C2C8F-E4F0-4532-A36A-B28BB5D52170}">
      <dsp:nvSpPr>
        <dsp:cNvPr id="0" name=""/>
        <dsp:cNvSpPr/>
      </dsp:nvSpPr>
      <dsp:spPr>
        <a:xfrm>
          <a:off x="1803002" y="0"/>
          <a:ext cx="901501" cy="305142"/>
        </a:xfrm>
        <a:prstGeom prst="trapezoid">
          <a:avLst>
            <a:gd name="adj" fmla="val 147718"/>
          </a:avLst>
        </a:prstGeom>
        <a:solidFill>
          <a:srgbClr val="20386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 </a:t>
          </a:r>
          <a:endParaRPr lang="ko-KR" altLang="en-US" sz="1000" kern="1200" dirty="0">
            <a:solidFill>
              <a:schemeClr val="tx1"/>
            </a:solidFill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sp:txBody>
      <dsp:txXfrm>
        <a:off x="1803002" y="0"/>
        <a:ext cx="901501" cy="305142"/>
      </dsp:txXfrm>
    </dsp:sp>
    <dsp:sp modelId="{0493169D-9D8D-415A-9FBD-A786F7975114}">
      <dsp:nvSpPr>
        <dsp:cNvPr id="0" name=""/>
        <dsp:cNvSpPr/>
      </dsp:nvSpPr>
      <dsp:spPr>
        <a:xfrm>
          <a:off x="1352251" y="305142"/>
          <a:ext cx="1803002" cy="305142"/>
        </a:xfrm>
        <a:prstGeom prst="trapezoid">
          <a:avLst>
            <a:gd name="adj" fmla="val 147718"/>
          </a:avLst>
        </a:prstGeom>
        <a:solidFill>
          <a:srgbClr val="E7E6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모멘텀</a:t>
          </a:r>
        </a:p>
      </dsp:txBody>
      <dsp:txXfrm>
        <a:off x="1667776" y="305142"/>
        <a:ext cx="1171951" cy="305142"/>
      </dsp:txXfrm>
    </dsp:sp>
    <dsp:sp modelId="{405B5883-0DB2-4555-9196-92BEFBC75755}">
      <dsp:nvSpPr>
        <dsp:cNvPr id="0" name=""/>
        <dsp:cNvSpPr/>
      </dsp:nvSpPr>
      <dsp:spPr>
        <a:xfrm>
          <a:off x="901501" y="610285"/>
          <a:ext cx="2704503" cy="305142"/>
        </a:xfrm>
        <a:prstGeom prst="trapezoid">
          <a:avLst>
            <a:gd name="adj" fmla="val 147718"/>
          </a:avLst>
        </a:prstGeom>
        <a:solidFill>
          <a:srgbClr val="E7E6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밸류에이션</a:t>
          </a:r>
        </a:p>
      </dsp:txBody>
      <dsp:txXfrm>
        <a:off x="1374789" y="610285"/>
        <a:ext cx="1757926" cy="305142"/>
      </dsp:txXfrm>
    </dsp:sp>
    <dsp:sp modelId="{FB33F0BA-E50C-4B69-BC2E-56191BAB05A4}">
      <dsp:nvSpPr>
        <dsp:cNvPr id="0" name=""/>
        <dsp:cNvSpPr/>
      </dsp:nvSpPr>
      <dsp:spPr>
        <a:xfrm>
          <a:off x="450750" y="915428"/>
          <a:ext cx="3606004" cy="305142"/>
        </a:xfrm>
        <a:prstGeom prst="trapezoid">
          <a:avLst>
            <a:gd name="adj" fmla="val 147718"/>
          </a:avLst>
        </a:prstGeom>
        <a:solidFill>
          <a:srgbClr val="E7E6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펀더멘털</a:t>
          </a:r>
        </a:p>
      </dsp:txBody>
      <dsp:txXfrm>
        <a:off x="1081801" y="915428"/>
        <a:ext cx="2343902" cy="305142"/>
      </dsp:txXfrm>
    </dsp:sp>
    <dsp:sp modelId="{0C7ED5C8-4B54-4D4E-A43F-1F400812A47E}">
      <dsp:nvSpPr>
        <dsp:cNvPr id="0" name=""/>
        <dsp:cNvSpPr/>
      </dsp:nvSpPr>
      <dsp:spPr>
        <a:xfrm>
          <a:off x="0" y="1220571"/>
          <a:ext cx="4507505" cy="305142"/>
        </a:xfrm>
        <a:prstGeom prst="trapezoid">
          <a:avLst>
            <a:gd name="adj" fmla="val 147718"/>
          </a:avLst>
        </a:prstGeom>
        <a:solidFill>
          <a:srgbClr val="20386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Bottom Up (</a:t>
          </a:r>
          <a:r>
            <a:rPr lang="ko-KR" altLang="en-US" sz="1800" kern="12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종목 선정</a:t>
          </a:r>
          <a:r>
            <a:rPr lang="en-US" altLang="ko-KR" sz="1800" kern="12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)</a:t>
          </a:r>
          <a:endParaRPr lang="ko-KR" altLang="en-US" sz="1800" kern="1200" dirty="0">
            <a:solidFill>
              <a:schemeClr val="bg1"/>
            </a:solidFill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sp:txBody>
      <dsp:txXfrm>
        <a:off x="788813" y="1220571"/>
        <a:ext cx="2929878" cy="3051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BCDEC4-9B6E-4D99-ADCF-039EFA07873C}">
      <dsp:nvSpPr>
        <dsp:cNvPr id="0" name=""/>
        <dsp:cNvSpPr/>
      </dsp:nvSpPr>
      <dsp:spPr>
        <a:xfrm rot="10800000">
          <a:off x="0" y="0"/>
          <a:ext cx="4500563" cy="302260"/>
        </a:xfrm>
        <a:prstGeom prst="trapezoid">
          <a:avLst>
            <a:gd name="adj" fmla="val 148897"/>
          </a:avLst>
        </a:prstGeom>
        <a:solidFill>
          <a:srgbClr val="20386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Top Down (</a:t>
          </a:r>
          <a:r>
            <a:rPr lang="ko-KR" altLang="en-US" sz="1800" kern="12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매크로</a:t>
          </a:r>
          <a:r>
            <a:rPr lang="en-US" altLang="ko-KR" sz="1800" kern="12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)</a:t>
          </a:r>
          <a:endParaRPr lang="ko-KR" altLang="en-US" sz="1800" kern="1200" dirty="0">
            <a:solidFill>
              <a:schemeClr val="bg1"/>
            </a:solidFill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dsp:txBody>
      <dsp:txXfrm rot="-10800000">
        <a:off x="787598" y="0"/>
        <a:ext cx="2925365" cy="302260"/>
      </dsp:txXfrm>
    </dsp:sp>
    <dsp:sp modelId="{24420049-7E56-4DB0-87A0-A2BBF915E16D}">
      <dsp:nvSpPr>
        <dsp:cNvPr id="0" name=""/>
        <dsp:cNvSpPr/>
      </dsp:nvSpPr>
      <dsp:spPr>
        <a:xfrm rot="10800000">
          <a:off x="450056" y="302260"/>
          <a:ext cx="3600450" cy="302260"/>
        </a:xfrm>
        <a:prstGeom prst="trapezoid">
          <a:avLst>
            <a:gd name="adj" fmla="val 148897"/>
          </a:avLst>
        </a:prstGeom>
        <a:solidFill>
          <a:srgbClr val="E7E6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경제지표 분석 및 새로운 정책 확인</a:t>
          </a:r>
          <a:endParaRPr lang="en-US" altLang="ko-KR" sz="1100" kern="1200" dirty="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sp:txBody>
      <dsp:txXfrm rot="-10800000">
        <a:off x="1080135" y="302260"/>
        <a:ext cx="2340292" cy="302260"/>
      </dsp:txXfrm>
    </dsp:sp>
    <dsp:sp modelId="{58E5ADA7-8718-4F05-A772-35C363124170}">
      <dsp:nvSpPr>
        <dsp:cNvPr id="0" name=""/>
        <dsp:cNvSpPr/>
      </dsp:nvSpPr>
      <dsp:spPr>
        <a:xfrm rot="10800000">
          <a:off x="900112" y="604520"/>
          <a:ext cx="2700337" cy="302260"/>
        </a:xfrm>
        <a:prstGeom prst="trapezoid">
          <a:avLst>
            <a:gd name="adj" fmla="val 148897"/>
          </a:avLst>
        </a:prstGeom>
        <a:solidFill>
          <a:srgbClr val="E7E6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Anomaly </a:t>
          </a:r>
          <a:r>
            <a:rPr lang="ko-KR" altLang="en-US" sz="1100" kern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분석</a:t>
          </a:r>
        </a:p>
      </dsp:txBody>
      <dsp:txXfrm rot="-10800000">
        <a:off x="1372671" y="604520"/>
        <a:ext cx="1755219" cy="302260"/>
      </dsp:txXfrm>
    </dsp:sp>
    <dsp:sp modelId="{0A9031F9-19F5-4412-83E5-07FD9ACAA2F8}">
      <dsp:nvSpPr>
        <dsp:cNvPr id="0" name=""/>
        <dsp:cNvSpPr/>
      </dsp:nvSpPr>
      <dsp:spPr>
        <a:xfrm rot="10800000">
          <a:off x="1350168" y="906780"/>
          <a:ext cx="1800225" cy="302260"/>
        </a:xfrm>
        <a:prstGeom prst="trapezoid">
          <a:avLst>
            <a:gd name="adj" fmla="val 148897"/>
          </a:avLst>
        </a:prstGeom>
        <a:solidFill>
          <a:srgbClr val="E7E6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rPr>
            <a:t>지정학적 요인 분석</a:t>
          </a:r>
        </a:p>
      </dsp:txBody>
      <dsp:txXfrm rot="-10800000">
        <a:off x="1665208" y="906780"/>
        <a:ext cx="1170146" cy="302260"/>
      </dsp:txXfrm>
    </dsp:sp>
    <dsp:sp modelId="{23965023-E983-4486-A384-E0EAD39F8128}">
      <dsp:nvSpPr>
        <dsp:cNvPr id="0" name=""/>
        <dsp:cNvSpPr/>
      </dsp:nvSpPr>
      <dsp:spPr>
        <a:xfrm rot="10800000">
          <a:off x="1800225" y="1209040"/>
          <a:ext cx="900112" cy="302260"/>
        </a:xfrm>
        <a:prstGeom prst="trapezoid">
          <a:avLst>
            <a:gd name="adj" fmla="val 148897"/>
          </a:avLst>
        </a:prstGeom>
        <a:solidFill>
          <a:srgbClr val="20386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 dirty="0">
            <a:latin typeface="KoPubWorld돋움체 Light" panose="00000300000000000000" pitchFamily="2" charset="-127"/>
            <a:ea typeface="KoPubWorld돋움체 Light" panose="00000300000000000000" pitchFamily="2" charset="-127"/>
            <a:cs typeface="KoPubWorld돋움체 Light" panose="00000300000000000000" pitchFamily="2" charset="-127"/>
          </a:endParaRPr>
        </a:p>
      </dsp:txBody>
      <dsp:txXfrm rot="-10800000">
        <a:off x="1800225" y="1209040"/>
        <a:ext cx="900112" cy="302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5EE8-0BB3-4AD8-BB68-C90071DF390E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B4289A-25AF-46A6-B2A8-130A608BD0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61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02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41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4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634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0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6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15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579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91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904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27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79911-BF89-4822-8734-650AE54FF559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02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32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diagramData" Target="../diagrams/data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" Type="http://schemas.openxmlformats.org/officeDocument/2006/relationships/image" Target="../media/image2.png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4F5A7-93E1-B91C-053A-D971AE1E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7C48954C-D6C6-6CEA-7746-E5E4B0E75A33}"/>
              </a:ext>
            </a:extLst>
          </p:cNvPr>
          <p:cNvGrpSpPr/>
          <p:nvPr/>
        </p:nvGrpSpPr>
        <p:grpSpPr>
          <a:xfrm>
            <a:off x="3782512" y="0"/>
            <a:ext cx="4626975" cy="7167103"/>
            <a:chOff x="244442" y="-65263"/>
            <a:chExt cx="4626975" cy="716710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A6E851-9BA5-0B79-6109-84C0610FE599}"/>
                </a:ext>
              </a:extLst>
            </p:cNvPr>
            <p:cNvGrpSpPr/>
            <p:nvPr/>
          </p:nvGrpSpPr>
          <p:grpSpPr>
            <a:xfrm>
              <a:off x="1939364" y="1560472"/>
              <a:ext cx="1237130" cy="397424"/>
              <a:chOff x="10628554" y="228878"/>
              <a:chExt cx="1237130" cy="397424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E4B48F00-6355-D810-B29C-871DC26289A3}"/>
                  </a:ext>
                </a:extLst>
              </p:cNvPr>
              <p:cNvSpPr/>
              <p:nvPr/>
            </p:nvSpPr>
            <p:spPr>
              <a:xfrm>
                <a:off x="10628554" y="228878"/>
                <a:ext cx="1237130" cy="397424"/>
              </a:xfrm>
              <a:prstGeom prst="roundRect">
                <a:avLst>
                  <a:gd name="adj" fmla="val 50000"/>
                </a:avLst>
              </a:prstGeom>
              <a:solidFill>
                <a:srgbClr val="D0CECE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AA987486-B3CB-15C5-595E-55E4F0DD3B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00678" y="259968"/>
                <a:ext cx="828339" cy="31254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FFCFBE-55E0-A242-1C0D-6742F14BEE2B}"/>
                </a:ext>
              </a:extLst>
            </p:cNvPr>
            <p:cNvSpPr txBox="1"/>
            <p:nvPr/>
          </p:nvSpPr>
          <p:spPr>
            <a:xfrm>
              <a:off x="1213661" y="2114262"/>
              <a:ext cx="2645504" cy="388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중앙대학교 가치투자학회</a:t>
              </a:r>
              <a:endPara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cxnSp>
          <p:nvCxnSpPr>
            <p:cNvPr id="2" name="직선 연결선 1">
              <a:extLst>
                <a:ext uri="{FF2B5EF4-FFF2-40B4-BE49-F238E27FC236}">
                  <a16:creationId xmlns:a16="http://schemas.microsoft.com/office/drawing/2014/main" id="{274D6D20-72D2-8554-BF10-AE9B23212EE3}"/>
                </a:ext>
              </a:extLst>
            </p:cNvPr>
            <p:cNvCxnSpPr>
              <a:cxnSpLocks/>
            </p:cNvCxnSpPr>
            <p:nvPr/>
          </p:nvCxnSpPr>
          <p:spPr>
            <a:xfrm>
              <a:off x="2557929" y="-65263"/>
              <a:ext cx="0" cy="162573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F359963B-E3A1-27B8-0F49-4F81BF2A792F}"/>
                </a:ext>
              </a:extLst>
            </p:cNvPr>
            <p:cNvCxnSpPr>
              <a:cxnSpLocks/>
            </p:cNvCxnSpPr>
            <p:nvPr/>
          </p:nvCxnSpPr>
          <p:spPr>
            <a:xfrm>
              <a:off x="2557930" y="4828630"/>
              <a:ext cx="0" cy="227321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BA7C1A-7E46-F204-8B3F-4F7CEF637D58}"/>
                </a:ext>
              </a:extLst>
            </p:cNvPr>
            <p:cNvSpPr txBox="1"/>
            <p:nvPr/>
          </p:nvSpPr>
          <p:spPr>
            <a:xfrm>
              <a:off x="804282" y="4357722"/>
              <a:ext cx="35072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>
                  <a:ln>
                    <a:solidFill>
                      <a:prstClr val="white"/>
                    </a:solidFill>
                  </a:ln>
                  <a:noFill/>
                  <a:effectLst/>
                  <a:uLnTx/>
                  <a:uFillTx/>
                  <a:latin typeface="Dela Gothic One" panose="00000500000000000000" pitchFamily="2" charset="-128"/>
                  <a:ea typeface="Dela Gothic One" panose="00000500000000000000" pitchFamily="2" charset="-128"/>
                  <a:cs typeface="KoPubWorld돋움체 Bold" panose="00000800000000000000" pitchFamily="2" charset="-127"/>
                </a:rPr>
                <a:t>RISING FINANCIAL STARS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9A7A02-15FB-6687-767E-FEB6374896F9}"/>
                </a:ext>
              </a:extLst>
            </p:cNvPr>
            <p:cNvSpPr txBox="1"/>
            <p:nvPr/>
          </p:nvSpPr>
          <p:spPr>
            <a:xfrm>
              <a:off x="244442" y="1759184"/>
              <a:ext cx="4626975" cy="2843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R.F.S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2586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DAAA-DF08-F509-884A-B213B4002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타원 11">
            <a:extLst>
              <a:ext uri="{FF2B5EF4-FFF2-40B4-BE49-F238E27FC236}">
                <a16:creationId xmlns:a16="http://schemas.microsoft.com/office/drawing/2014/main" id="{BA731456-1487-6F89-4391-DDB58A5B793C}"/>
              </a:ext>
            </a:extLst>
          </p:cNvPr>
          <p:cNvSpPr/>
          <p:nvPr/>
        </p:nvSpPr>
        <p:spPr>
          <a:xfrm>
            <a:off x="-1820571" y="-1760091"/>
            <a:ext cx="5079168" cy="4645284"/>
          </a:xfrm>
          <a:prstGeom prst="ellipse">
            <a:avLst/>
          </a:prstGeom>
          <a:solidFill>
            <a:srgbClr val="D8F3FC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B37960E-446C-FC06-1803-25B9A2D0C16B}"/>
              </a:ext>
            </a:extLst>
          </p:cNvPr>
          <p:cNvSpPr/>
          <p:nvPr/>
        </p:nvSpPr>
        <p:spPr>
          <a:xfrm>
            <a:off x="9092437" y="3876516"/>
            <a:ext cx="3872647" cy="3828245"/>
          </a:xfrm>
          <a:prstGeom prst="ellipse">
            <a:avLst/>
          </a:prstGeom>
          <a:solidFill>
            <a:srgbClr val="D8F3FC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3FA777-4AC8-30D5-2972-E3FC870A02E6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BBFB37-9696-1DF6-6779-2EF3182A640E}"/>
              </a:ext>
            </a:extLst>
          </p:cNvPr>
          <p:cNvSpPr txBox="1"/>
          <p:nvPr/>
        </p:nvSpPr>
        <p:spPr>
          <a:xfrm>
            <a:off x="365435" y="274252"/>
            <a:ext cx="1282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R.F.S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ECBED0-0288-02DA-F022-1195BE31F0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48E9CA3-93D7-FC53-6CC6-520E3211C5EF}"/>
              </a:ext>
            </a:extLst>
          </p:cNvPr>
          <p:cNvCxnSpPr>
            <a:cxnSpLocks/>
          </p:cNvCxnSpPr>
          <p:nvPr/>
        </p:nvCxnSpPr>
        <p:spPr>
          <a:xfrm>
            <a:off x="1315122" y="356063"/>
            <a:ext cx="9229291" cy="2003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DB367F-3166-B014-6EAA-01D8DAB28CAE}"/>
              </a:ext>
            </a:extLst>
          </p:cNvPr>
          <p:cNvSpPr txBox="1"/>
          <p:nvPr/>
        </p:nvSpPr>
        <p:spPr>
          <a:xfrm>
            <a:off x="1163239" y="1616082"/>
            <a:ext cx="4932761" cy="4757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32" latinLnBrk="0">
              <a:lnSpc>
                <a:spcPct val="250000"/>
              </a:lnSpc>
              <a:buClr>
                <a:srgbClr val="000000"/>
              </a:buClr>
              <a:defRPr/>
            </a:pPr>
            <a:r>
              <a:rPr lang="en-US" altLang="ko-KR" sz="2500" b="1" kern="0" dirty="0">
                <a:solidFill>
                  <a:srgbClr val="1B2853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sym typeface="Arial"/>
              </a:rPr>
              <a:t>1. R.F.S </a:t>
            </a:r>
            <a:r>
              <a:rPr lang="ko-KR" altLang="en-US" sz="2500" b="1" kern="0" dirty="0">
                <a:solidFill>
                  <a:srgbClr val="1B2853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sym typeface="Arial"/>
              </a:rPr>
              <a:t>연혁 및 조직도</a:t>
            </a:r>
            <a:endParaRPr lang="en-US" altLang="ko-KR" sz="2500" b="1" kern="0" dirty="0">
              <a:solidFill>
                <a:srgbClr val="1B2853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  <a:sym typeface="Arial"/>
            </a:endParaRPr>
          </a:p>
          <a:p>
            <a:pPr defTabSz="914332" latinLnBrk="0">
              <a:lnSpc>
                <a:spcPct val="250000"/>
              </a:lnSpc>
              <a:buClr>
                <a:srgbClr val="000000"/>
              </a:buClr>
              <a:defRPr/>
            </a:pPr>
            <a:r>
              <a:rPr lang="en-US" altLang="ko-KR" sz="2500" b="1" kern="0" dirty="0">
                <a:solidFill>
                  <a:srgbClr val="1B2853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sym typeface="Arial"/>
              </a:rPr>
              <a:t>2. RFS Alumni Network</a:t>
            </a:r>
          </a:p>
          <a:p>
            <a:pPr defTabSz="914332" latinLnBrk="0">
              <a:lnSpc>
                <a:spcPct val="250000"/>
              </a:lnSpc>
              <a:buClr>
                <a:srgbClr val="000000"/>
              </a:buClr>
              <a:defRPr/>
            </a:pPr>
            <a:r>
              <a:rPr lang="en-US" altLang="ko-KR" sz="2500" b="1" kern="0" dirty="0">
                <a:solidFill>
                  <a:srgbClr val="1B2853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sym typeface="Arial"/>
              </a:rPr>
              <a:t>3. Research Team </a:t>
            </a:r>
            <a:r>
              <a:rPr lang="ko-KR" altLang="en-US" sz="2500" b="1" kern="0" dirty="0">
                <a:solidFill>
                  <a:srgbClr val="1B2853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sym typeface="Arial"/>
              </a:rPr>
              <a:t>활동 </a:t>
            </a:r>
            <a:endParaRPr lang="en-US" altLang="ko-KR" sz="2500" b="1" kern="0" dirty="0">
              <a:solidFill>
                <a:srgbClr val="1B2853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  <a:sym typeface="Arial"/>
            </a:endParaRPr>
          </a:p>
          <a:p>
            <a:pPr defTabSz="914332" latinLnBrk="0">
              <a:lnSpc>
                <a:spcPct val="250000"/>
              </a:lnSpc>
              <a:buClr>
                <a:srgbClr val="000000"/>
              </a:buClr>
              <a:defRPr/>
            </a:pPr>
            <a:r>
              <a:rPr lang="en-US" altLang="ko-KR" sz="2500" b="1" kern="0" dirty="0">
                <a:solidFill>
                  <a:srgbClr val="1B2853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sym typeface="Arial"/>
              </a:rPr>
              <a:t>4. Asset Management Team </a:t>
            </a:r>
            <a:r>
              <a:rPr lang="ko-KR" altLang="en-US" sz="2500" b="1" kern="0" dirty="0">
                <a:solidFill>
                  <a:srgbClr val="1B2853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sym typeface="Arial"/>
              </a:rPr>
              <a:t>활동</a:t>
            </a:r>
            <a:endParaRPr lang="en-US" altLang="ko-KR" sz="2500" b="1" kern="0" dirty="0">
              <a:solidFill>
                <a:srgbClr val="1B2853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  <a:sym typeface="Arial"/>
            </a:endParaRPr>
          </a:p>
          <a:p>
            <a:pPr defTabSz="914332" latinLnBrk="0">
              <a:lnSpc>
                <a:spcPct val="250000"/>
              </a:lnSpc>
              <a:buClr>
                <a:srgbClr val="000000"/>
              </a:buClr>
              <a:defRPr/>
            </a:pPr>
            <a:endParaRPr lang="en-US" altLang="ko-KR" sz="2500" b="1" kern="0" dirty="0">
              <a:solidFill>
                <a:srgbClr val="FFC00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51E00A-5874-A0D9-1208-0A34BAD9D568}"/>
              </a:ext>
            </a:extLst>
          </p:cNvPr>
          <p:cNvSpPr txBox="1"/>
          <p:nvPr/>
        </p:nvSpPr>
        <p:spPr>
          <a:xfrm>
            <a:off x="-137685" y="1190451"/>
            <a:ext cx="3618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u="sng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INDEX</a:t>
            </a:r>
            <a:endParaRPr lang="ko-KR" altLang="en-US" sz="3600" u="sng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F5C5F29-F71C-E2D7-216C-733511BB4B61}"/>
              </a:ext>
            </a:extLst>
          </p:cNvPr>
          <p:cNvCxnSpPr>
            <a:cxnSpLocks/>
          </p:cNvCxnSpPr>
          <p:nvPr/>
        </p:nvCxnSpPr>
        <p:spPr>
          <a:xfrm>
            <a:off x="1006511" y="2082800"/>
            <a:ext cx="0" cy="318008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44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72A80C5E-037E-937D-14BC-A361BF41529E}"/>
              </a:ext>
            </a:extLst>
          </p:cNvPr>
          <p:cNvSpPr txBox="1"/>
          <p:nvPr/>
        </p:nvSpPr>
        <p:spPr>
          <a:xfrm>
            <a:off x="3113374" y="958653"/>
            <a:ext cx="5965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중앙대학교 가치투자학</a:t>
            </a:r>
            <a:r>
              <a:rPr lang="ko-KR" altLang="en-US" sz="3600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Segoe UI Symbol" panose="020B0502040204020203" pitchFamily="34" charset="0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</a:t>
            </a:r>
            <a:r>
              <a:rPr lang="ko-KR" altLang="en-US" sz="3600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3600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R.F.S</a:t>
            </a:r>
            <a:endParaRPr lang="ko-KR" altLang="en-US" sz="3600" dirty="0">
              <a:solidFill>
                <a:srgbClr val="002060"/>
              </a:solidFill>
              <a:effectLst>
                <a:glow rad="38100">
                  <a:schemeClr val="tx2">
                    <a:lumMod val="50000"/>
                    <a:lumOff val="50000"/>
                    <a:alpha val="21000"/>
                  </a:schemeClr>
                </a:glo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3217DB-2D84-E0AF-80A2-F5AD9E36E1D4}"/>
              </a:ext>
            </a:extLst>
          </p:cNvPr>
          <p:cNvSpPr txBox="1"/>
          <p:nvPr/>
        </p:nvSpPr>
        <p:spPr>
          <a:xfrm>
            <a:off x="3775935" y="1594597"/>
            <a:ext cx="46401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500" dirty="0">
                <a:solidFill>
                  <a:schemeClr val="tx2">
                    <a:lumMod val="50000"/>
                    <a:lumOff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RISING FINANCIAL STARS</a:t>
            </a:r>
            <a:endParaRPr lang="ko-KR" altLang="en-US" sz="1500" dirty="0">
              <a:solidFill>
                <a:schemeClr val="tx2">
                  <a:lumMod val="50000"/>
                  <a:lumOff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026637-FF95-5F0E-E7A7-BA31961F1181}"/>
              </a:ext>
            </a:extLst>
          </p:cNvPr>
          <p:cNvSpPr txBox="1"/>
          <p:nvPr/>
        </p:nvSpPr>
        <p:spPr>
          <a:xfrm>
            <a:off x="2457153" y="5024871"/>
            <a:ext cx="7277691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4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중앙대학교 가치투자 학회 </a:t>
            </a:r>
            <a:r>
              <a:rPr lang="en-US" altLang="ko-KR" sz="14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R.F.S</a:t>
            </a: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는 </a:t>
            </a:r>
            <a:r>
              <a:rPr lang="en-US" altLang="ko-KR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2006</a:t>
            </a: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년에 출범하여</a:t>
            </a:r>
            <a:r>
              <a:rPr lang="en-US" altLang="ko-KR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20</a:t>
            </a: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년의 전통을 이어오고 있습니다</a:t>
            </a:r>
            <a:r>
              <a:rPr lang="en-US" altLang="ko-KR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algn="ctr">
              <a:lnSpc>
                <a:spcPct val="130000"/>
              </a:lnSpc>
            </a:pP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현재까지 </a:t>
            </a:r>
            <a:r>
              <a:rPr lang="en-US" altLang="ko-KR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42</a:t>
            </a: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 기수를 통해 </a:t>
            </a:r>
            <a:r>
              <a:rPr lang="en-US" altLang="ko-KR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400</a:t>
            </a: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명 이상의 회원이 활동해왔으며</a:t>
            </a:r>
            <a:r>
              <a:rPr lang="en-US" altLang="ko-KR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</a:p>
          <a:p>
            <a:pPr algn="ctr">
              <a:lnSpc>
                <a:spcPct val="130000"/>
              </a:lnSpc>
            </a:pP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전국 대학생 투자동아리 연합회 </a:t>
            </a:r>
            <a:r>
              <a:rPr lang="en-US" altLang="ko-KR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UIC</a:t>
            </a: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와 연합 </a:t>
            </a:r>
            <a:r>
              <a:rPr lang="ko-KR" altLang="en-US" sz="1400" dirty="0" err="1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학술제</a:t>
            </a: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S.O.K.H.A</a:t>
            </a:r>
            <a:r>
              <a: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에 소속되어 있습니다</a:t>
            </a:r>
            <a:r>
              <a:rPr lang="en-US" altLang="ko-KR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898E2BF1-25CD-F30B-4416-F2C5D1AE732F}"/>
              </a:ext>
            </a:extLst>
          </p:cNvPr>
          <p:cNvSpPr/>
          <p:nvPr/>
        </p:nvSpPr>
        <p:spPr>
          <a:xfrm>
            <a:off x="-1820571" y="-1760091"/>
            <a:ext cx="5079168" cy="4645284"/>
          </a:xfrm>
          <a:prstGeom prst="ellipse">
            <a:avLst/>
          </a:prstGeom>
          <a:solidFill>
            <a:srgbClr val="D8F3FC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31FEB9FC-862D-C51B-DB39-04247514FDE6}"/>
              </a:ext>
            </a:extLst>
          </p:cNvPr>
          <p:cNvSpPr/>
          <p:nvPr/>
        </p:nvSpPr>
        <p:spPr>
          <a:xfrm>
            <a:off x="9644418" y="4587716"/>
            <a:ext cx="3872647" cy="3828245"/>
          </a:xfrm>
          <a:prstGeom prst="ellipse">
            <a:avLst/>
          </a:prstGeom>
          <a:solidFill>
            <a:srgbClr val="D8F3FC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CB611CB-657C-9A54-B0DD-670B1150C8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9EB06B-2F48-3667-33A9-EABA721A43E6}"/>
              </a:ext>
            </a:extLst>
          </p:cNvPr>
          <p:cNvSpPr txBox="1"/>
          <p:nvPr/>
        </p:nvSpPr>
        <p:spPr>
          <a:xfrm>
            <a:off x="77937" y="237602"/>
            <a:ext cx="1282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1</a:t>
            </a:r>
            <a:r>
              <a:rPr lang="en-US" altLang="ko-KR" sz="1200" b="1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. </a:t>
            </a:r>
            <a:r>
              <a:rPr lang="ko-KR" altLang="en-US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연혁 및 조직도</a:t>
            </a:r>
            <a:endParaRPr lang="en-US" altLang="ko-KR" sz="1200" b="1" dirty="0">
              <a:solidFill>
                <a:srgbClr val="1B2853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1571191-17C2-818E-89B8-77CDC84E737B}"/>
              </a:ext>
            </a:extLst>
          </p:cNvPr>
          <p:cNvCxnSpPr>
            <a:cxnSpLocks/>
          </p:cNvCxnSpPr>
          <p:nvPr/>
        </p:nvCxnSpPr>
        <p:spPr>
          <a:xfrm>
            <a:off x="1360089" y="356161"/>
            <a:ext cx="9184324" cy="19941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006CA9-A4D4-7C3D-09A5-C6F801074583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grpSp>
        <p:nvGrpSpPr>
          <p:cNvPr id="1028" name="그룹 1027">
            <a:extLst>
              <a:ext uri="{FF2B5EF4-FFF2-40B4-BE49-F238E27FC236}">
                <a16:creationId xmlns:a16="http://schemas.microsoft.com/office/drawing/2014/main" id="{EBEF4685-73AB-202A-B137-4A48B53B65F3}"/>
              </a:ext>
            </a:extLst>
          </p:cNvPr>
          <p:cNvGrpSpPr/>
          <p:nvPr/>
        </p:nvGrpSpPr>
        <p:grpSpPr>
          <a:xfrm>
            <a:off x="2996887" y="2276670"/>
            <a:ext cx="5910727" cy="1961802"/>
            <a:chOff x="3385632" y="2331469"/>
            <a:chExt cx="5910727" cy="1961802"/>
          </a:xfrm>
        </p:grpSpPr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BF53DE0C-8FAA-A5BC-8AE0-2E0CEB955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6" r="57488"/>
            <a:stretch>
              <a:fillRect/>
            </a:stretch>
          </p:blipFill>
          <p:spPr>
            <a:xfrm>
              <a:off x="3385632" y="2344455"/>
              <a:ext cx="2222282" cy="1948816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7D7FA8C-ABE2-C4CB-9D45-4C0B13BF2100}"/>
                </a:ext>
              </a:extLst>
            </p:cNvPr>
            <p:cNvSpPr txBox="1"/>
            <p:nvPr/>
          </p:nvSpPr>
          <p:spPr>
            <a:xfrm>
              <a:off x="5631713" y="3016730"/>
              <a:ext cx="64107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4000" dirty="0">
                  <a:solidFill>
                    <a:srgbClr val="002060"/>
                  </a:solidFill>
                  <a:effectLst>
                    <a:glow rad="38100">
                      <a:schemeClr val="tx2">
                        <a:lumMod val="50000"/>
                        <a:lumOff val="50000"/>
                        <a:alpha val="21000"/>
                      </a:schemeClr>
                    </a:glow>
                  </a:effectLst>
                  <a:latin typeface="Segoe UI Symbol" panose="020B0502040204020203" pitchFamily="34" charset="0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✖</a:t>
              </a:r>
              <a:endParaRPr lang="ko-KR" altLang="en-US" sz="4000" dirty="0"/>
            </a:p>
          </p:txBody>
        </p:sp>
        <p:pic>
          <p:nvPicPr>
            <p:cNvPr id="1025" name="그림 1024">
              <a:extLst>
                <a:ext uri="{FF2B5EF4-FFF2-40B4-BE49-F238E27FC236}">
                  <a16:creationId xmlns:a16="http://schemas.microsoft.com/office/drawing/2014/main" id="{760C2BC2-03FB-8409-6D71-06C5BB63E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27479" y="2331469"/>
              <a:ext cx="1972051" cy="1186721"/>
            </a:xfrm>
            <a:prstGeom prst="rect">
              <a:avLst/>
            </a:prstGeom>
          </p:spPr>
        </p:pic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E771FA30-0382-522A-2568-0B83CB93FB4E}"/>
                </a:ext>
              </a:extLst>
            </p:cNvPr>
            <p:cNvSpPr txBox="1"/>
            <p:nvPr/>
          </p:nvSpPr>
          <p:spPr>
            <a:xfrm>
              <a:off x="6330651" y="3559983"/>
              <a:ext cx="29657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dirty="0">
                  <a:solidFill>
                    <a:srgbClr val="002060"/>
                  </a:solidFill>
                  <a:effectLst>
                    <a:glow rad="38100">
                      <a:schemeClr val="tx2">
                        <a:lumMod val="50000"/>
                        <a:lumOff val="50000"/>
                        <a:alpha val="21000"/>
                      </a:schemeClr>
                    </a:glow>
                  </a:effectLst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KoPubWorld돋움체 Bold" panose="00000800000000000000" pitchFamily="2" charset="-127"/>
                </a:rPr>
                <a:t>S.O.K.H.A</a:t>
              </a:r>
              <a:endParaRPr lang="ko-KR" altLang="en-US" sz="3600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97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4BCF-3482-48CD-4B8E-394DD4DEF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B24C4A4B-4577-A2E3-0F26-0B0FB27C2D78}"/>
              </a:ext>
            </a:extLst>
          </p:cNvPr>
          <p:cNvSpPr txBox="1"/>
          <p:nvPr/>
        </p:nvSpPr>
        <p:spPr>
          <a:xfrm>
            <a:off x="3113374" y="958653"/>
            <a:ext cx="5965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중앙대학교 가치투자학</a:t>
            </a:r>
            <a:r>
              <a:rPr lang="ko-KR" altLang="en-US" sz="3600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Segoe UI Symbol" panose="020B0502040204020203" pitchFamily="34" charset="0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</a:t>
            </a:r>
            <a:r>
              <a:rPr lang="ko-KR" altLang="en-US" sz="3600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3600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R.F.S</a:t>
            </a:r>
            <a:endParaRPr lang="ko-KR" altLang="en-US" sz="3600" dirty="0">
              <a:solidFill>
                <a:srgbClr val="002060"/>
              </a:solidFill>
              <a:effectLst>
                <a:glow rad="38100">
                  <a:schemeClr val="tx2">
                    <a:lumMod val="50000"/>
                    <a:lumOff val="50000"/>
                    <a:alpha val="21000"/>
                  </a:schemeClr>
                </a:glo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A51C96-D881-AB35-E191-FA2933536B5B}"/>
              </a:ext>
            </a:extLst>
          </p:cNvPr>
          <p:cNvSpPr txBox="1"/>
          <p:nvPr/>
        </p:nvSpPr>
        <p:spPr>
          <a:xfrm>
            <a:off x="3775935" y="1594597"/>
            <a:ext cx="46401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500" dirty="0">
                <a:solidFill>
                  <a:schemeClr val="tx2">
                    <a:lumMod val="50000"/>
                    <a:lumOff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RISING FINANCIAL STARS</a:t>
            </a:r>
            <a:endParaRPr lang="ko-KR" altLang="en-US" sz="1500" dirty="0">
              <a:solidFill>
                <a:schemeClr val="tx2">
                  <a:lumMod val="50000"/>
                  <a:lumOff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462446-352E-36C4-DBE1-ACC7C2F497D5}"/>
              </a:ext>
            </a:extLst>
          </p:cNvPr>
          <p:cNvSpPr txBox="1"/>
          <p:nvPr/>
        </p:nvSpPr>
        <p:spPr>
          <a:xfrm>
            <a:off x="1948419" y="5454975"/>
            <a:ext cx="8295159" cy="67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현직에서 경쟁력 있는 인재 배출</a:t>
            </a: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을 목표로 하고 있으며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기업 분석 보고서를 작성하는 </a:t>
            </a: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Research Team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 </a:t>
            </a:r>
            <a:endParaRPr lang="en-US" altLang="ko-KR" sz="1500" dirty="0">
              <a:solidFill>
                <a:srgbClr val="00206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>
              <a:lnSpc>
                <a:spcPct val="130000"/>
              </a:lnSpc>
            </a:pP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RFS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펀드를 운용하는 </a:t>
            </a: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Asset Management Team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으로 나누어 활동 중입니다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  <a:endParaRPr lang="ko-KR" altLang="en-US" sz="1500" dirty="0">
              <a:solidFill>
                <a:srgbClr val="00206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8796BD41-0284-1E81-B18F-224FDF5BC4C2}"/>
              </a:ext>
            </a:extLst>
          </p:cNvPr>
          <p:cNvSpPr/>
          <p:nvPr/>
        </p:nvSpPr>
        <p:spPr>
          <a:xfrm>
            <a:off x="-1820571" y="-1760091"/>
            <a:ext cx="5079168" cy="4645284"/>
          </a:xfrm>
          <a:prstGeom prst="ellipse">
            <a:avLst/>
          </a:prstGeom>
          <a:solidFill>
            <a:srgbClr val="D8F3FC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2CFDD9E5-AE75-F89E-86E0-65BD0B6A1D6F}"/>
              </a:ext>
            </a:extLst>
          </p:cNvPr>
          <p:cNvSpPr/>
          <p:nvPr/>
        </p:nvSpPr>
        <p:spPr>
          <a:xfrm>
            <a:off x="9644418" y="4587716"/>
            <a:ext cx="3872647" cy="3828245"/>
          </a:xfrm>
          <a:prstGeom prst="ellipse">
            <a:avLst/>
          </a:prstGeom>
          <a:solidFill>
            <a:srgbClr val="D8F3FC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A82FC77-B07A-E310-D7AB-36057006CB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C63A65-3BC6-B44A-3937-588B68F1DD49}"/>
              </a:ext>
            </a:extLst>
          </p:cNvPr>
          <p:cNvSpPr txBox="1"/>
          <p:nvPr/>
        </p:nvSpPr>
        <p:spPr>
          <a:xfrm>
            <a:off x="77937" y="237602"/>
            <a:ext cx="1282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1</a:t>
            </a:r>
            <a:r>
              <a:rPr lang="en-US" altLang="ko-KR" sz="1200" b="1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. </a:t>
            </a:r>
            <a:r>
              <a:rPr lang="ko-KR" altLang="en-US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연혁 및 조직도</a:t>
            </a:r>
            <a:endParaRPr lang="en-US" altLang="ko-KR" sz="1200" b="1" dirty="0">
              <a:solidFill>
                <a:srgbClr val="1B2853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C03936F-1BF2-9F45-56AC-AC8656113252}"/>
              </a:ext>
            </a:extLst>
          </p:cNvPr>
          <p:cNvCxnSpPr>
            <a:cxnSpLocks/>
          </p:cNvCxnSpPr>
          <p:nvPr/>
        </p:nvCxnSpPr>
        <p:spPr>
          <a:xfrm>
            <a:off x="1360089" y="356161"/>
            <a:ext cx="9184324" cy="19941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87A12A-3A54-4554-C7DE-0608D4D4D00F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660979E-6DAA-BF4D-E1CE-331A6ACCCA0F}"/>
              </a:ext>
            </a:extLst>
          </p:cNvPr>
          <p:cNvGrpSpPr/>
          <p:nvPr/>
        </p:nvGrpSpPr>
        <p:grpSpPr>
          <a:xfrm>
            <a:off x="1791828" y="2200323"/>
            <a:ext cx="8320846" cy="2717674"/>
            <a:chOff x="1944085" y="2251745"/>
            <a:chExt cx="8320846" cy="2717674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A6541E84-25A4-7883-144E-7DA232689F76}"/>
                </a:ext>
              </a:extLst>
            </p:cNvPr>
            <p:cNvSpPr/>
            <p:nvPr/>
          </p:nvSpPr>
          <p:spPr>
            <a:xfrm>
              <a:off x="5175820" y="2251745"/>
              <a:ext cx="1840360" cy="58513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>
              <a:glow rad="88900">
                <a:schemeClr val="tx2">
                  <a:lumMod val="25000"/>
                  <a:lumOff val="75000"/>
                  <a:alpha val="33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rgbClr val="00206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회장단</a:t>
              </a: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17B64083-0F86-988E-8821-73E84A458D19}"/>
                </a:ext>
              </a:extLst>
            </p:cNvPr>
            <p:cNvCxnSpPr>
              <a:cxnSpLocks/>
              <a:stCxn id="35" idx="2"/>
              <a:endCxn id="39" idx="1"/>
            </p:cNvCxnSpPr>
            <p:nvPr/>
          </p:nvCxnSpPr>
          <p:spPr>
            <a:xfrm>
              <a:off x="6096000" y="2836877"/>
              <a:ext cx="8506" cy="1084906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031C92B5-E8D1-4436-8B3B-2BC12BB3D1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676" y="3338625"/>
              <a:ext cx="1723324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왼쪽 대괄호 38">
              <a:extLst>
                <a:ext uri="{FF2B5EF4-FFF2-40B4-BE49-F238E27FC236}">
                  <a16:creationId xmlns:a16="http://schemas.microsoft.com/office/drawing/2014/main" id="{E0BE3AC3-78D1-37C2-48DB-96435022ADBE}"/>
                </a:ext>
              </a:extLst>
            </p:cNvPr>
            <p:cNvSpPr/>
            <p:nvPr/>
          </p:nvSpPr>
          <p:spPr>
            <a:xfrm rot="5400000">
              <a:off x="5873254" y="912791"/>
              <a:ext cx="462503" cy="6480486"/>
            </a:xfrm>
            <a:prstGeom prst="leftBracket">
              <a:avLst>
                <a:gd name="adj" fmla="val 152062"/>
              </a:avLst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C7A453D3-753A-B8BC-B927-8CC7FB148D64}"/>
                </a:ext>
              </a:extLst>
            </p:cNvPr>
            <p:cNvSpPr/>
            <p:nvPr/>
          </p:nvSpPr>
          <p:spPr>
            <a:xfrm>
              <a:off x="3167537" y="2984210"/>
              <a:ext cx="1840360" cy="58513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>
              <a:glow rad="88900">
                <a:schemeClr val="tx2">
                  <a:lumMod val="25000"/>
                  <a:lumOff val="75000"/>
                  <a:alpha val="33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00206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Asset</a:t>
              </a:r>
              <a:r>
                <a:rPr lang="ko-KR" altLang="en-US" sz="1200" dirty="0">
                  <a:solidFill>
                    <a:srgbClr val="00206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lang="en-US" altLang="ko-KR" sz="1200" dirty="0">
                  <a:solidFill>
                    <a:srgbClr val="00206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Management</a:t>
              </a:r>
              <a:r>
                <a:rPr lang="ko-KR" altLang="en-US" sz="1200" dirty="0">
                  <a:solidFill>
                    <a:srgbClr val="00206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80EC1B1-4F2B-2420-A696-10916DD9A892}"/>
                </a:ext>
              </a:extLst>
            </p:cNvPr>
            <p:cNvSpPr/>
            <p:nvPr/>
          </p:nvSpPr>
          <p:spPr>
            <a:xfrm>
              <a:off x="1944085" y="4384287"/>
              <a:ext cx="1840360" cy="58513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>
              <a:glow rad="88900">
                <a:schemeClr val="tx2">
                  <a:lumMod val="25000"/>
                  <a:lumOff val="75000"/>
                  <a:alpha val="33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rgbClr val="00206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Research Team 1</a:t>
              </a:r>
              <a:endPara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4F9D91C4-1256-C1B8-5903-9CC3C211436A}"/>
                </a:ext>
              </a:extLst>
            </p:cNvPr>
            <p:cNvSpPr/>
            <p:nvPr/>
          </p:nvSpPr>
          <p:spPr>
            <a:xfrm>
              <a:off x="4104247" y="4384287"/>
              <a:ext cx="1840360" cy="58513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>
              <a:glow rad="88900">
                <a:schemeClr val="tx2">
                  <a:lumMod val="25000"/>
                  <a:lumOff val="75000"/>
                  <a:alpha val="33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rgbClr val="00206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Research Team 2</a:t>
              </a:r>
              <a:endPara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42C137D8-6A90-B063-0635-B43722CA8687}"/>
                </a:ext>
              </a:extLst>
            </p:cNvPr>
            <p:cNvSpPr/>
            <p:nvPr/>
          </p:nvSpPr>
          <p:spPr>
            <a:xfrm>
              <a:off x="6264409" y="4384287"/>
              <a:ext cx="1840360" cy="58513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>
              <a:glow rad="88900">
                <a:schemeClr val="tx2">
                  <a:lumMod val="25000"/>
                  <a:lumOff val="75000"/>
                  <a:alpha val="33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rgbClr val="00206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Research Team 3</a:t>
              </a:r>
              <a:endPara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EED02D2C-DD59-17F1-F9A7-91CE78938B8E}"/>
                </a:ext>
              </a:extLst>
            </p:cNvPr>
            <p:cNvSpPr/>
            <p:nvPr/>
          </p:nvSpPr>
          <p:spPr>
            <a:xfrm>
              <a:off x="8424571" y="4384287"/>
              <a:ext cx="1840360" cy="58513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>
              <a:glow rad="88900">
                <a:schemeClr val="tx2">
                  <a:lumMod val="25000"/>
                  <a:lumOff val="75000"/>
                  <a:alpha val="33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rgbClr val="00206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Research Team 4</a:t>
              </a:r>
              <a:endPara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873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91DA-7DD6-D63C-D2AE-B10BCCE21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735456DD-8845-9A36-6F9F-8B9090EB13A9}"/>
              </a:ext>
            </a:extLst>
          </p:cNvPr>
          <p:cNvSpPr txBox="1"/>
          <p:nvPr/>
        </p:nvSpPr>
        <p:spPr>
          <a:xfrm>
            <a:off x="186393" y="855971"/>
            <a:ext cx="4090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KoPubWorld돋움체 Bold" panose="00000800000000000000" pitchFamily="2" charset="-127"/>
              </a:rPr>
              <a:t>Alumni Network</a:t>
            </a:r>
            <a:endParaRPr lang="ko-KR" altLang="en-US" sz="4000" b="1" dirty="0">
              <a:solidFill>
                <a:srgbClr val="002060"/>
              </a:solidFill>
              <a:effectLst>
                <a:glow rad="38100">
                  <a:schemeClr val="tx2">
                    <a:lumMod val="50000"/>
                    <a:lumOff val="50000"/>
                    <a:alpha val="21000"/>
                  </a:schemeClr>
                </a:glo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D444D0-11B1-EC0B-1E8B-30837264B435}"/>
              </a:ext>
            </a:extLst>
          </p:cNvPr>
          <p:cNvSpPr txBox="1"/>
          <p:nvPr/>
        </p:nvSpPr>
        <p:spPr>
          <a:xfrm>
            <a:off x="186393" y="1537539"/>
            <a:ext cx="8087260" cy="67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중앙대학교 가치투자 학회 </a:t>
            </a: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R.F.S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는 금융업계 전반에 걸친 풍부한 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Alumni Network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보유하고 있습니다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  <a:r>
              <a: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증권</a:t>
            </a: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운용</a:t>
            </a: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컨설팅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등 다양한 분야에 진출하신 선배님들은 본 학회의 </a:t>
            </a:r>
            <a:r>
              <a: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가장 큰 자산이자 자부심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입니다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  <a:endParaRPr lang="ko-KR" altLang="en-US" sz="1500" dirty="0">
              <a:solidFill>
                <a:srgbClr val="00206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9BE2249-A578-06A3-1935-8F1E389BE9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8E6900-5F7B-BFD9-17A6-B30DD16B5FD6}"/>
              </a:ext>
            </a:extLst>
          </p:cNvPr>
          <p:cNvSpPr txBox="1"/>
          <p:nvPr/>
        </p:nvSpPr>
        <p:spPr>
          <a:xfrm>
            <a:off x="77936" y="237602"/>
            <a:ext cx="1979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2. RFS Alumni Network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1BF1C9-A653-0B71-8DDE-A2A7083D3EBD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57399" y="376102"/>
            <a:ext cx="8487014" cy="0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32D99C-FE59-7F90-C9DE-4E21B44F803A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pic>
        <p:nvPicPr>
          <p:cNvPr id="5" name="그림 4" descr="텍스트, 스크린샷, 폰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C6402A-CCB9-4152-55FA-810E0FC18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36" y="3072796"/>
            <a:ext cx="11670327" cy="24480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DEE69B-7312-B89E-97D6-CB28F1BFAEFE}"/>
              </a:ext>
            </a:extLst>
          </p:cNvPr>
          <p:cNvSpPr txBox="1"/>
          <p:nvPr/>
        </p:nvSpPr>
        <p:spPr>
          <a:xfrm>
            <a:off x="186393" y="2472078"/>
            <a:ext cx="8087260" cy="37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&lt;25</a:t>
            </a:r>
            <a:r>
              <a:rPr lang="ko-KR" altLang="en-US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하반기 취업 현황</a:t>
            </a: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&gt;</a:t>
            </a:r>
            <a:endParaRPr lang="ko-KR" altLang="en-US" sz="1500" dirty="0">
              <a:solidFill>
                <a:srgbClr val="00206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784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A8385-3F48-498D-29EB-76C431F24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21CD728-6A8D-8533-E142-030FD5B894BA}"/>
              </a:ext>
            </a:extLst>
          </p:cNvPr>
          <p:cNvCxnSpPr>
            <a:cxnSpLocks/>
          </p:cNvCxnSpPr>
          <p:nvPr/>
        </p:nvCxnSpPr>
        <p:spPr>
          <a:xfrm>
            <a:off x="-372819" y="4439036"/>
            <a:ext cx="13163662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60F7B0AB-6466-ACC1-2EE8-F7F9F8B603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08726C-E780-B56E-D05A-5C1E92DB53EF}"/>
              </a:ext>
            </a:extLst>
          </p:cNvPr>
          <p:cNvSpPr txBox="1"/>
          <p:nvPr/>
        </p:nvSpPr>
        <p:spPr>
          <a:xfrm>
            <a:off x="77936" y="237602"/>
            <a:ext cx="1979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3. Research Team </a:t>
            </a:r>
            <a:r>
              <a:rPr lang="ko-KR" altLang="en-US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활동</a:t>
            </a:r>
            <a:endParaRPr lang="en-US" altLang="ko-KR" sz="1200" b="1" dirty="0">
              <a:solidFill>
                <a:srgbClr val="1B2853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4AE0F33-11DA-0EE1-1849-5469C745E44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57399" y="376102"/>
            <a:ext cx="8487014" cy="0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423FDA-1FEF-91E6-8C75-3258210E4A8D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0521AA-FE9F-E579-E9C9-A8A9E8DC32BE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6B3839C-58FC-13B4-E520-4C4371BF1B2B}"/>
              </a:ext>
            </a:extLst>
          </p:cNvPr>
          <p:cNvSpPr/>
          <p:nvPr/>
        </p:nvSpPr>
        <p:spPr>
          <a:xfrm>
            <a:off x="787996" y="3091805"/>
            <a:ext cx="2603575" cy="26944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85090973-9C2C-5059-F786-55750AB5AE98}"/>
              </a:ext>
            </a:extLst>
          </p:cNvPr>
          <p:cNvSpPr/>
          <p:nvPr/>
        </p:nvSpPr>
        <p:spPr>
          <a:xfrm>
            <a:off x="4256060" y="3151987"/>
            <a:ext cx="6383253" cy="2669469"/>
          </a:xfrm>
          <a:custGeom>
            <a:avLst/>
            <a:gdLst>
              <a:gd name="csX0" fmla="*/ 1382470 w 6751818"/>
              <a:gd name="csY0" fmla="*/ 0 h 2814696"/>
              <a:gd name="csX1" fmla="*/ 2360024 w 6751818"/>
              <a:gd name="csY1" fmla="*/ 412203 h 2814696"/>
              <a:gd name="csX2" fmla="*/ 2379189 w 6751818"/>
              <a:gd name="csY2" fmla="*/ 433670 h 2814696"/>
              <a:gd name="csX3" fmla="*/ 2398355 w 6751818"/>
              <a:gd name="csY3" fmla="*/ 412203 h 2814696"/>
              <a:gd name="csX4" fmla="*/ 3375909 w 6751818"/>
              <a:gd name="csY4" fmla="*/ 0 h 2814696"/>
              <a:gd name="csX5" fmla="*/ 4353463 w 6751818"/>
              <a:gd name="csY5" fmla="*/ 412203 h 2814696"/>
              <a:gd name="csX6" fmla="*/ 4372628 w 6751818"/>
              <a:gd name="csY6" fmla="*/ 433670 h 2814696"/>
              <a:gd name="csX7" fmla="*/ 4391794 w 6751818"/>
              <a:gd name="csY7" fmla="*/ 412203 h 2814696"/>
              <a:gd name="csX8" fmla="*/ 5369348 w 6751818"/>
              <a:gd name="csY8" fmla="*/ 0 h 2814696"/>
              <a:gd name="csX9" fmla="*/ 6751818 w 6751818"/>
              <a:gd name="csY9" fmla="*/ 1407348 h 2814696"/>
              <a:gd name="csX10" fmla="*/ 5369348 w 6751818"/>
              <a:gd name="csY10" fmla="*/ 2814696 h 2814696"/>
              <a:gd name="csX11" fmla="*/ 4391794 w 6751818"/>
              <a:gd name="csY11" fmla="*/ 2402494 h 2814696"/>
              <a:gd name="csX12" fmla="*/ 4372628 w 6751818"/>
              <a:gd name="csY12" fmla="*/ 2381027 h 2814696"/>
              <a:gd name="csX13" fmla="*/ 4353463 w 6751818"/>
              <a:gd name="csY13" fmla="*/ 2402494 h 2814696"/>
              <a:gd name="csX14" fmla="*/ 3375909 w 6751818"/>
              <a:gd name="csY14" fmla="*/ 2814696 h 2814696"/>
              <a:gd name="csX15" fmla="*/ 2398355 w 6751818"/>
              <a:gd name="csY15" fmla="*/ 2402494 h 2814696"/>
              <a:gd name="csX16" fmla="*/ 2379189 w 6751818"/>
              <a:gd name="csY16" fmla="*/ 2381027 h 2814696"/>
              <a:gd name="csX17" fmla="*/ 2360024 w 6751818"/>
              <a:gd name="csY17" fmla="*/ 2402494 h 2814696"/>
              <a:gd name="csX18" fmla="*/ 1382470 w 6751818"/>
              <a:gd name="csY18" fmla="*/ 2814696 h 2814696"/>
              <a:gd name="csX19" fmla="*/ 0 w 6751818"/>
              <a:gd name="csY19" fmla="*/ 1407348 h 2814696"/>
              <a:gd name="csX20" fmla="*/ 1382470 w 6751818"/>
              <a:gd name="csY20" fmla="*/ 0 h 28146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751818" h="2814696">
                <a:moveTo>
                  <a:pt x="1382470" y="0"/>
                </a:moveTo>
                <a:cubicBezTo>
                  <a:pt x="1764228" y="0"/>
                  <a:pt x="2109846" y="157523"/>
                  <a:pt x="2360024" y="412203"/>
                </a:cubicBezTo>
                <a:lnTo>
                  <a:pt x="2379189" y="433670"/>
                </a:lnTo>
                <a:lnTo>
                  <a:pt x="2398355" y="412203"/>
                </a:lnTo>
                <a:cubicBezTo>
                  <a:pt x="2648533" y="157523"/>
                  <a:pt x="2994150" y="0"/>
                  <a:pt x="3375909" y="0"/>
                </a:cubicBezTo>
                <a:cubicBezTo>
                  <a:pt x="3757667" y="0"/>
                  <a:pt x="4103285" y="157523"/>
                  <a:pt x="4353463" y="412203"/>
                </a:cubicBezTo>
                <a:lnTo>
                  <a:pt x="4372628" y="433670"/>
                </a:lnTo>
                <a:lnTo>
                  <a:pt x="4391794" y="412203"/>
                </a:lnTo>
                <a:cubicBezTo>
                  <a:pt x="4641972" y="157523"/>
                  <a:pt x="4987589" y="0"/>
                  <a:pt x="5369348" y="0"/>
                </a:cubicBezTo>
                <a:cubicBezTo>
                  <a:pt x="6132865" y="0"/>
                  <a:pt x="6751818" y="630091"/>
                  <a:pt x="6751818" y="1407348"/>
                </a:cubicBezTo>
                <a:cubicBezTo>
                  <a:pt x="6751818" y="2184605"/>
                  <a:pt x="6132865" y="2814696"/>
                  <a:pt x="5369348" y="2814696"/>
                </a:cubicBezTo>
                <a:cubicBezTo>
                  <a:pt x="4987589" y="2814696"/>
                  <a:pt x="4641972" y="2657174"/>
                  <a:pt x="4391794" y="2402494"/>
                </a:cubicBezTo>
                <a:lnTo>
                  <a:pt x="4372628" y="2381027"/>
                </a:lnTo>
                <a:lnTo>
                  <a:pt x="4353463" y="2402494"/>
                </a:lnTo>
                <a:cubicBezTo>
                  <a:pt x="4103285" y="2657174"/>
                  <a:pt x="3757667" y="2814696"/>
                  <a:pt x="3375909" y="2814696"/>
                </a:cubicBezTo>
                <a:cubicBezTo>
                  <a:pt x="2994150" y="2814696"/>
                  <a:pt x="2648533" y="2657174"/>
                  <a:pt x="2398355" y="2402494"/>
                </a:cubicBezTo>
                <a:lnTo>
                  <a:pt x="2379189" y="2381027"/>
                </a:lnTo>
                <a:lnTo>
                  <a:pt x="2360024" y="2402494"/>
                </a:lnTo>
                <a:cubicBezTo>
                  <a:pt x="2109846" y="2657174"/>
                  <a:pt x="1764228" y="2814696"/>
                  <a:pt x="1382470" y="2814696"/>
                </a:cubicBezTo>
                <a:cubicBezTo>
                  <a:pt x="618953" y="2814696"/>
                  <a:pt x="0" y="2184605"/>
                  <a:pt x="0" y="1407348"/>
                </a:cubicBezTo>
                <a:cubicBezTo>
                  <a:pt x="0" y="630091"/>
                  <a:pt x="618953" y="0"/>
                  <a:pt x="1382470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rgbClr val="223763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8233EB-30D4-757B-267C-48F1685F02E5}"/>
              </a:ext>
            </a:extLst>
          </p:cNvPr>
          <p:cNvSpPr/>
          <p:nvPr/>
        </p:nvSpPr>
        <p:spPr>
          <a:xfrm>
            <a:off x="1408495" y="2572675"/>
            <a:ext cx="1353805" cy="332691"/>
          </a:xfrm>
          <a:prstGeom prst="roundRect">
            <a:avLst>
              <a:gd name="adj" fmla="val 50000"/>
            </a:avLst>
          </a:prstGeom>
          <a:solidFill>
            <a:srgbClr val="1B285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투자제안서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8777B7D-2D3F-5A59-5954-DD0800F20781}"/>
              </a:ext>
            </a:extLst>
          </p:cNvPr>
          <p:cNvSpPr/>
          <p:nvPr/>
        </p:nvSpPr>
        <p:spPr>
          <a:xfrm>
            <a:off x="5728428" y="2517861"/>
            <a:ext cx="3438515" cy="338900"/>
          </a:xfrm>
          <a:prstGeom prst="roundRect">
            <a:avLst>
              <a:gd name="adj" fmla="val 50000"/>
            </a:avLst>
          </a:prstGeom>
          <a:solidFill>
            <a:srgbClr val="1B285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기업 분석 보고서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D24E49-1A19-57AE-6229-5E8B44A3508C}"/>
              </a:ext>
            </a:extLst>
          </p:cNvPr>
          <p:cNvSpPr txBox="1"/>
          <p:nvPr/>
        </p:nvSpPr>
        <p:spPr>
          <a:xfrm>
            <a:off x="459915" y="3789594"/>
            <a:ext cx="3030970" cy="1206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1982" algn="ctr" defTabSz="644640" latinLnBrk="0">
              <a:lnSpc>
                <a:spcPct val="150000"/>
              </a:lnSpc>
              <a:defRPr/>
            </a:pP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신입 </a:t>
            </a:r>
            <a:r>
              <a:rPr lang="ko-KR" altLang="en-US" sz="1600" spc="-151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학회원</a:t>
            </a: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투자제안서 작성</a:t>
            </a:r>
            <a:endParaRPr lang="en-US" altLang="ko-KR" sz="1600" spc="-151" dirty="0">
              <a:ln>
                <a:solidFill>
                  <a:srgbClr val="000000">
                    <a:alpha val="0"/>
                  </a:srgbClr>
                </a:solidFill>
              </a:ln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51982" algn="ctr" defTabSz="644640" latinLnBrk="0">
              <a:lnSpc>
                <a:spcPct val="150000"/>
              </a:lnSpc>
              <a:defRPr/>
            </a:pP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기업 및</a:t>
            </a:r>
            <a:r>
              <a:rPr lang="en-US" altLang="ko-KR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투자포인트 선정</a:t>
            </a:r>
            <a:r>
              <a:rPr lang="en-US" altLang="ko-KR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</a:p>
          <a:p>
            <a:pPr marL="251982" algn="ctr" defTabSz="644640" latinLnBrk="0">
              <a:lnSpc>
                <a:spcPct val="150000"/>
              </a:lnSpc>
              <a:defRPr/>
            </a:pPr>
            <a:r>
              <a:rPr lang="en-US" altLang="ko-KR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Valuation</a:t>
            </a: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에 대한</a:t>
            </a:r>
            <a:r>
              <a:rPr lang="en-US" altLang="ko-KR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기초 학습</a:t>
            </a:r>
            <a:endParaRPr lang="en-US" altLang="ko-KR" sz="1600" spc="-151" dirty="0">
              <a:ln>
                <a:solidFill>
                  <a:srgbClr val="000000">
                    <a:alpha val="0"/>
                  </a:srgbClr>
                </a:solidFill>
              </a:ln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2CB44D-77FC-E22A-B7FC-5F9EE706EB0E}"/>
              </a:ext>
            </a:extLst>
          </p:cNvPr>
          <p:cNvSpPr txBox="1"/>
          <p:nvPr/>
        </p:nvSpPr>
        <p:spPr>
          <a:xfrm>
            <a:off x="4296087" y="3770328"/>
            <a:ext cx="618619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1982" algn="ctr" defTabSz="644640" latinLnBrk="0">
              <a:lnSpc>
                <a:spcPct val="150000"/>
              </a:lnSpc>
              <a:defRPr/>
            </a:pP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  학기 당 총 </a:t>
            </a:r>
            <a:r>
              <a:rPr lang="en-US" altLang="ko-KR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3</a:t>
            </a: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개의 기업 분석 보고서 작성</a:t>
            </a:r>
            <a:r>
              <a:rPr lang="en-US" altLang="ko-KR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</a:p>
          <a:p>
            <a:pPr marL="251982" algn="ctr" defTabSz="644640" latinLnBrk="0">
              <a:lnSpc>
                <a:spcPct val="150000"/>
              </a:lnSpc>
              <a:defRPr/>
            </a:pP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팀 단위 기업 선정 및  </a:t>
            </a:r>
            <a:r>
              <a:rPr lang="en-US" altLang="ko-KR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Valuation, </a:t>
            </a:r>
            <a:r>
              <a:rPr lang="en-US" altLang="ko-KR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prstClr val="black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kumimoji="0" lang="en-US" altLang="ko-KR" sz="1600" b="0" i="0" u="none" strike="noStrike" kern="1200" cap="none" spc="-151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20p </a:t>
            </a:r>
            <a:r>
              <a:rPr kumimoji="0" lang="ko-KR" altLang="en-US" sz="1600" b="0" i="0" u="none" strike="noStrike" kern="1200" cap="none" spc="-151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분량 보고서 작성</a:t>
            </a:r>
            <a:endParaRPr kumimoji="0" lang="en-US" altLang="ko-KR" sz="1600" b="0" i="0" u="none" strike="noStrike" kern="1200" cap="none" spc="-151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51982" algn="ctr" defTabSz="644640" latinLnBrk="0">
              <a:lnSpc>
                <a:spcPct val="150000"/>
              </a:lnSpc>
              <a:defRPr/>
            </a:pPr>
            <a:r>
              <a:rPr kumimoji="0" lang="ko-KR" altLang="en-US" sz="1600" b="0" i="0" u="none" strike="noStrike" kern="1200" cap="none" spc="-151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현직에 계신 </a:t>
            </a:r>
            <a:r>
              <a:rPr lang="en-US" altLang="ko-KR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prstClr val="black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OB </a:t>
            </a:r>
            <a:r>
              <a:rPr lang="ko-KR" altLang="en-US" sz="1600" spc="-151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prstClr val="black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선배님들을 초청하여 세미나 진행</a:t>
            </a:r>
            <a:endParaRPr lang="en-US" altLang="ko-KR" sz="1600" spc="-151" dirty="0">
              <a:ln>
                <a:solidFill>
                  <a:srgbClr val="000000">
                    <a:alpha val="0"/>
                  </a:srgbClr>
                </a:solidFill>
              </a:ln>
              <a:solidFill>
                <a:prstClr val="black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B97E0-6187-90F0-264B-F9CFD8207206}"/>
              </a:ext>
            </a:extLst>
          </p:cNvPr>
          <p:cNvSpPr txBox="1"/>
          <p:nvPr/>
        </p:nvSpPr>
        <p:spPr>
          <a:xfrm>
            <a:off x="186391" y="855971"/>
            <a:ext cx="7146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KoPubWorld돋움체 Bold" panose="00000800000000000000" pitchFamily="2" charset="-127"/>
              </a:rPr>
              <a:t>What we do, Research Team</a:t>
            </a:r>
            <a:endParaRPr lang="ko-KR" altLang="en-US" sz="4000" b="1" dirty="0">
              <a:solidFill>
                <a:srgbClr val="002060"/>
              </a:solidFill>
              <a:effectLst>
                <a:glow rad="38100">
                  <a:schemeClr val="tx2">
                    <a:lumMod val="50000"/>
                    <a:lumOff val="50000"/>
                    <a:alpha val="21000"/>
                  </a:schemeClr>
                </a:glo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5C3B14-6453-0A17-4A15-345D3E32AC00}"/>
              </a:ext>
            </a:extLst>
          </p:cNvPr>
          <p:cNvSpPr txBox="1"/>
          <p:nvPr/>
        </p:nvSpPr>
        <p:spPr>
          <a:xfrm>
            <a:off x="186393" y="1537539"/>
            <a:ext cx="8087260" cy="37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R.F.S Research Team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은 투자제안서와 기업 분석 보고서를 작성하며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리서치 능력을 강화하고 있습니다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0278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0F1C3-6CB7-C489-0F2F-AC102B1F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B7520CA-FBA8-FED0-1564-41A6ACB240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2D0E1F-13A8-1089-99E9-220B16A73CA7}"/>
              </a:ext>
            </a:extLst>
          </p:cNvPr>
          <p:cNvSpPr txBox="1"/>
          <p:nvPr/>
        </p:nvSpPr>
        <p:spPr>
          <a:xfrm>
            <a:off x="77936" y="237602"/>
            <a:ext cx="1979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3. Research Team </a:t>
            </a:r>
            <a:r>
              <a:rPr lang="ko-KR" altLang="en-US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활동</a:t>
            </a:r>
            <a:endParaRPr lang="en-US" altLang="ko-KR" sz="1200" b="1" dirty="0">
              <a:solidFill>
                <a:srgbClr val="1B2853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974666F-BB6E-E96B-5B90-4B120E77E0A6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57399" y="376102"/>
            <a:ext cx="8487014" cy="0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1BBA71-2ED5-472C-CF86-FB6E27015406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AA673B-4BA8-7A80-CCA0-75B5025D8BC6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B2FD115-559F-6382-261C-657B2792A942}"/>
              </a:ext>
            </a:extLst>
          </p:cNvPr>
          <p:cNvSpPr/>
          <p:nvPr/>
        </p:nvSpPr>
        <p:spPr>
          <a:xfrm>
            <a:off x="2085397" y="2524070"/>
            <a:ext cx="1353805" cy="332691"/>
          </a:xfrm>
          <a:prstGeom prst="roundRect">
            <a:avLst>
              <a:gd name="adj" fmla="val 50000"/>
            </a:avLst>
          </a:prstGeom>
          <a:solidFill>
            <a:srgbClr val="1B285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투자제안서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E62E111-B7E3-B438-5BDC-48AEE38DE960}"/>
              </a:ext>
            </a:extLst>
          </p:cNvPr>
          <p:cNvSpPr/>
          <p:nvPr/>
        </p:nvSpPr>
        <p:spPr>
          <a:xfrm>
            <a:off x="7313797" y="2524070"/>
            <a:ext cx="3438515" cy="338900"/>
          </a:xfrm>
          <a:prstGeom prst="roundRect">
            <a:avLst>
              <a:gd name="adj" fmla="val 50000"/>
            </a:avLst>
          </a:prstGeom>
          <a:solidFill>
            <a:srgbClr val="1B285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기업 분석 보고서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23ECB7-5243-9974-E9D3-BCD8FC615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04" y="3173384"/>
            <a:ext cx="4292392" cy="2928454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A0C0D4F-849D-C8C1-49AC-0973DAE6B478}"/>
              </a:ext>
            </a:extLst>
          </p:cNvPr>
          <p:cNvCxnSpPr>
            <a:cxnSpLocks/>
          </p:cNvCxnSpPr>
          <p:nvPr/>
        </p:nvCxnSpPr>
        <p:spPr>
          <a:xfrm>
            <a:off x="5822167" y="3429000"/>
            <a:ext cx="0" cy="2370509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732EADDE-0865-1AEC-EFD3-97B88F135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999" y="3173384"/>
            <a:ext cx="2520000" cy="292845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F9736FE-A9D8-36F2-7DEC-F2D1864A6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6409" y="3173384"/>
            <a:ext cx="2520000" cy="29284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42E85B-0A41-201D-2647-4D3E782AD2F5}"/>
              </a:ext>
            </a:extLst>
          </p:cNvPr>
          <p:cNvSpPr txBox="1"/>
          <p:nvPr/>
        </p:nvSpPr>
        <p:spPr>
          <a:xfrm>
            <a:off x="186391" y="855971"/>
            <a:ext cx="7146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KoPubWorld돋움체 Bold" panose="00000800000000000000" pitchFamily="2" charset="-127"/>
              </a:rPr>
              <a:t>What we do, Research Team</a:t>
            </a:r>
            <a:endParaRPr lang="ko-KR" altLang="en-US" sz="4000" b="1" dirty="0">
              <a:solidFill>
                <a:srgbClr val="002060"/>
              </a:solidFill>
              <a:effectLst>
                <a:glow rad="38100">
                  <a:schemeClr val="tx2">
                    <a:lumMod val="50000"/>
                    <a:lumOff val="50000"/>
                    <a:alpha val="21000"/>
                  </a:schemeClr>
                </a:glo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115678-C160-7BA9-3F16-6A6B4C4DFE40}"/>
              </a:ext>
            </a:extLst>
          </p:cNvPr>
          <p:cNvSpPr txBox="1"/>
          <p:nvPr/>
        </p:nvSpPr>
        <p:spPr>
          <a:xfrm>
            <a:off x="186393" y="1537539"/>
            <a:ext cx="8087260" cy="37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R.F.S Research Team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은 투자제안서와 기업 분석 보고서를 작성하며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리서치 능력을 강화하고 있습니다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657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C1D0-310A-B15E-D9BF-881EC6922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C014624-A8D1-A913-A530-53599C516B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4D93FE-9C86-7C8A-F553-E35F878EDA45}"/>
              </a:ext>
            </a:extLst>
          </p:cNvPr>
          <p:cNvSpPr txBox="1"/>
          <p:nvPr/>
        </p:nvSpPr>
        <p:spPr>
          <a:xfrm>
            <a:off x="77936" y="237602"/>
            <a:ext cx="2521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4. Asset Management Team </a:t>
            </a:r>
            <a:r>
              <a:rPr lang="ko-KR" altLang="en-US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활동</a:t>
            </a:r>
            <a:endParaRPr lang="en-US" altLang="ko-KR" sz="1200" b="1" dirty="0">
              <a:solidFill>
                <a:srgbClr val="1B2853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5119CE6-BCA4-E39F-D80D-675A60328163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599765" y="376102"/>
            <a:ext cx="7944648" cy="0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AFCCE1-AA03-6360-05E4-09E16B229CEE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896898-E843-C01A-E438-2D907F52BEF7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F80DA1A-37F6-FE32-875A-160126287541}"/>
              </a:ext>
            </a:extLst>
          </p:cNvPr>
          <p:cNvSpPr/>
          <p:nvPr/>
        </p:nvSpPr>
        <p:spPr>
          <a:xfrm>
            <a:off x="2085397" y="2524070"/>
            <a:ext cx="1353805" cy="332691"/>
          </a:xfrm>
          <a:prstGeom prst="roundRect">
            <a:avLst>
              <a:gd name="adj" fmla="val 50000"/>
            </a:avLst>
          </a:prstGeom>
          <a:solidFill>
            <a:srgbClr val="1B285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투자원칙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1B0EFFB-13E2-8116-F0DC-CD349D8450F2}"/>
              </a:ext>
            </a:extLst>
          </p:cNvPr>
          <p:cNvSpPr/>
          <p:nvPr/>
        </p:nvSpPr>
        <p:spPr>
          <a:xfrm>
            <a:off x="7313797" y="2524070"/>
            <a:ext cx="3438515" cy="338900"/>
          </a:xfrm>
          <a:prstGeom prst="roundRect">
            <a:avLst>
              <a:gd name="adj" fmla="val 50000"/>
            </a:avLst>
          </a:prstGeom>
          <a:solidFill>
            <a:srgbClr val="1B285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기업 분석 보고서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26CCE60-B6C5-5292-721E-49B23093AD37}"/>
              </a:ext>
            </a:extLst>
          </p:cNvPr>
          <p:cNvCxnSpPr>
            <a:cxnSpLocks/>
          </p:cNvCxnSpPr>
          <p:nvPr/>
        </p:nvCxnSpPr>
        <p:spPr>
          <a:xfrm>
            <a:off x="5822167" y="3429000"/>
            <a:ext cx="0" cy="2370509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D80D676-A3E9-8877-C055-D7BB06F2ED0A}"/>
              </a:ext>
            </a:extLst>
          </p:cNvPr>
          <p:cNvSpPr txBox="1"/>
          <p:nvPr/>
        </p:nvSpPr>
        <p:spPr>
          <a:xfrm>
            <a:off x="186391" y="855971"/>
            <a:ext cx="9432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KoPubWorld돋움체 Bold" panose="00000800000000000000" pitchFamily="2" charset="-127"/>
              </a:rPr>
              <a:t>What we do, Asset Management Team</a:t>
            </a:r>
            <a:endParaRPr lang="ko-KR" altLang="en-US" sz="4000" b="1" dirty="0">
              <a:solidFill>
                <a:srgbClr val="002060"/>
              </a:solidFill>
              <a:effectLst>
                <a:glow rad="38100">
                  <a:schemeClr val="tx2">
                    <a:lumMod val="50000"/>
                    <a:lumOff val="50000"/>
                    <a:alpha val="21000"/>
                  </a:schemeClr>
                </a:glo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4521CA-2722-98B5-AEC9-FD741A0077AD}"/>
              </a:ext>
            </a:extLst>
          </p:cNvPr>
          <p:cNvSpPr txBox="1"/>
          <p:nvPr/>
        </p:nvSpPr>
        <p:spPr>
          <a:xfrm>
            <a:off x="186392" y="1537539"/>
            <a:ext cx="8599017" cy="67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R.F.S AM Team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은 준법인을 설립하여 </a:t>
            </a:r>
            <a:r>
              <a:rPr lang="ko-KR" altLang="en-US" sz="1500" dirty="0" err="1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학회원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및 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OB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선배님들의 출자금을 기반으로 펀드를 운용합니다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실무적인 투자 경험을 쌓고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시장의 본질에 대한 깊이 있는 이해를 쌓고자 합니다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365ED-0E34-9CA1-BDDF-95659577A7D7}"/>
              </a:ext>
            </a:extLst>
          </p:cNvPr>
          <p:cNvSpPr txBox="1"/>
          <p:nvPr/>
        </p:nvSpPr>
        <p:spPr>
          <a:xfrm>
            <a:off x="788236" y="2988511"/>
            <a:ext cx="3948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(Growth)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 담보된 기업을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좋은 가격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(Price)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포착하여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시장 심리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(Sentiment)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활용한 지속가능한 수익 창출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D3589EC-27B6-A274-8DB8-AF8F460E893D}"/>
              </a:ext>
            </a:extLst>
          </p:cNvPr>
          <p:cNvGrpSpPr/>
          <p:nvPr/>
        </p:nvGrpSpPr>
        <p:grpSpPr>
          <a:xfrm>
            <a:off x="788236" y="3471164"/>
            <a:ext cx="3948125" cy="3040488"/>
            <a:chOff x="2427272" y="1845640"/>
            <a:chExt cx="7329261" cy="4636368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8D899FF-5031-A259-3950-9C8D50CDA157}"/>
                </a:ext>
              </a:extLst>
            </p:cNvPr>
            <p:cNvGrpSpPr/>
            <p:nvPr/>
          </p:nvGrpSpPr>
          <p:grpSpPr>
            <a:xfrm>
              <a:off x="2427272" y="1845640"/>
              <a:ext cx="7329261" cy="4636368"/>
              <a:chOff x="1055254" y="1435940"/>
              <a:chExt cx="7892689" cy="5145833"/>
            </a:xfrm>
          </p:grpSpPr>
          <p:graphicFrame>
            <p:nvGraphicFramePr>
              <p:cNvPr id="22" name="다이어그램 21">
                <a:extLst>
                  <a:ext uri="{FF2B5EF4-FFF2-40B4-BE49-F238E27FC236}">
                    <a16:creationId xmlns:a16="http://schemas.microsoft.com/office/drawing/2014/main" id="{40C8A7D4-4759-DF63-4C39-BC7F7FCD8508}"/>
                  </a:ext>
                </a:extLst>
              </p:cNvPr>
              <p:cNvGraphicFramePr/>
              <p:nvPr/>
            </p:nvGraphicFramePr>
            <p:xfrm>
              <a:off x="1055254" y="1435940"/>
              <a:ext cx="7795491" cy="514583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148A09-B84C-CC9C-F25A-31F5A6BDD600}"/>
                  </a:ext>
                </a:extLst>
              </p:cNvPr>
              <p:cNvSpPr txBox="1"/>
              <p:nvPr/>
            </p:nvSpPr>
            <p:spPr>
              <a:xfrm>
                <a:off x="3051609" y="2288271"/>
                <a:ext cx="4027937" cy="1211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Top-down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을 통한 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구조적 성장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, </a:t>
                </a:r>
                <a:r>
                  <a:rPr kumimoji="0" lang="ko-KR" alt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턴어라운드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포착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pPr marL="0" marR="0" lvl="0" indent="0" algn="ctr" defTabSz="4572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Bottom-up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을 통한 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높은 경제적 해자 보유여부 판단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0A9D192-1966-8820-3EC0-189A078F6C3E}"/>
                  </a:ext>
                </a:extLst>
              </p:cNvPr>
              <p:cNvSpPr txBox="1"/>
              <p:nvPr/>
            </p:nvSpPr>
            <p:spPr>
              <a:xfrm>
                <a:off x="1280089" y="4582388"/>
                <a:ext cx="4310411" cy="1211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이익의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Quality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를 통한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Multiple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판단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</a:t>
                </a:r>
              </a:p>
              <a:p>
                <a:pPr marL="0" marR="0" lvl="0" indent="0" algn="ctr" defTabSz="4572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상대적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,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절대적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Valuation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을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통한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Good Price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포착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F1B919-CC27-F5F6-59D8-2A8CF48AFB79}"/>
                  </a:ext>
                </a:extLst>
              </p:cNvPr>
              <p:cNvSpPr txBox="1"/>
              <p:nvPr/>
            </p:nvSpPr>
            <p:spPr>
              <a:xfrm>
                <a:off x="4637534" y="4565758"/>
                <a:ext cx="4310409" cy="1679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Technical Analysis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를 통한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시장 심리 분석 </a:t>
                </a:r>
              </a:p>
              <a:p>
                <a:pPr marL="0" marR="0" lvl="0" indent="0" algn="ctr" defTabSz="4572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RS, EMA, Investor flow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등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다양한 측면 종합적 고려하여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pPr marL="0" marR="0" lvl="0" indent="0" algn="ctr" defTabSz="4572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중단기적 매매 시점 포착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88E6A3-3FD7-B60A-A9D6-F81BE902BB6F}"/>
                </a:ext>
              </a:extLst>
            </p:cNvPr>
            <p:cNvSpPr txBox="1"/>
            <p:nvPr/>
          </p:nvSpPr>
          <p:spPr>
            <a:xfrm>
              <a:off x="5459078" y="2096572"/>
              <a:ext cx="1384475" cy="375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Growth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800870-A4E5-42FC-9E5B-C7C3DC47A05A}"/>
                </a:ext>
              </a:extLst>
            </p:cNvPr>
            <p:cNvSpPr txBox="1"/>
            <p:nvPr/>
          </p:nvSpPr>
          <p:spPr>
            <a:xfrm>
              <a:off x="3962156" y="4041918"/>
              <a:ext cx="1350511" cy="375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Price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ED9CDC-49B8-41C1-DA49-C9DAC75A3418}"/>
                </a:ext>
              </a:extLst>
            </p:cNvPr>
            <p:cNvSpPr txBox="1"/>
            <p:nvPr/>
          </p:nvSpPr>
          <p:spPr>
            <a:xfrm>
              <a:off x="6841933" y="4112163"/>
              <a:ext cx="1609340" cy="375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Sentiment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9021CCB-CD17-5D26-843A-474DBB1F5F49}"/>
              </a:ext>
            </a:extLst>
          </p:cNvPr>
          <p:cNvGrpSpPr/>
          <p:nvPr/>
        </p:nvGrpSpPr>
        <p:grpSpPr>
          <a:xfrm>
            <a:off x="6367220" y="3042615"/>
            <a:ext cx="5414682" cy="3270425"/>
            <a:chOff x="6096000" y="1468177"/>
            <a:chExt cx="5442561" cy="4816119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9C2006B3-9CB5-27C2-D21A-D511E7304D2E}"/>
                </a:ext>
              </a:extLst>
            </p:cNvPr>
            <p:cNvGrpSpPr/>
            <p:nvPr/>
          </p:nvGrpSpPr>
          <p:grpSpPr>
            <a:xfrm>
              <a:off x="6096000" y="1468177"/>
              <a:ext cx="5442561" cy="1115294"/>
              <a:chOff x="1346204" y="1653010"/>
              <a:chExt cx="6860247" cy="692036"/>
            </a:xfrm>
          </p:grpSpPr>
          <p:sp>
            <p:nvSpPr>
              <p:cNvPr id="37" name="사각형: 둥근 위쪽 모서리 36">
                <a:extLst>
                  <a:ext uri="{FF2B5EF4-FFF2-40B4-BE49-F238E27FC236}">
                    <a16:creationId xmlns:a16="http://schemas.microsoft.com/office/drawing/2014/main" id="{602E2382-69E5-58AE-A3F5-20133854B394}"/>
                  </a:ext>
                </a:extLst>
              </p:cNvPr>
              <p:cNvSpPr/>
              <p:nvPr/>
            </p:nvSpPr>
            <p:spPr>
              <a:xfrm>
                <a:off x="1346204" y="1653010"/>
                <a:ext cx="6860247" cy="254137"/>
              </a:xfrm>
              <a:prstGeom prst="round2SameRect">
                <a:avLst/>
              </a:prstGeom>
              <a:solidFill>
                <a:srgbClr val="20386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1. 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국내 및 미국 상장 기업에 투자</a:t>
                </a: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99401317-E82F-E078-3F97-527A50DAED1D}"/>
                  </a:ext>
                </a:extLst>
              </p:cNvPr>
              <p:cNvSpPr/>
              <p:nvPr/>
            </p:nvSpPr>
            <p:spPr>
              <a:xfrm>
                <a:off x="1346204" y="1889356"/>
                <a:ext cx="6852031" cy="4556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20386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marR="0" lvl="0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미국 상장 주식에 최대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90%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투자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,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국내 상장 주식에 최대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90%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투자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  <a:sym typeface="Wingdings" panose="05000000000000000000" pitchFamily="2" charset="2"/>
                </a:endParaRPr>
              </a:p>
              <a:p>
                <a:pPr marL="171450" marR="0" lvl="0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운용기간 내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Weekly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시황 발간을 통해 대내외적 요소 지속 추적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D5D9F190-BECB-138F-0E4A-64EC2C2F4C81}"/>
                </a:ext>
              </a:extLst>
            </p:cNvPr>
            <p:cNvGrpSpPr/>
            <p:nvPr/>
          </p:nvGrpSpPr>
          <p:grpSpPr>
            <a:xfrm>
              <a:off x="6096000" y="2689588"/>
              <a:ext cx="5442561" cy="1143795"/>
              <a:chOff x="1346204" y="1653009"/>
              <a:chExt cx="6860247" cy="70972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F2CD535C-7B2E-E2DF-7EE9-77465EAD960B}"/>
                  </a:ext>
                </a:extLst>
              </p:cNvPr>
              <p:cNvSpPr/>
              <p:nvPr/>
            </p:nvSpPr>
            <p:spPr>
              <a:xfrm>
                <a:off x="1346204" y="1653009"/>
                <a:ext cx="6860247" cy="254650"/>
              </a:xfrm>
              <a:prstGeom prst="round2Same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2. 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투자 유망 업종 내 경쟁우위 기업에 선별적 투자</a:t>
                </a:r>
                <a:endPara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E11BA137-9438-D3F5-5A65-0A8A0F450DC3}"/>
                  </a:ext>
                </a:extLst>
              </p:cNvPr>
              <p:cNvSpPr/>
              <p:nvPr/>
            </p:nvSpPr>
            <p:spPr>
              <a:xfrm>
                <a:off x="1346204" y="1907661"/>
                <a:ext cx="6852031" cy="45506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marL="171450" marR="0" lvl="0" indent="-1714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탑다운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리서치 기반으로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6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개 섹터 선별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및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 </a:t>
                </a:r>
                <a:r>
                  <a:rPr kumimoji="0" lang="ko-KR" alt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바텀업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 리서치를 기반으로 최대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10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개의 종목에 집중 투자</a:t>
                </a:r>
              </a:p>
              <a:p>
                <a:pPr marL="171450" marR="0" lvl="0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펀더멘털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,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밸류에이션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,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모멘텀을 고려하여 </a:t>
                </a:r>
                <a:r>
                  <a:rPr kumimoji="0" lang="ko-KR" alt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워치리스트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 선정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2BEAEEB-2FBD-8657-412A-8B2C85C3865C}"/>
                </a:ext>
              </a:extLst>
            </p:cNvPr>
            <p:cNvGrpSpPr/>
            <p:nvPr/>
          </p:nvGrpSpPr>
          <p:grpSpPr>
            <a:xfrm>
              <a:off x="6096000" y="3913288"/>
              <a:ext cx="5442561" cy="1143793"/>
              <a:chOff x="1125878" y="4694399"/>
              <a:chExt cx="7635955" cy="10836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583B98B3-D6DB-9D14-BC20-23066B65B88F}"/>
                  </a:ext>
                </a:extLst>
              </p:cNvPr>
              <p:cNvSpPr/>
              <p:nvPr/>
            </p:nvSpPr>
            <p:spPr>
              <a:xfrm>
                <a:off x="1125879" y="5083199"/>
                <a:ext cx="7626810" cy="6948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FAAD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marR="0" lvl="0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강세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/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횡보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/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하락 장세 판단에 따라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Long-only / Exposure Control / Bottom-fishing 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전략 구사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  <a:sym typeface="Wingdings" panose="05000000000000000000" pitchFamily="2" charset="2"/>
                </a:endParaRPr>
              </a:p>
              <a:p>
                <a:pPr marL="171450" marR="0" lvl="0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장세별 전략을 체계적으로 구사함으로써 리스크를 최소화하고 기회를 극대화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  <a:sym typeface="Wingdings" panose="05000000000000000000" pitchFamily="2" charset="2"/>
                </a:endParaRPr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18B87030-258F-ADCA-00A2-C0EE05DF6697}"/>
                  </a:ext>
                </a:extLst>
              </p:cNvPr>
              <p:cNvSpPr/>
              <p:nvPr/>
            </p:nvSpPr>
            <p:spPr>
              <a:xfrm>
                <a:off x="1125878" y="4694399"/>
                <a:ext cx="7635955" cy="388800"/>
              </a:xfrm>
              <a:prstGeom prst="round2SameRect">
                <a:avLst/>
              </a:prstGeom>
              <a:solidFill>
                <a:srgbClr val="8FAAD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3. 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장세 판단에 따른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Investment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Strategy 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조정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 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FBB4146-524E-944E-44AC-134E1C0A65D5}"/>
                </a:ext>
              </a:extLst>
            </p:cNvPr>
            <p:cNvGrpSpPr/>
            <p:nvPr/>
          </p:nvGrpSpPr>
          <p:grpSpPr>
            <a:xfrm>
              <a:off x="6096000" y="5140503"/>
              <a:ext cx="5442561" cy="1143793"/>
              <a:chOff x="1125878" y="4694399"/>
              <a:chExt cx="7635955" cy="1083600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3BE873FD-212D-42E8-33D4-A690FEA2E9B3}"/>
                  </a:ext>
                </a:extLst>
              </p:cNvPr>
              <p:cNvSpPr/>
              <p:nvPr/>
            </p:nvSpPr>
            <p:spPr>
              <a:xfrm>
                <a:off x="1125879" y="5083199"/>
                <a:ext cx="7626810" cy="6948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B4C7E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  <a:sym typeface="Wingdings" panose="05000000000000000000" pitchFamily="2" charset="2"/>
                </a:endParaRPr>
              </a:p>
              <a:p>
                <a:pPr marL="171450" marR="0" lvl="0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모든 운용역이 각기 다른 섹터를 전담하여 심층 분석과 전문성을 발휘</a:t>
                </a:r>
              </a:p>
              <a:p>
                <a:pPr marL="171450" marR="0" lvl="0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전문적인 </a:t>
                </a:r>
                <a:r>
                  <a:rPr kumimoji="0" lang="ko-KR" alt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커버리지를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  <a:sym typeface="Wingdings" panose="05000000000000000000" pitchFamily="2" charset="2"/>
                  </a:rPr>
                  <a:t> 통해 시장 변화와 트렌드를 선제적으로 파악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</p:txBody>
          </p:sp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AA618FAC-33A5-9D77-4983-68255BBF26D6}"/>
                  </a:ext>
                </a:extLst>
              </p:cNvPr>
              <p:cNvSpPr/>
              <p:nvPr/>
            </p:nvSpPr>
            <p:spPr>
              <a:xfrm>
                <a:off x="1125878" y="4694399"/>
                <a:ext cx="7635955" cy="388800"/>
              </a:xfrm>
              <a:prstGeom prst="round2SameRect">
                <a:avLst/>
              </a:prstGeom>
              <a:solidFill>
                <a:srgbClr val="B4C7E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4. 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섹터별 담당 </a:t>
                </a:r>
                <a:r>
                  <a:rPr kumimoji="0" lang="ko-KR" alt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운용역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 배정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9900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4DBAF-C31E-E4A4-30F3-D445511C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42168F8-A047-17F8-138B-ED7D5606F2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147A3C-66B1-BACC-A703-0EE4AFBCEE24}"/>
              </a:ext>
            </a:extLst>
          </p:cNvPr>
          <p:cNvSpPr txBox="1"/>
          <p:nvPr/>
        </p:nvSpPr>
        <p:spPr>
          <a:xfrm>
            <a:off x="77936" y="237602"/>
            <a:ext cx="2521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4. Asset Management Team </a:t>
            </a:r>
            <a:r>
              <a:rPr lang="ko-KR" altLang="en-US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활동</a:t>
            </a:r>
            <a:endParaRPr lang="en-US" altLang="ko-KR" sz="1200" b="1" dirty="0">
              <a:solidFill>
                <a:srgbClr val="1B2853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670E564-AAA4-9513-5F5D-E6BB0A8C933D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599765" y="376102"/>
            <a:ext cx="7944648" cy="0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46F703-E08D-913F-0895-DC6C5D5926CA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2F1F87-B68A-DE0E-A114-139C512A511E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BD327-1D80-99C4-E8F4-FAA2926E2278}"/>
              </a:ext>
            </a:extLst>
          </p:cNvPr>
          <p:cNvSpPr txBox="1"/>
          <p:nvPr/>
        </p:nvSpPr>
        <p:spPr>
          <a:xfrm>
            <a:off x="186391" y="855971"/>
            <a:ext cx="9432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KoPubWorld돋움체 Bold" panose="00000800000000000000" pitchFamily="2" charset="-127"/>
              </a:rPr>
              <a:t>What we do, Asset Management Team</a:t>
            </a:r>
            <a:endParaRPr lang="ko-KR" altLang="en-US" sz="4000" b="1" dirty="0">
              <a:solidFill>
                <a:srgbClr val="002060"/>
              </a:solidFill>
              <a:effectLst>
                <a:glow rad="38100">
                  <a:schemeClr val="tx2">
                    <a:lumMod val="50000"/>
                    <a:lumOff val="50000"/>
                    <a:alpha val="21000"/>
                  </a:schemeClr>
                </a:glo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D0EEAD-39F5-D63E-F084-A334436660A7}"/>
              </a:ext>
            </a:extLst>
          </p:cNvPr>
          <p:cNvSpPr txBox="1"/>
          <p:nvPr/>
        </p:nvSpPr>
        <p:spPr>
          <a:xfrm>
            <a:off x="186392" y="1537539"/>
            <a:ext cx="9000000" cy="975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R.F.S AM Team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은 지속적인 초과 성장이 예상되는 산업 내 선도 기업에 투자합니다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Top-down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리서치를 통해 한국 및 미국 내 유망 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6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 섹터에 집중 투자하고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Bottom-up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리서치를 통해 지속가능한 경쟁우위를 보유한 기업에 투자하고 있습니다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</a:p>
        </p:txBody>
      </p:sp>
      <p:graphicFrame>
        <p:nvGraphicFramePr>
          <p:cNvPr id="67" name="다이어그램 66">
            <a:extLst>
              <a:ext uri="{FF2B5EF4-FFF2-40B4-BE49-F238E27FC236}">
                <a16:creationId xmlns:a16="http://schemas.microsoft.com/office/drawing/2014/main" id="{F38C987E-797A-00FD-051E-5DC8C52648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9289390"/>
              </p:ext>
            </p:extLst>
          </p:nvPr>
        </p:nvGraphicFramePr>
        <p:xfrm>
          <a:off x="7143938" y="3062201"/>
          <a:ext cx="3478539" cy="3020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8" name="다이어그램 67">
            <a:extLst>
              <a:ext uri="{FF2B5EF4-FFF2-40B4-BE49-F238E27FC236}">
                <a16:creationId xmlns:a16="http://schemas.microsoft.com/office/drawing/2014/main" id="{A1AF9914-30A7-A15C-05B8-F6792FFF1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0298326"/>
              </p:ext>
            </p:extLst>
          </p:nvPr>
        </p:nvGraphicFramePr>
        <p:xfrm>
          <a:off x="1537474" y="4573501"/>
          <a:ext cx="4507505" cy="1525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9" name="직사각형 68">
            <a:extLst>
              <a:ext uri="{FF2B5EF4-FFF2-40B4-BE49-F238E27FC236}">
                <a16:creationId xmlns:a16="http://schemas.microsoft.com/office/drawing/2014/main" id="{E46139F5-F745-90D5-E169-0F13D5E73A6A}"/>
              </a:ext>
            </a:extLst>
          </p:cNvPr>
          <p:cNvSpPr/>
          <p:nvPr/>
        </p:nvSpPr>
        <p:spPr>
          <a:xfrm>
            <a:off x="1544413" y="2594210"/>
            <a:ext cx="9000000" cy="34925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포트폴리오 구성 과정 및 종목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스크리닝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프로세스</a:t>
            </a:r>
          </a:p>
        </p:txBody>
      </p:sp>
      <p:graphicFrame>
        <p:nvGraphicFramePr>
          <p:cNvPr id="70" name="다이어그램 69">
            <a:extLst>
              <a:ext uri="{FF2B5EF4-FFF2-40B4-BE49-F238E27FC236}">
                <a16:creationId xmlns:a16="http://schemas.microsoft.com/office/drawing/2014/main" id="{E6FEB7BF-3704-9808-2C0D-8011E9A396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3768277"/>
              </p:ext>
            </p:extLst>
          </p:nvPr>
        </p:nvGraphicFramePr>
        <p:xfrm>
          <a:off x="1544415" y="3062201"/>
          <a:ext cx="4500563" cy="151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0CF60A23-10CB-A54B-2002-A1C474B2BC06}"/>
              </a:ext>
            </a:extLst>
          </p:cNvPr>
          <p:cNvSpPr txBox="1"/>
          <p:nvPr/>
        </p:nvSpPr>
        <p:spPr>
          <a:xfrm>
            <a:off x="1544416" y="4218972"/>
            <a:ext cx="23567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포트폴리오 관리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일간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월간 모니터링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투자 유효성 검사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리스크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033EAF-D650-0423-24D5-2322E650D1FB}"/>
              </a:ext>
            </a:extLst>
          </p:cNvPr>
          <p:cNvSpPr txBox="1"/>
          <p:nvPr/>
        </p:nvSpPr>
        <p:spPr>
          <a:xfrm>
            <a:off x="5222275" y="3597332"/>
            <a:ext cx="170607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Top-down Research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투자 유망 섹터 산정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A27DE4-6587-F6D4-F908-F21908A0F42E}"/>
              </a:ext>
            </a:extLst>
          </p:cNvPr>
          <p:cNvSpPr txBox="1"/>
          <p:nvPr/>
        </p:nvSpPr>
        <p:spPr>
          <a:xfrm>
            <a:off x="5222275" y="4043608"/>
            <a:ext cx="170607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Negative Screening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재무안정성 및 유동성 고려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BB79E3-57FB-53C4-D5F9-045E2B227161}"/>
              </a:ext>
            </a:extLst>
          </p:cNvPr>
          <p:cNvSpPr txBox="1"/>
          <p:nvPr/>
        </p:nvSpPr>
        <p:spPr>
          <a:xfrm>
            <a:off x="5222275" y="4541002"/>
            <a:ext cx="208314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Bottom-up Research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펀더멘털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밸류에이션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모멘텀 고려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8668C3-815A-F678-889A-EB6AB08E62FB}"/>
              </a:ext>
            </a:extLst>
          </p:cNvPr>
          <p:cNvSpPr txBox="1"/>
          <p:nvPr/>
        </p:nvSpPr>
        <p:spPr>
          <a:xfrm>
            <a:off x="5222276" y="5019297"/>
            <a:ext cx="159177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포트폴리오 구성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 종목에 투자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섹터 당 최소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 종목</a:t>
            </a: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6EA2DD49-66E3-5B9E-C0D0-CD1168FC1A55}"/>
              </a:ext>
            </a:extLst>
          </p:cNvPr>
          <p:cNvCxnSpPr>
            <a:cxnSpLocks/>
            <a:endCxn id="72" idx="3"/>
          </p:cNvCxnSpPr>
          <p:nvPr/>
        </p:nvCxnSpPr>
        <p:spPr>
          <a:xfrm rot="10800000" flipV="1">
            <a:off x="6928347" y="3735832"/>
            <a:ext cx="1589956" cy="84638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79A6F2C7-7B73-EA17-48D9-B0786F74AE44}"/>
              </a:ext>
            </a:extLst>
          </p:cNvPr>
          <p:cNvCxnSpPr>
            <a:cxnSpLocks/>
            <a:endCxn id="73" idx="3"/>
          </p:cNvCxnSpPr>
          <p:nvPr/>
        </p:nvCxnSpPr>
        <p:spPr>
          <a:xfrm rot="10800000" flipV="1">
            <a:off x="6928349" y="4204257"/>
            <a:ext cx="1337429" cy="62489"/>
          </a:xfrm>
          <a:prstGeom prst="bentConnector3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55884C16-B9AD-4720-88BB-75DBA1DAC1EE}"/>
              </a:ext>
            </a:extLst>
          </p:cNvPr>
          <p:cNvCxnSpPr>
            <a:cxnSpLocks/>
            <a:endCxn id="74" idx="3"/>
          </p:cNvCxnSpPr>
          <p:nvPr/>
        </p:nvCxnSpPr>
        <p:spPr>
          <a:xfrm rot="10800000">
            <a:off x="7305419" y="4764142"/>
            <a:ext cx="1212884" cy="3901"/>
          </a:xfrm>
          <a:prstGeom prst="bentConnector3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9A082269-BA11-7AAD-EFFF-7BD7108CE6FD}"/>
              </a:ext>
            </a:extLst>
          </p:cNvPr>
          <p:cNvCxnSpPr>
            <a:cxnSpLocks/>
            <a:endCxn id="75" idx="3"/>
          </p:cNvCxnSpPr>
          <p:nvPr/>
        </p:nvCxnSpPr>
        <p:spPr>
          <a:xfrm rot="10800000" flipV="1">
            <a:off x="6814050" y="5214504"/>
            <a:ext cx="1704257" cy="112569"/>
          </a:xfrm>
          <a:prstGeom prst="bentConnector3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A659C2AF-9EED-34D9-7597-CD028BFCDE9A}"/>
              </a:ext>
            </a:extLst>
          </p:cNvPr>
          <p:cNvCxnSpPr>
            <a:cxnSpLocks/>
            <a:endCxn id="81" idx="0"/>
          </p:cNvCxnSpPr>
          <p:nvPr/>
        </p:nvCxnSpPr>
        <p:spPr>
          <a:xfrm rot="10800000" flipV="1">
            <a:off x="1808393" y="3200489"/>
            <a:ext cx="976461" cy="962921"/>
          </a:xfrm>
          <a:prstGeom prst="bentConnector2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F0949D6-2E24-2B4C-3685-D57170C16D3F}"/>
              </a:ext>
            </a:extLst>
          </p:cNvPr>
          <p:cNvSpPr/>
          <p:nvPr/>
        </p:nvSpPr>
        <p:spPr>
          <a:xfrm>
            <a:off x="1544416" y="4163411"/>
            <a:ext cx="527950" cy="912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7D010004-AE38-CE2C-CD41-114049A16DB5}"/>
              </a:ext>
            </a:extLst>
          </p:cNvPr>
          <p:cNvCxnSpPr>
            <a:cxnSpLocks/>
            <a:endCxn id="81" idx="2"/>
          </p:cNvCxnSpPr>
          <p:nvPr/>
        </p:nvCxnSpPr>
        <p:spPr>
          <a:xfrm rot="16200000" flipV="1">
            <a:off x="1757261" y="5127451"/>
            <a:ext cx="861881" cy="759618"/>
          </a:xfrm>
          <a:prstGeom prst="bentConnector3">
            <a:avLst>
              <a:gd name="adj1" fmla="val 1875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55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1A83-BC5C-A805-C81C-F1650D4A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B9A617D-42E6-E0B1-FC42-7595E841D9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26299-C73E-951D-12E6-66502A0D49BB}"/>
              </a:ext>
            </a:extLst>
          </p:cNvPr>
          <p:cNvSpPr txBox="1"/>
          <p:nvPr/>
        </p:nvSpPr>
        <p:spPr>
          <a:xfrm>
            <a:off x="77936" y="237602"/>
            <a:ext cx="2521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4. Asset Management Team </a:t>
            </a:r>
            <a:r>
              <a:rPr lang="ko-KR" altLang="en-US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활동</a:t>
            </a:r>
            <a:endParaRPr lang="en-US" altLang="ko-KR" sz="1200" b="1" dirty="0">
              <a:solidFill>
                <a:srgbClr val="1B2853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332A7AC-A7A8-CB80-76BF-6A42C983139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599765" y="376102"/>
            <a:ext cx="7944648" cy="0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0EB112-FDD8-742F-F2E4-4A36AF4CACB9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C7B2C5-8B07-600C-5A6F-006676561C01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2074-D509-2498-E73B-6FE9080C5F69}"/>
              </a:ext>
            </a:extLst>
          </p:cNvPr>
          <p:cNvSpPr txBox="1"/>
          <p:nvPr/>
        </p:nvSpPr>
        <p:spPr>
          <a:xfrm>
            <a:off x="186391" y="855971"/>
            <a:ext cx="9432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KoPubWorld돋움체 Bold" panose="00000800000000000000" pitchFamily="2" charset="-127"/>
              </a:rPr>
              <a:t>What we do, Asset Management Team</a:t>
            </a:r>
            <a:endParaRPr lang="ko-KR" altLang="en-US" sz="4000" b="1" dirty="0">
              <a:solidFill>
                <a:srgbClr val="002060"/>
              </a:solidFill>
              <a:effectLst>
                <a:glow rad="38100">
                  <a:schemeClr val="tx2">
                    <a:lumMod val="50000"/>
                    <a:lumOff val="50000"/>
                    <a:alpha val="21000"/>
                  </a:schemeClr>
                </a:glo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C9AF0B-1B4A-699A-29A8-99683D0E0610}"/>
              </a:ext>
            </a:extLst>
          </p:cNvPr>
          <p:cNvSpPr txBox="1"/>
          <p:nvPr/>
        </p:nvSpPr>
        <p:spPr>
          <a:xfrm>
            <a:off x="186391" y="1537539"/>
            <a:ext cx="11235588" cy="1275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R.F.S AM Team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포트폴리오 구성 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Framework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는 다음과 같습니다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글로벌 자금 흐름 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산업 성장성 및 사이클 위치 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기업의 시장지위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이익 가시성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밸류에이션을 종합적으로 고려해 가상 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MP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구성할 예정이며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endParaRPr lang="ko-KR" altLang="en-US" sz="1500" dirty="0">
              <a:solidFill>
                <a:srgbClr val="00206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슈퍼사이클을 고려하여 반도체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에너지 등 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sz="1500" dirty="0" err="1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관련주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약 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60%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비중 차지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바이오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우주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방산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소비재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금융 등을 보완적으로 편입하고자 합니다</a:t>
            </a:r>
            <a:r>
              <a:rPr lang="en-US" altLang="ko-KR" sz="15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  <a:endParaRPr lang="ko-KR" altLang="en-US" sz="1500" dirty="0">
              <a:solidFill>
                <a:srgbClr val="00206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lnSpc>
                <a:spcPct val="130000"/>
              </a:lnSpc>
            </a:pPr>
            <a:endParaRPr lang="en-US" altLang="ko-KR" sz="1500" dirty="0">
              <a:solidFill>
                <a:srgbClr val="00206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BAE97-650E-4FA3-42BB-35DE9DE190D8}"/>
              </a:ext>
            </a:extLst>
          </p:cNvPr>
          <p:cNvSpPr txBox="1"/>
          <p:nvPr/>
        </p:nvSpPr>
        <p:spPr>
          <a:xfrm>
            <a:off x="1589517" y="6270162"/>
            <a:ext cx="46858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*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상기 전략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섹터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종목은 전략 설명을 위한 예시일 뿐이며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시장상황 및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운용역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판단에 따라 달라질 수 있습니다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910F15-F806-6290-CB3B-5C1CD0A2F9D5}"/>
              </a:ext>
            </a:extLst>
          </p:cNvPr>
          <p:cNvSpPr/>
          <p:nvPr/>
        </p:nvSpPr>
        <p:spPr>
          <a:xfrm>
            <a:off x="1595437" y="2745110"/>
            <a:ext cx="4320000" cy="34925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MP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섹터별 비중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B79B90-E4C6-8C19-46DC-853DBB4BBA67}"/>
              </a:ext>
            </a:extLst>
          </p:cNvPr>
          <p:cNvSpPr/>
          <p:nvPr/>
        </p:nvSpPr>
        <p:spPr>
          <a:xfrm>
            <a:off x="6275388" y="2745110"/>
            <a:ext cx="4320000" cy="34925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MP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KOSPI/KOSDAQ/NASDAQ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비중</a:t>
            </a: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D67270A7-8684-889E-2330-6948D8B66266}"/>
              </a:ext>
            </a:extLst>
          </p:cNvPr>
          <p:cNvGraphicFramePr>
            <a:graphicFrameLocks/>
          </p:cNvGraphicFramePr>
          <p:nvPr/>
        </p:nvGraphicFramePr>
        <p:xfrm>
          <a:off x="6275388" y="3190527"/>
          <a:ext cx="4320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C360008-8A5A-928D-4870-9C7A505B7CD3}"/>
              </a:ext>
            </a:extLst>
          </p:cNvPr>
          <p:cNvSpPr txBox="1"/>
          <p:nvPr/>
        </p:nvSpPr>
        <p:spPr>
          <a:xfrm>
            <a:off x="8364255" y="4423628"/>
            <a:ext cx="1434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KOSPI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50%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0EBA4E-1D2A-A0E7-4CE9-F3BA37A6E973}"/>
              </a:ext>
            </a:extLst>
          </p:cNvPr>
          <p:cNvSpPr txBox="1"/>
          <p:nvPr/>
        </p:nvSpPr>
        <p:spPr>
          <a:xfrm>
            <a:off x="7101779" y="4566793"/>
            <a:ext cx="1434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KOSDAQ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40%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212FB-34F4-BDFA-50B6-ADCE27D08DAC}"/>
              </a:ext>
            </a:extLst>
          </p:cNvPr>
          <p:cNvSpPr txBox="1"/>
          <p:nvPr/>
        </p:nvSpPr>
        <p:spPr>
          <a:xfrm>
            <a:off x="7413772" y="3523137"/>
            <a:ext cx="1434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NASDAQ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10%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5A9BA08B-9660-9769-B115-3C49A00E85B4}"/>
              </a:ext>
            </a:extLst>
          </p:cNvPr>
          <p:cNvGraphicFramePr>
            <a:graphicFrameLocks/>
          </p:cNvGraphicFramePr>
          <p:nvPr/>
        </p:nvGraphicFramePr>
        <p:xfrm>
          <a:off x="1596613" y="3206731"/>
          <a:ext cx="4318825" cy="2726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E5A4015-32C4-757C-1A99-2DDA5E8DF271}"/>
              </a:ext>
            </a:extLst>
          </p:cNvPr>
          <p:cNvSpPr txBox="1"/>
          <p:nvPr/>
        </p:nvSpPr>
        <p:spPr>
          <a:xfrm>
            <a:off x="3677585" y="4103158"/>
            <a:ext cx="14342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삼성전자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SK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하이닉스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현대차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2EA691-050B-9BB6-431C-D09F37DF9A43}"/>
              </a:ext>
            </a:extLst>
          </p:cNvPr>
          <p:cNvSpPr txBox="1"/>
          <p:nvPr/>
        </p:nvSpPr>
        <p:spPr>
          <a:xfrm>
            <a:off x="3274282" y="5070525"/>
            <a:ext cx="14342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효성중공업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한전기술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두산에너빌리티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02E4A2-ACA4-A9DE-3738-C432B493840B}"/>
              </a:ext>
            </a:extLst>
          </p:cNvPr>
          <p:cNvSpPr txBox="1"/>
          <p:nvPr/>
        </p:nvSpPr>
        <p:spPr>
          <a:xfrm>
            <a:off x="2429005" y="4975796"/>
            <a:ext cx="14342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에이비엘바이오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디앤디파마텍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펩트론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0388C1-397D-01DD-5B37-9ADDAC93EA23}"/>
              </a:ext>
            </a:extLst>
          </p:cNvPr>
          <p:cNvSpPr txBox="1"/>
          <p:nvPr/>
        </p:nvSpPr>
        <p:spPr>
          <a:xfrm>
            <a:off x="2129359" y="4371070"/>
            <a:ext cx="14342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에이치브이엠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스피어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LIG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넥스원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10C035-F3FF-F11F-9BAA-7BCF8C2784D9}"/>
              </a:ext>
            </a:extLst>
          </p:cNvPr>
          <p:cNvSpPr txBox="1"/>
          <p:nvPr/>
        </p:nvSpPr>
        <p:spPr>
          <a:xfrm>
            <a:off x="1846482" y="3639459"/>
            <a:ext cx="1434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소비재</a:t>
            </a:r>
            <a:endParaRPr kumimoji="0" lang="en-US" altLang="ko-KR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6003FB-264C-EEB1-4EA8-C8859E50329A}"/>
              </a:ext>
            </a:extLst>
          </p:cNvPr>
          <p:cNvSpPr txBox="1"/>
          <p:nvPr/>
        </p:nvSpPr>
        <p:spPr>
          <a:xfrm>
            <a:off x="2752953" y="3518892"/>
            <a:ext cx="1434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미래에셋증권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우리금융지주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4D03D9-B5E0-1F1A-D046-BC4D8A1A90B4}"/>
              </a:ext>
            </a:extLst>
          </p:cNvPr>
          <p:cNvSpPr txBox="1"/>
          <p:nvPr/>
        </p:nvSpPr>
        <p:spPr>
          <a:xfrm>
            <a:off x="1294423" y="4458708"/>
            <a:ext cx="18964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우주</a:t>
            </a:r>
            <a:r>
              <a:rPr kumimoji="0" lang="en-US" altLang="ko-KR" sz="1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kumimoji="0" lang="ko-KR" altLang="en-US" sz="1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247928-4C05-F206-131E-CE24D0F17F5E}"/>
              </a:ext>
            </a:extLst>
          </p:cNvPr>
          <p:cNvSpPr txBox="1"/>
          <p:nvPr/>
        </p:nvSpPr>
        <p:spPr>
          <a:xfrm>
            <a:off x="2069899" y="3870606"/>
            <a:ext cx="186255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코스메카코리아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코스맥스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한국콜마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843BB-D7CF-3FB0-D3C0-623F19792E7B}"/>
              </a:ext>
            </a:extLst>
          </p:cNvPr>
          <p:cNvSpPr txBox="1"/>
          <p:nvPr/>
        </p:nvSpPr>
        <p:spPr>
          <a:xfrm>
            <a:off x="2638753" y="3175367"/>
            <a:ext cx="1434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금융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DF9635-859B-85A1-1840-D035BF3485E6}"/>
              </a:ext>
            </a:extLst>
          </p:cNvPr>
          <p:cNvSpPr txBox="1"/>
          <p:nvPr/>
        </p:nvSpPr>
        <p:spPr>
          <a:xfrm>
            <a:off x="4474944" y="3767033"/>
            <a:ext cx="1434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반도체</a:t>
            </a:r>
            <a:r>
              <a:rPr kumimoji="0" lang="en-US" altLang="ko-KR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kumimoji="0" lang="ko-KR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로봇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517534-8D15-B50F-2E11-881CEFD357B7}"/>
              </a:ext>
            </a:extLst>
          </p:cNvPr>
          <p:cNvSpPr txBox="1"/>
          <p:nvPr/>
        </p:nvSpPr>
        <p:spPr>
          <a:xfrm>
            <a:off x="3658817" y="5781937"/>
            <a:ext cx="1434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에너지</a:t>
            </a:r>
            <a:r>
              <a:rPr kumimoji="0" lang="en-US" altLang="ko-KR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kumimoji="0" lang="ko-KR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유틸리티</a:t>
            </a:r>
            <a:endParaRPr kumimoji="0" lang="en-US" altLang="ko-KR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EBA13E-4762-3B93-8FFF-EE69032EC888}"/>
              </a:ext>
            </a:extLst>
          </p:cNvPr>
          <p:cNvSpPr txBox="1"/>
          <p:nvPr/>
        </p:nvSpPr>
        <p:spPr>
          <a:xfrm>
            <a:off x="1900563" y="5372290"/>
            <a:ext cx="1434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바이오</a:t>
            </a:r>
            <a:endParaRPr kumimoji="0" lang="en-US" altLang="ko-KR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8123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336B7-28FF-FB86-1EA9-2793E61F9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5F34C57-77FE-2987-07B1-53491A788E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E0B71-3974-6108-AB95-0C69F063B807}"/>
              </a:ext>
            </a:extLst>
          </p:cNvPr>
          <p:cNvSpPr txBox="1"/>
          <p:nvPr/>
        </p:nvSpPr>
        <p:spPr>
          <a:xfrm>
            <a:off x="77936" y="237602"/>
            <a:ext cx="2521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4. Asset Management Team </a:t>
            </a:r>
            <a:r>
              <a:rPr lang="ko-KR" altLang="en-US" sz="1200" b="1" dirty="0">
                <a:solidFill>
                  <a:srgbClr val="1B2853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활동</a:t>
            </a:r>
            <a:endParaRPr lang="en-US" altLang="ko-KR" sz="1200" b="1" dirty="0">
              <a:solidFill>
                <a:srgbClr val="1B2853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FD00858-9DB0-D39C-3CB9-C08C901EF46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599765" y="376102"/>
            <a:ext cx="7944648" cy="0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E9F3B2-CC19-B47E-5DF9-D4DFAABF202D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DC2838-DCFF-F5DE-DCC4-DBEB94DEB055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1A1C9-2D2B-A11D-0587-CA494A33DB62}"/>
              </a:ext>
            </a:extLst>
          </p:cNvPr>
          <p:cNvSpPr txBox="1"/>
          <p:nvPr/>
        </p:nvSpPr>
        <p:spPr>
          <a:xfrm>
            <a:off x="186391" y="855971"/>
            <a:ext cx="9432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002060"/>
                </a:solidFill>
                <a:effectLst>
                  <a:glow rad="38100">
                    <a:schemeClr val="tx2">
                      <a:lumMod val="50000"/>
                      <a:lumOff val="50000"/>
                      <a:alpha val="21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KoPubWorld돋움체 Bold" panose="00000800000000000000" pitchFamily="2" charset="-127"/>
              </a:rPr>
              <a:t>What we do, Asset Management Team</a:t>
            </a:r>
            <a:endParaRPr lang="ko-KR" altLang="en-US" sz="4000" b="1" dirty="0">
              <a:solidFill>
                <a:srgbClr val="002060"/>
              </a:solidFill>
              <a:effectLst>
                <a:glow rad="38100">
                  <a:schemeClr val="tx2">
                    <a:lumMod val="50000"/>
                    <a:lumOff val="50000"/>
                    <a:alpha val="21000"/>
                  </a:schemeClr>
                </a:glo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10B98A-501A-747C-9409-34B4A423AAC9}"/>
              </a:ext>
            </a:extLst>
          </p:cNvPr>
          <p:cNvSpPr txBox="1"/>
          <p:nvPr/>
        </p:nvSpPr>
        <p:spPr>
          <a:xfrm>
            <a:off x="1595438" y="1492593"/>
            <a:ext cx="9001125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65AD97-2105-8C74-84E9-41166692BD8C}"/>
              </a:ext>
            </a:extLst>
          </p:cNvPr>
          <p:cNvSpPr txBox="1"/>
          <p:nvPr/>
        </p:nvSpPr>
        <p:spPr>
          <a:xfrm>
            <a:off x="249878" y="1610760"/>
            <a:ext cx="4320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운용 성과 분석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srgbClr val="203864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3793C8-0749-63C7-71FC-24A6F82A435C}"/>
              </a:ext>
            </a:extLst>
          </p:cNvPr>
          <p:cNvSpPr txBox="1"/>
          <p:nvPr/>
        </p:nvSpPr>
        <p:spPr>
          <a:xfrm>
            <a:off x="272348" y="1931793"/>
            <a:ext cx="5377530" cy="765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운용 기간 내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월별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벤치마크 대비 위험조정 성과 분석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  <a:sym typeface="Wingdings" panose="05000000000000000000" pitchFamily="2" charset="2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섹터별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하위산업별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종목별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로 수익률 기여도 분석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  <a:sym typeface="Wingdings" panose="05000000000000000000" pitchFamily="2" charset="2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위험지표 및 위험조정지표를 활용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포트폴리오 내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위험조정 수익률을 산출해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BM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비교평가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표 31">
                <a:extLst>
                  <a:ext uri="{FF2B5EF4-FFF2-40B4-BE49-F238E27FC236}">
                    <a16:creationId xmlns:a16="http://schemas.microsoft.com/office/drawing/2014/main" id="{52151A8F-82D4-B55F-C5FB-2E0D7422DF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1846094"/>
                  </p:ext>
                </p:extLst>
              </p:nvPr>
            </p:nvGraphicFramePr>
            <p:xfrm>
              <a:off x="249878" y="3224131"/>
              <a:ext cx="5400000" cy="307585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241630">
                      <a:extLst>
                        <a:ext uri="{9D8B030D-6E8A-4147-A177-3AD203B41FA5}">
                          <a16:colId xmlns:a16="http://schemas.microsoft.com/office/drawing/2014/main" val="3269739014"/>
                        </a:ext>
                      </a:extLst>
                    </a:gridCol>
                    <a:gridCol w="2485423">
                      <a:extLst>
                        <a:ext uri="{9D8B030D-6E8A-4147-A177-3AD203B41FA5}">
                          <a16:colId xmlns:a16="http://schemas.microsoft.com/office/drawing/2014/main" val="306866341"/>
                        </a:ext>
                      </a:extLst>
                    </a:gridCol>
                    <a:gridCol w="1672947">
                      <a:extLst>
                        <a:ext uri="{9D8B030D-6E8A-4147-A177-3AD203B41FA5}">
                          <a16:colId xmlns:a16="http://schemas.microsoft.com/office/drawing/2014/main" val="966070774"/>
                        </a:ext>
                      </a:extLst>
                    </a:gridCol>
                  </a:tblGrid>
                  <a:tr h="437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000" u="none" strike="noStrike" dirty="0" err="1">
                              <a:solidFill>
                                <a:schemeClr val="bg1"/>
                              </a:solidFill>
                              <a:effectLst/>
                              <a:latin typeface="KoPubWorld돋움체 Bold" panose="00000800000000000000" pitchFamily="2" charset="-127"/>
                              <a:ea typeface="KoPubWorld돋움체 Bold" panose="00000800000000000000" pitchFamily="2" charset="-127"/>
                              <a:cs typeface="KoPubWorld돋움체 Bold" panose="00000800000000000000" pitchFamily="2" charset="-127"/>
                            </a:rPr>
                            <a:t>지표명</a:t>
                          </a:r>
                          <a:endParaRPr lang="ko-KR" altLang="en-US" sz="10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KoPubWorld돋움체 Bold" panose="00000800000000000000" pitchFamily="2" charset="-127"/>
                            <a:ea typeface="KoPubWorld돋움체 Bold" panose="00000800000000000000" pitchFamily="2" charset="-127"/>
                            <a:cs typeface="KoPubWorld돋움체 Bold" panose="00000800000000000000" pitchFamily="2" charset="-127"/>
                          </a:endParaRPr>
                        </a:p>
                      </a:txBody>
                      <a:tcPr marL="9525" marR="9525" marT="9525" marB="0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0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KoPubWorld돋움체 Bold" panose="00000800000000000000" pitchFamily="2" charset="-127"/>
                              <a:ea typeface="KoPubWorld돋움체 Bold" panose="00000800000000000000" pitchFamily="2" charset="-127"/>
                              <a:cs typeface="KoPubWorld돋움체 Bold" panose="00000800000000000000" pitchFamily="2" charset="-127"/>
                            </a:rPr>
                            <a:t>측정지표</a:t>
                          </a:r>
                        </a:p>
                      </a:txBody>
                      <a:tcPr marL="9525" marR="9525" marT="9525" marB="0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0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KoPubWorld돋움체 Bold" panose="00000800000000000000" pitchFamily="2" charset="-127"/>
                              <a:ea typeface="KoPubWorld돋움체 Bold" panose="00000800000000000000" pitchFamily="2" charset="-127"/>
                              <a:cs typeface="KoPubWorld돋움체 Bold" panose="00000800000000000000" pitchFamily="2" charset="-127"/>
                            </a:rPr>
                            <a:t>산식</a:t>
                          </a:r>
                        </a:p>
                      </a:txBody>
                      <a:tcPr marL="9525" marR="9525" marT="9525" marB="0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784374"/>
                      </a:ext>
                    </a:extLst>
                  </a:tr>
                  <a:tr h="5650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표준편차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펀드의 수익률 변동폭 및 위험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tabLst>
                              <a:tab pos="88900" algn="l"/>
                              <a:tab pos="179388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altLang="ko-KR" sz="7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ko-KR" sz="7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700" i="0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𝛴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7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ko-KR" sz="70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ko-KR" sz="700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ko-KR" sz="700" b="0" i="1" dirty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𝑅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ko-KR" sz="700" b="0" i="0" dirty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ko-KR" sz="700" b="0" i="1" dirty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ko-KR" sz="700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altLang="ko-KR" sz="700" i="1" dirty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ko-KR" sz="700" i="0" dirty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𝑅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ko-KR" sz="700" i="0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ko-KR" sz="700" i="0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altLang="ko-KR" sz="700" i="0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ko-KR" sz="700" i="0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7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br>
                            <a:rPr lang="en-US" altLang="ko-KR" sz="8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</a:br>
                          <a:endParaRPr lang="en-US" altLang="ko-KR" sz="800" dirty="0">
                            <a:solidFill>
                              <a:schemeClr val="tx1"/>
                            </a:solidFill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88900" algn="l"/>
                            </a:tabLs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5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5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5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5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: </a:t>
                          </a:r>
                          <a:r>
                            <a:rPr lang="ko-KR" altLang="en-US" sz="5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기간 내 펀드 수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익률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88900" algn="l"/>
                            </a:tabLs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5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sz="5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500" i="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500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: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기간 내 펀드</a:t>
                          </a:r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수익률 평균</a:t>
                          </a:r>
                          <a:endParaRPr lang="en-US" altLang="ko-KR" sz="5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88900" algn="l"/>
                            </a:tabLst>
                          </a:pPr>
                          <a:r>
                            <a:rPr lang="en-US" altLang="ko-KR" sz="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N</a:t>
                          </a:r>
                          <a:r>
                            <a:rPr lang="ko-KR" altLang="en-US" sz="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 </a:t>
                          </a:r>
                          <a:r>
                            <a:rPr lang="en-US" altLang="ko-KR" sz="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: </a:t>
                          </a:r>
                          <a:r>
                            <a:rPr lang="ko-KR" altLang="en-US" sz="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분석에 사용된 수익률 개수</a:t>
                          </a:r>
                          <a:endParaRPr lang="ko-KR" alt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8135791"/>
                      </a:ext>
                    </a:extLst>
                  </a:tr>
                  <a:tr h="5650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트레이너 지수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시장위험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(</a:t>
                          </a:r>
                          <a:r>
                            <a:rPr lang="el-GR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β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)</a:t>
                          </a:r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대비 초과수익률 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tabLst>
                              <a:tab pos="88900" algn="l"/>
                              <a:tab pos="179388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7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7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ko-KR" sz="7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7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7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700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7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ko-KR" sz="7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7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7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sz="7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br>
                            <a:rPr lang="en-US" altLang="ko-KR" sz="16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</a:br>
                          <a:endParaRPr lang="en-US" altLang="ko-KR" sz="1600" dirty="0">
                            <a:solidFill>
                              <a:schemeClr val="tx1"/>
                            </a:solidFill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88900" algn="l"/>
                            </a:tabLs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5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sz="5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5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5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5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: </a:t>
                          </a:r>
                          <a:r>
                            <a:rPr lang="ko-KR" altLang="en-US" sz="5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펀드 수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익률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88900" algn="l"/>
                            </a:tabLs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5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sz="5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5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5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en-US" altLang="ko-KR" sz="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: </a:t>
                          </a:r>
                          <a:r>
                            <a:rPr lang="ko-KR" altLang="en-US" sz="500" dirty="0" err="1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무위험</a:t>
                          </a:r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수익률</a:t>
                          </a:r>
                          <a:endParaRPr lang="en-US" altLang="ko-KR" sz="5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88900" algn="l"/>
                            </a:tabLst>
                          </a:pPr>
                          <a:r>
                            <a:rPr lang="el-GR" altLang="ko-KR" sz="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β</a:t>
                          </a:r>
                          <a:r>
                            <a:rPr lang="en-US" altLang="ko-KR" sz="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: </a:t>
                          </a:r>
                          <a:r>
                            <a:rPr lang="ko-KR" altLang="en-US" sz="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체계적 위험 단위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0252771"/>
                      </a:ext>
                    </a:extLst>
                  </a:tr>
                  <a:tr h="67275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젠센</a:t>
                          </a:r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알파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개별펀드의 고유수익률</a:t>
                          </a:r>
                          <a:b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</a:br>
                          <a:r>
                            <a:rPr lang="ko-KR" altLang="en-US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기대수익률 대비 초과성과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7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7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ko-KR" altLang="en-US" sz="7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ko-KR" altLang="en-US" sz="7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7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ko-KR" altLang="en-US" sz="7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700" b="0" i="0" smtClean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sup>
                              </m:sSubSup>
                              <m:r>
                                <a:rPr lang="en-US" altLang="ko-KR" sz="7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ko-KR" altLang="en-US" sz="7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ko-KR" sz="7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  <m:r>
                                    <a:rPr lang="en-US" altLang="ko-KR" sz="7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ko-KR" sz="7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  <m:r>
                                    <a:rPr lang="en-US" altLang="ko-KR" sz="7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ko-KR" altLang="en-US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ko-KR" altLang="en-US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7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ko-KR" sz="7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ko-KR" altLang="en-US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ko-KR" altLang="en-US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7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ko-KR" sz="7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)</a:t>
                          </a:r>
                          <a:r>
                            <a:rPr lang="ko-KR" altLang="en-US" sz="7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</a:t>
                          </a:r>
                          <a:r>
                            <a:rPr lang="en-US" altLang="ko-KR" sz="7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+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ko-KR" altLang="en-US" sz="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altLang="ko-KR" sz="1000" dirty="0">
                            <a:solidFill>
                              <a:schemeClr val="tx1"/>
                            </a:solidFill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lnSpc>
                              <a:spcPct val="80000"/>
                            </a:lnSpc>
                          </a:pPr>
                          <a:endParaRPr lang="en-US" altLang="ko-KR" sz="1000" dirty="0">
                            <a:solidFill>
                              <a:schemeClr val="tx1"/>
                            </a:solidFill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1440000" algn="l"/>
                            </a:tabLs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ko-KR" altLang="en-US" sz="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5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 : </a:t>
                          </a:r>
                          <a:r>
                            <a:rPr lang="ko-KR" altLang="en-US" sz="5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기간 내 펀드 수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익률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1440000" algn="l"/>
                            </a:tabLst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ko-KR" altLang="en-US" sz="5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5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ko-KR" altLang="en-US" sz="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5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: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기간 내 </a:t>
                          </a:r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BM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수익률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1440000" algn="l"/>
                            </a:tabLst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ko-KR" altLang="en-US" sz="5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5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ko-KR" altLang="en-US" sz="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500" b="0" i="0" smtClean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 :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기간 내 무위험수익률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1440000" algn="l"/>
                            </a:tabLst>
                          </a:pPr>
                          <a:r>
                            <a:rPr lang="en-US" altLang="ko-KR" sz="500" dirty="0" err="1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i</a:t>
                          </a:r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    :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수익률 산출 시점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4088558"/>
                      </a:ext>
                    </a:extLst>
                  </a:tr>
                  <a:tr h="83593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정보 비율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벤치마크</a:t>
                          </a:r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(BM) </a:t>
                          </a:r>
                          <a:r>
                            <a:rPr lang="ko-KR" altLang="en-US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대비 초과수익률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7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ko-KR" sz="7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ko-KR" sz="7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nary>
                                              <m:naryPr>
                                                <m:chr m:val="∑"/>
                                                <m:limLoc m:val="undOvr"/>
                                                <m:grow m:val="on"/>
                                                <m:ctrlPr>
                                                  <a:rPr lang="en-US" altLang="ko-KR" sz="700" i="1" dirty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r>
                                                  <a:rPr lang="en-US" altLang="ko-KR" sz="700" i="1" dirty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altLang="ko-KR" sz="700" i="1" dirty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=1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ko-KR" sz="700" i="1" dirty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sup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ko-KR" sz="700" i="1" dirty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ko-KR" sz="700" i="1" dirty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ko-KR" sz="700" i="1" dirty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𝑅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ko-KR" sz="700" i="1" dirty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altLang="ko-KR" sz="700" i="1" dirty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sSubSup>
                                                      <m:sSubSupPr>
                                                        <m:ctrlPr>
                                                          <a:rPr lang="en-US" altLang="ko-KR" sz="700" i="1" dirty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altLang="ko-KR" sz="700" i="1" dirty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𝑅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ko-KR" sz="700" i="1" dirty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altLang="ko-KR" sz="700" i="1" dirty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𝑀</m:t>
                                                        </m:r>
                                                      </m:sup>
                                                    </m:sSubSup>
                                                  </m:e>
                                                </m:d>
                                              </m:e>
                                            </m:nary>
                                          </m:num>
                                          <m:den>
                                            <m:r>
                                              <a:rPr lang="en-US" altLang="ko-KR" sz="7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ko-KR" sz="7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ko-KR" sz="7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ko-KR" sz="7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altLang="ko-KR" sz="7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d>
                                      <m:dPr>
                                        <m:ctrlPr>
                                          <a:rPr lang="en-US" altLang="ko-KR" sz="7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7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7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7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7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7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7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7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700" b="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altLang="ko-KR" sz="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 fontAlgn="ctr"/>
                          <a:endParaRPr lang="en-US" altLang="ko-KR" sz="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1440000" algn="l"/>
                            </a:tabLs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ko-KR" altLang="en-US" sz="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5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 :</a:t>
                          </a:r>
                          <a:r>
                            <a:rPr lang="ko-KR" altLang="en-US" sz="500" baseline="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기간 내 </a:t>
                          </a:r>
                          <a:r>
                            <a:rPr lang="ko-KR" altLang="en-US" sz="500" dirty="0">
                              <a:solidFill>
                                <a:schemeClr val="tx1"/>
                              </a:solidFill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펀드 수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익률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1440000" algn="l"/>
                            </a:tabLst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ko-KR" altLang="en-US" sz="5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5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ko-KR" altLang="en-US" sz="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5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: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기간 내 </a:t>
                          </a:r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BM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수익률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1440000" algn="l"/>
                            </a:tabLst>
                          </a:pPr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N   : 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분석에 사용된 수익률 개수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  <a:p>
                          <a:pPr algn="l">
                            <a:tabLst>
                              <a:tab pos="1440000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ko-KR" sz="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d>
                                <m:dPr>
                                  <m:ctrlPr>
                                    <a:rPr lang="en-US" altLang="ko-KR" sz="5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5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5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sz="5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5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5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5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sz="5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5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r>
                            <a:rPr lang="en-US" altLang="ko-KR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: BM</a:t>
                          </a:r>
                          <a:r>
                            <a:rPr lang="ko-KR" altLang="en-US" sz="500" dirty="0"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대비 초과수익률의 표준편차</a:t>
                          </a:r>
                          <a:endParaRPr lang="en-US" altLang="ko-KR" sz="500" dirty="0">
                            <a:latin typeface="KoPubWorld돋움체 Medium" panose="00000600000000000000" pitchFamily="2" charset="-127"/>
                            <a:ea typeface="KoPubWorld돋움체 Medium" panose="00000600000000000000" pitchFamily="2" charset="-127"/>
                            <a:cs typeface="KoPubWorld돋움체 Medium" panose="00000600000000000000" pitchFamily="2" charset="-127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65498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표 31">
                <a:extLst>
                  <a:ext uri="{FF2B5EF4-FFF2-40B4-BE49-F238E27FC236}">
                    <a16:creationId xmlns:a16="http://schemas.microsoft.com/office/drawing/2014/main" id="{52151A8F-82D4-B55F-C5FB-2E0D7422DF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1846094"/>
                  </p:ext>
                </p:extLst>
              </p:nvPr>
            </p:nvGraphicFramePr>
            <p:xfrm>
              <a:off x="249878" y="3224131"/>
              <a:ext cx="5400000" cy="307585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241630">
                      <a:extLst>
                        <a:ext uri="{9D8B030D-6E8A-4147-A177-3AD203B41FA5}">
                          <a16:colId xmlns:a16="http://schemas.microsoft.com/office/drawing/2014/main" val="3269739014"/>
                        </a:ext>
                      </a:extLst>
                    </a:gridCol>
                    <a:gridCol w="2485423">
                      <a:extLst>
                        <a:ext uri="{9D8B030D-6E8A-4147-A177-3AD203B41FA5}">
                          <a16:colId xmlns:a16="http://schemas.microsoft.com/office/drawing/2014/main" val="306866341"/>
                        </a:ext>
                      </a:extLst>
                    </a:gridCol>
                    <a:gridCol w="1672947">
                      <a:extLst>
                        <a:ext uri="{9D8B030D-6E8A-4147-A177-3AD203B41FA5}">
                          <a16:colId xmlns:a16="http://schemas.microsoft.com/office/drawing/2014/main" val="966070774"/>
                        </a:ext>
                      </a:extLst>
                    </a:gridCol>
                  </a:tblGrid>
                  <a:tr h="43706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000" u="none" strike="noStrike" dirty="0" err="1">
                              <a:solidFill>
                                <a:schemeClr val="bg1"/>
                              </a:solidFill>
                              <a:effectLst/>
                              <a:latin typeface="KoPubWorld돋움체 Bold" panose="00000800000000000000" pitchFamily="2" charset="-127"/>
                              <a:ea typeface="KoPubWorld돋움체 Bold" panose="00000800000000000000" pitchFamily="2" charset="-127"/>
                              <a:cs typeface="KoPubWorld돋움체 Bold" panose="00000800000000000000" pitchFamily="2" charset="-127"/>
                            </a:rPr>
                            <a:t>지표명</a:t>
                          </a:r>
                          <a:endParaRPr lang="ko-KR" altLang="en-US" sz="1000" b="0" i="0" u="none" strike="noStrike" dirty="0">
                            <a:solidFill>
                              <a:schemeClr val="bg1"/>
                            </a:solidFill>
                            <a:effectLst/>
                            <a:latin typeface="KoPubWorld돋움체 Bold" panose="00000800000000000000" pitchFamily="2" charset="-127"/>
                            <a:ea typeface="KoPubWorld돋움체 Bold" panose="00000800000000000000" pitchFamily="2" charset="-127"/>
                            <a:cs typeface="KoPubWorld돋움체 Bold" panose="00000800000000000000" pitchFamily="2" charset="-127"/>
                          </a:endParaRPr>
                        </a:p>
                      </a:txBody>
                      <a:tcPr marL="9525" marR="9525" marT="9525" marB="0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0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KoPubWorld돋움체 Bold" panose="00000800000000000000" pitchFamily="2" charset="-127"/>
                              <a:ea typeface="KoPubWorld돋움체 Bold" panose="00000800000000000000" pitchFamily="2" charset="-127"/>
                              <a:cs typeface="KoPubWorld돋움체 Bold" panose="00000800000000000000" pitchFamily="2" charset="-127"/>
                            </a:rPr>
                            <a:t>측정지표</a:t>
                          </a:r>
                        </a:p>
                      </a:txBody>
                      <a:tcPr marL="9525" marR="9525" marT="9525" marB="0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0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KoPubWorld돋움체 Bold" panose="00000800000000000000" pitchFamily="2" charset="-127"/>
                              <a:ea typeface="KoPubWorld돋움체 Bold" panose="00000800000000000000" pitchFamily="2" charset="-127"/>
                              <a:cs typeface="KoPubWorld돋움체 Bold" panose="00000800000000000000" pitchFamily="2" charset="-127"/>
                            </a:rPr>
                            <a:t>산식</a:t>
                          </a:r>
                        </a:p>
                      </a:txBody>
                      <a:tcPr marL="9525" marR="9525" marT="9525" marB="0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784374"/>
                      </a:ext>
                    </a:extLst>
                  </a:tr>
                  <a:tr h="5650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표준편차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펀드의 수익률 변동폭 및 위험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909" t="-78495" r="-727" b="-372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8135791"/>
                      </a:ext>
                    </a:extLst>
                  </a:tr>
                  <a:tr h="5650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트레이너 지수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시장위험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(</a:t>
                          </a:r>
                          <a:r>
                            <a:rPr lang="el-GR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β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)</a:t>
                          </a:r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대비 초과수익률 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909" t="-178495" r="-727" b="-272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0252771"/>
                      </a:ext>
                    </a:extLst>
                  </a:tr>
                  <a:tr h="67275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젠센</a:t>
                          </a:r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 알파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개별펀드의 고유수익률</a:t>
                          </a:r>
                          <a:b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</a:br>
                          <a:r>
                            <a:rPr lang="ko-KR" altLang="en-US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기대수익률 대비 초과성과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909" t="-235455" r="-727" b="-1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4088558"/>
                      </a:ext>
                    </a:extLst>
                  </a:tr>
                  <a:tr h="83593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정보 비율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벤치마크</a:t>
                          </a:r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(BM) </a:t>
                          </a:r>
                          <a:r>
                            <a:rPr lang="ko-KR" altLang="en-US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KoPubWorld돋움체 Medium" panose="00000600000000000000" pitchFamily="2" charset="-127"/>
                              <a:ea typeface="KoPubWorld돋움체 Medium" panose="00000600000000000000" pitchFamily="2" charset="-127"/>
                              <a:cs typeface="KoPubWorld돋움체 Medium" panose="00000600000000000000" pitchFamily="2" charset="-127"/>
                            </a:rPr>
                            <a:t>대비 초과수익률</a:t>
                          </a: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F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909" t="-267391" r="-727" b="-36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65498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직사각형 32">
            <a:extLst>
              <a:ext uri="{FF2B5EF4-FFF2-40B4-BE49-F238E27FC236}">
                <a16:creationId xmlns:a16="http://schemas.microsoft.com/office/drawing/2014/main" id="{94328DB9-1F68-EF4A-53A7-3FF6CD206EEE}"/>
              </a:ext>
            </a:extLst>
          </p:cNvPr>
          <p:cNvSpPr/>
          <p:nvPr/>
        </p:nvSpPr>
        <p:spPr>
          <a:xfrm>
            <a:off x="249878" y="2785444"/>
            <a:ext cx="5400000" cy="34925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주요 위험지표 및 위험조정지표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1DE9A47-0159-1786-55AF-59C866C4A403}"/>
              </a:ext>
            </a:extLst>
          </p:cNvPr>
          <p:cNvSpPr/>
          <p:nvPr/>
        </p:nvSpPr>
        <p:spPr>
          <a:xfrm>
            <a:off x="6542122" y="2785444"/>
            <a:ext cx="5400000" cy="34925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정기 월간 보고서 예시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AEA3A6-7F12-1DC4-9C34-2BBDA6C8C298}"/>
              </a:ext>
            </a:extLst>
          </p:cNvPr>
          <p:cNvSpPr txBox="1"/>
          <p:nvPr/>
        </p:nvSpPr>
        <p:spPr>
          <a:xfrm>
            <a:off x="6542122" y="1608628"/>
            <a:ext cx="4320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03864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운용 성과 보고 체계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srgbClr val="203864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B92C66-06BA-C418-5E67-72C056680245}"/>
              </a:ext>
            </a:extLst>
          </p:cNvPr>
          <p:cNvSpPr txBox="1"/>
          <p:nvPr/>
        </p:nvSpPr>
        <p:spPr>
          <a:xfrm>
            <a:off x="6572088" y="1986303"/>
            <a:ext cx="5347563" cy="5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정기적으로 월별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운용 현황 및 계획 보고서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작성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주요 기업 실적 리뷰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및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이벤트 등의 내용 포함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)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비정기적으로 시장의 이벤트에 대해서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이슈 코멘트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와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Wingdings" panose="05000000000000000000" pitchFamily="2" charset="2"/>
              </a:rPr>
              <a:t>펀드 대응 방안 공유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Wingdings" panose="05000000000000000000" pitchFamily="2" charset="2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ACF75F5-1D9A-D4F3-7A98-36FEA9A053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9"/>
          <a:stretch/>
        </p:blipFill>
        <p:spPr>
          <a:xfrm>
            <a:off x="6869080" y="3316355"/>
            <a:ext cx="4366508" cy="305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3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B8260-5A1B-E19A-E6B3-D96D78DB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3C7E5DE1-C476-4AC2-6F70-42C1865389C8}"/>
              </a:ext>
            </a:extLst>
          </p:cNvPr>
          <p:cNvGrpSpPr/>
          <p:nvPr/>
        </p:nvGrpSpPr>
        <p:grpSpPr>
          <a:xfrm>
            <a:off x="130856" y="3924097"/>
            <a:ext cx="7449815" cy="1097993"/>
            <a:chOff x="362597" y="4734103"/>
            <a:chExt cx="7449815" cy="109799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585BBD7-76D9-2361-B8AA-442DBA3ED87D}"/>
                </a:ext>
              </a:extLst>
            </p:cNvPr>
            <p:cNvSpPr txBox="1"/>
            <p:nvPr/>
          </p:nvSpPr>
          <p:spPr>
            <a:xfrm>
              <a:off x="362597" y="4734103"/>
              <a:ext cx="6587067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solidFill>
                    <a:srgbClr val="002060"/>
                  </a:solidFill>
                  <a:effectLst/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중앙대학교 가치투자학</a:t>
              </a:r>
              <a:r>
                <a:rPr lang="ko-KR" altLang="en-US" sz="2400" dirty="0">
                  <a:solidFill>
                    <a:srgbClr val="002060"/>
                  </a:solidFill>
                  <a:effectLst/>
                  <a:latin typeface="Segoe UI Symbol" panose="020B0502040204020203" pitchFamily="34" charset="0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회</a:t>
              </a:r>
              <a:r>
                <a:rPr lang="ko-KR" altLang="en-US" sz="2400" dirty="0">
                  <a:solidFill>
                    <a:srgbClr val="002060"/>
                  </a:solidFill>
                  <a:effectLst/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lang="en-US" altLang="ko-KR" sz="2400" dirty="0">
                  <a:solidFill>
                    <a:srgbClr val="002060"/>
                  </a:solidFill>
                  <a:effectLst/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R.F.S</a:t>
              </a:r>
              <a:endParaRPr lang="ko-KR" altLang="en-US" sz="2400" dirty="0">
                <a:solidFill>
                  <a:srgbClr val="002060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D55F8C0-00B0-E14E-1932-BC364834E150}"/>
                </a:ext>
              </a:extLst>
            </p:cNvPr>
            <p:cNvSpPr txBox="1"/>
            <p:nvPr/>
          </p:nvSpPr>
          <p:spPr>
            <a:xfrm>
              <a:off x="362597" y="5195768"/>
              <a:ext cx="7449815" cy="636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20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년의 전통과 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400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명의 탄탄한 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alumni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네트워크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,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그리고 실전과 가장 가까운 투자 경험까지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.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R.F.S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는 기업을 분석하고 직접 펀드를 운용하며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,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금융업계로 향하는 가장 확실한 발판이 되어왔습니다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.</a:t>
              </a:r>
              <a:endParaRPr lang="ko-KR" altLang="en-US" sz="1400" dirty="0">
                <a:solidFill>
                  <a:srgbClr val="00206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D2B6AA36-8B42-25A3-0651-6613367243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312" y="119856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B7C1B94-0C50-A781-8DDA-CC42E7D2C9E8}"/>
              </a:ext>
            </a:extLst>
          </p:cNvPr>
          <p:cNvCxnSpPr>
            <a:cxnSpLocks/>
          </p:cNvCxnSpPr>
          <p:nvPr/>
        </p:nvCxnSpPr>
        <p:spPr>
          <a:xfrm>
            <a:off x="0" y="355265"/>
            <a:ext cx="10544413" cy="20837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FC3FF6-EB5C-8746-7FA2-BDE9BF92073A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31A24-144D-17E5-3C0B-BF6A19D9071D}"/>
              </a:ext>
            </a:extLst>
          </p:cNvPr>
          <p:cNvSpPr txBox="1"/>
          <p:nvPr/>
        </p:nvSpPr>
        <p:spPr>
          <a:xfrm>
            <a:off x="0" y="857934"/>
            <a:ext cx="13247412" cy="31085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8000" b="1" dirty="0">
                <a:solidFill>
                  <a:srgbClr val="2F5291">
                    <a:alpha val="14000"/>
                  </a:srgb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KoPubWorld돋움체 Bold" panose="00000800000000000000" pitchFamily="2" charset="-127"/>
              </a:rPr>
              <a:t>RISING </a:t>
            </a:r>
          </a:p>
          <a:p>
            <a:pPr>
              <a:lnSpc>
                <a:spcPct val="80000"/>
              </a:lnSpc>
            </a:pPr>
            <a:r>
              <a:rPr lang="en-US" altLang="ko-KR" sz="8000" b="1" dirty="0">
                <a:solidFill>
                  <a:srgbClr val="2F5291">
                    <a:alpha val="14000"/>
                  </a:srgb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KoPubWorld돋움체 Bold" panose="00000800000000000000" pitchFamily="2" charset="-127"/>
              </a:rPr>
              <a:t>FINANCIAL </a:t>
            </a:r>
          </a:p>
          <a:p>
            <a:pPr>
              <a:lnSpc>
                <a:spcPct val="80000"/>
              </a:lnSpc>
            </a:pPr>
            <a:r>
              <a:rPr lang="en-US" altLang="ko-KR" sz="8000" b="1" dirty="0">
                <a:solidFill>
                  <a:srgbClr val="2F5291">
                    <a:alpha val="14000"/>
                  </a:srgb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KoPubWorld돋움체 Bold" panose="00000800000000000000" pitchFamily="2" charset="-127"/>
              </a:rPr>
              <a:t>STARS</a:t>
            </a:r>
            <a:endParaRPr lang="ko-KR" altLang="en-US" sz="8000" b="1" dirty="0">
              <a:solidFill>
                <a:srgbClr val="2F5291">
                  <a:alpha val="14000"/>
                </a:srgb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E01231A2-AD2F-2896-A657-35E9192D64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6" r="57488"/>
          <a:stretch>
            <a:fillRect/>
          </a:stretch>
        </p:blipFill>
        <p:spPr>
          <a:xfrm>
            <a:off x="7998055" y="578638"/>
            <a:ext cx="6476819" cy="570072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850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5838</TotalTime>
  <Words>1173</Words>
  <Application>Microsoft Office PowerPoint</Application>
  <PresentationFormat>와이드스크린</PresentationFormat>
  <Paragraphs>208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5" baseType="lpstr">
      <vt:lpstr>HY헤드라인M</vt:lpstr>
      <vt:lpstr>KoPubWorld돋움체 Medium</vt:lpstr>
      <vt:lpstr>KoPubWorld돋움체 Bold</vt:lpstr>
      <vt:lpstr>Cambria Math</vt:lpstr>
      <vt:lpstr>맑은 고딕</vt:lpstr>
      <vt:lpstr>G마켓 산스 TTF Bold</vt:lpstr>
      <vt:lpstr>KoPubWorld돋움체 Bold</vt:lpstr>
      <vt:lpstr>Aptos</vt:lpstr>
      <vt:lpstr>Segoe UI Symbol</vt:lpstr>
      <vt:lpstr>Dela Gothic One</vt:lpstr>
      <vt:lpstr>KoPubWorld돋움체 Light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</dc:creator>
  <cp:lastModifiedBy>채현기</cp:lastModifiedBy>
  <cp:revision>349</cp:revision>
  <dcterms:created xsi:type="dcterms:W3CDTF">2017-02-27T14:22:35Z</dcterms:created>
  <dcterms:modified xsi:type="dcterms:W3CDTF">2026-04-12T13:30:01Z</dcterms:modified>
</cp:coreProperties>
</file>